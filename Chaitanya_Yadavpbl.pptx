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ptos" charset="1" panose="020B0004020202020204"/>
      <p:regular r:id="rId17"/>
    </p:embeddedFont>
    <p:embeddedFont>
      <p:font typeface="Aptos Bold" charset="1" panose="020B0004020202020204"/>
      <p:regular r:id="rId18"/>
    </p:embeddedFont>
    <p:embeddedFont>
      <p:font typeface="Arimo Bold" charset="1" panose="020B0704020202020204"/>
      <p:regular r:id="rId22"/>
    </p:embeddedFont>
    <p:embeddedFont>
      <p:font typeface="Arimo" charset="1" panose="020B060402020202020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notesSlides/notesSlide3.xml" Type="http://schemas.openxmlformats.org/officeDocument/2006/relationships/notesSlide"/><Relationship Id="rId26" Target="notesSlides/notesSlide4.xml" Type="http://schemas.openxmlformats.org/officeDocument/2006/relationships/notesSlide"/><Relationship Id="rId27" Target="notesSlides/notesSlide5.xml" Type="http://schemas.openxmlformats.org/officeDocument/2006/relationships/notesSlide"/><Relationship Id="rId28" Target="notesSlides/notesSlide6.xml" Type="http://schemas.openxmlformats.org/officeDocument/2006/relationships/notesSlide"/><Relationship Id="rId29" Target="notesSlides/notesSlide7.xml" Type="http://schemas.openxmlformats.org/officeDocument/2006/relationships/notesSlide"/><Relationship Id="rId3" Target="viewProps.xml" Type="http://schemas.openxmlformats.org/officeDocument/2006/relationships/viewProps"/><Relationship Id="rId30" Target="notesSlides/notesSlide8.xml" Type="http://schemas.openxmlformats.org/officeDocument/2006/relationships/notesSlide"/><Relationship Id="rId31" Target="notesSlides/notesSlide9.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notesSlides/notesSlide3.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5.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91313" y="3556590"/>
            <a:ext cx="13716000" cy="4156524"/>
            <a:chOff x="0" y="0"/>
            <a:chExt cx="18288000" cy="5542032"/>
          </a:xfrm>
        </p:grpSpPr>
        <p:sp>
          <p:nvSpPr>
            <p:cNvPr name="Freeform 3" id="3"/>
            <p:cNvSpPr/>
            <p:nvPr/>
          </p:nvSpPr>
          <p:spPr>
            <a:xfrm flipH="false" flipV="false" rot="0">
              <a:off x="0" y="0"/>
              <a:ext cx="18288000" cy="5542032"/>
            </a:xfrm>
            <a:custGeom>
              <a:avLst/>
              <a:gdLst/>
              <a:ahLst/>
              <a:cxnLst/>
              <a:rect r="r" b="b" t="t" l="l"/>
              <a:pathLst>
                <a:path h="5542032" w="18288000">
                  <a:moveTo>
                    <a:pt x="0" y="0"/>
                  </a:moveTo>
                  <a:lnTo>
                    <a:pt x="18288000" y="0"/>
                  </a:lnTo>
                  <a:lnTo>
                    <a:pt x="18288000" y="5542032"/>
                  </a:lnTo>
                  <a:lnTo>
                    <a:pt x="0" y="5542032"/>
                  </a:lnTo>
                  <a:close/>
                </a:path>
              </a:pathLst>
            </a:custGeom>
          </p:spPr>
        </p:sp>
        <p:sp>
          <p:nvSpPr>
            <p:cNvPr name="TextBox 4" id="4"/>
            <p:cNvSpPr txBox="true"/>
            <p:nvPr/>
          </p:nvSpPr>
          <p:spPr>
            <a:xfrm>
              <a:off x="0" y="104775"/>
              <a:ext cx="18288000" cy="5437257"/>
            </a:xfrm>
            <a:prstGeom prst="rect">
              <a:avLst/>
            </a:prstGeom>
          </p:spPr>
          <p:txBody>
            <a:bodyPr anchor="b" rtlCol="false" tIns="0" lIns="0" bIns="0" rIns="0"/>
            <a:lstStyle/>
            <a:p>
              <a:pPr algn="ctr">
                <a:lnSpc>
                  <a:spcPts val="9720"/>
                </a:lnSpc>
              </a:pPr>
              <a:r>
                <a:rPr lang="en-US" sz="9000">
                  <a:solidFill>
                    <a:srgbClr val="000000"/>
                  </a:solidFill>
                  <a:latin typeface="Aptos"/>
                  <a:ea typeface="Aptos"/>
                  <a:cs typeface="Aptos"/>
                  <a:sym typeface="Aptos"/>
                </a:rPr>
                <a:t>Review of Multimodal Fusions in C</a:t>
              </a:r>
              <a:r>
                <a:rPr lang="en-US" sz="9000">
                  <a:solidFill>
                    <a:srgbClr val="000000"/>
                  </a:solidFill>
                  <a:latin typeface="Aptos"/>
                  <a:ea typeface="Aptos"/>
                  <a:cs typeface="Aptos"/>
                  <a:sym typeface="Aptos"/>
                </a:rPr>
                <a:t>rop Disease Detection</a:t>
              </a:r>
            </a:p>
          </p:txBody>
        </p:sp>
      </p:grpSp>
      <p:sp>
        <p:nvSpPr>
          <p:cNvPr name="TextBox 5" id="5"/>
          <p:cNvSpPr txBox="true"/>
          <p:nvPr/>
        </p:nvSpPr>
        <p:spPr>
          <a:xfrm rot="0">
            <a:off x="1707556" y="7429811"/>
            <a:ext cx="4676200" cy="1464564"/>
          </a:xfrm>
          <a:prstGeom prst="rect">
            <a:avLst/>
          </a:prstGeom>
        </p:spPr>
        <p:txBody>
          <a:bodyPr anchor="t" rtlCol="false" tIns="0" lIns="0" bIns="0" rIns="0">
            <a:spAutoFit/>
          </a:bodyPr>
          <a:lstStyle/>
          <a:p>
            <a:pPr algn="ctr">
              <a:lnSpc>
                <a:spcPts val="3888"/>
              </a:lnSpc>
            </a:pPr>
            <a:r>
              <a:rPr lang="en-US" sz="3600">
                <a:solidFill>
                  <a:srgbClr val="000000"/>
                </a:solidFill>
                <a:latin typeface="Aptos"/>
                <a:ea typeface="Aptos"/>
                <a:cs typeface="Aptos"/>
                <a:sym typeface="Aptos"/>
              </a:rPr>
              <a:t>Submitted By:</a:t>
            </a:r>
          </a:p>
          <a:p>
            <a:pPr algn="ctr">
              <a:lnSpc>
                <a:spcPts val="3888"/>
              </a:lnSpc>
            </a:pPr>
            <a:r>
              <a:rPr lang="en-US" sz="3600">
                <a:solidFill>
                  <a:srgbClr val="000000"/>
                </a:solidFill>
                <a:latin typeface="Aptos"/>
                <a:ea typeface="Aptos"/>
                <a:cs typeface="Aptos"/>
                <a:sym typeface="Aptos"/>
              </a:rPr>
              <a:t>Chaitanya Yadav</a:t>
            </a:r>
          </a:p>
          <a:p>
            <a:pPr algn="ctr">
              <a:lnSpc>
                <a:spcPts val="3888"/>
              </a:lnSpc>
            </a:pPr>
            <a:r>
              <a:rPr lang="en-US" sz="3600">
                <a:solidFill>
                  <a:srgbClr val="000000"/>
                </a:solidFill>
                <a:latin typeface="Aptos"/>
                <a:ea typeface="Aptos"/>
                <a:cs typeface="Aptos"/>
                <a:sym typeface="Aptos"/>
              </a:rPr>
              <a:t>23FE10CSE00409</a:t>
            </a:r>
          </a:p>
        </p:txBody>
      </p:sp>
      <p:sp>
        <p:nvSpPr>
          <p:cNvPr name="TextBox 6" id="6"/>
          <p:cNvSpPr txBox="true"/>
          <p:nvPr/>
        </p:nvSpPr>
        <p:spPr>
          <a:xfrm rot="0">
            <a:off x="11904244" y="7419172"/>
            <a:ext cx="4676199" cy="978789"/>
          </a:xfrm>
          <a:prstGeom prst="rect">
            <a:avLst/>
          </a:prstGeom>
        </p:spPr>
        <p:txBody>
          <a:bodyPr anchor="t" rtlCol="false" tIns="0" lIns="0" bIns="0" rIns="0">
            <a:spAutoFit/>
          </a:bodyPr>
          <a:lstStyle/>
          <a:p>
            <a:pPr algn="ctr">
              <a:lnSpc>
                <a:spcPts val="3888"/>
              </a:lnSpc>
            </a:pPr>
            <a:r>
              <a:rPr lang="en-US" sz="3600">
                <a:solidFill>
                  <a:srgbClr val="000000"/>
                </a:solidFill>
                <a:latin typeface="Aptos"/>
                <a:ea typeface="Aptos"/>
                <a:cs typeface="Aptos"/>
                <a:sym typeface="Aptos"/>
              </a:rPr>
              <a:t>Supervised By:</a:t>
            </a:r>
          </a:p>
          <a:p>
            <a:pPr algn="ctr">
              <a:lnSpc>
                <a:spcPts val="3888"/>
              </a:lnSpc>
            </a:pPr>
            <a:r>
              <a:rPr lang="en-US" sz="3600">
                <a:solidFill>
                  <a:srgbClr val="000000"/>
                </a:solidFill>
                <a:latin typeface="Aptos"/>
                <a:ea typeface="Aptos"/>
                <a:cs typeface="Aptos"/>
                <a:sym typeface="Aptos"/>
              </a:rPr>
              <a:t>Ms. Babita Tiwari</a:t>
            </a:r>
          </a:p>
        </p:txBody>
      </p:sp>
      <p:grpSp>
        <p:nvGrpSpPr>
          <p:cNvPr name="Group 7" id="7"/>
          <p:cNvGrpSpPr/>
          <p:nvPr/>
        </p:nvGrpSpPr>
        <p:grpSpPr>
          <a:xfrm rot="0">
            <a:off x="151134" y="54058"/>
            <a:ext cx="6261058" cy="1834118"/>
            <a:chOff x="0" y="0"/>
            <a:chExt cx="8348078" cy="2445490"/>
          </a:xfrm>
        </p:grpSpPr>
        <p:sp>
          <p:nvSpPr>
            <p:cNvPr name="Freeform 8" id="8" descr="A black and white text  AI-generated content may be incorrect."/>
            <p:cNvSpPr/>
            <p:nvPr/>
          </p:nvSpPr>
          <p:spPr>
            <a:xfrm flipH="false" flipV="false" rot="0">
              <a:off x="0" y="0"/>
              <a:ext cx="8348091" cy="2445512"/>
            </a:xfrm>
            <a:custGeom>
              <a:avLst/>
              <a:gdLst/>
              <a:ahLst/>
              <a:cxnLst/>
              <a:rect r="r" b="b" t="t" l="l"/>
              <a:pathLst>
                <a:path h="2445512" w="8348091">
                  <a:moveTo>
                    <a:pt x="0" y="0"/>
                  </a:moveTo>
                  <a:lnTo>
                    <a:pt x="8348091" y="0"/>
                  </a:lnTo>
                  <a:lnTo>
                    <a:pt x="8348091" y="2445512"/>
                  </a:lnTo>
                  <a:lnTo>
                    <a:pt x="0" y="2445512"/>
                  </a:lnTo>
                  <a:lnTo>
                    <a:pt x="0" y="0"/>
                  </a:lnTo>
                  <a:close/>
                </a:path>
              </a:pathLst>
            </a:custGeom>
            <a:blipFill>
              <a:blip r:embed="rId2"/>
              <a:stretch>
                <a:fillRect l="0" t="0" r="0" b="0"/>
              </a:stretch>
            </a:blipFill>
          </p:spPr>
        </p:sp>
      </p:grpSp>
      <p:grpSp>
        <p:nvGrpSpPr>
          <p:cNvPr name="Group 9" id="9"/>
          <p:cNvGrpSpPr/>
          <p:nvPr/>
        </p:nvGrpSpPr>
        <p:grpSpPr>
          <a:xfrm rot="0">
            <a:off x="2291313" y="1888176"/>
            <a:ext cx="13716000" cy="1668414"/>
            <a:chOff x="0" y="0"/>
            <a:chExt cx="18288000" cy="2224552"/>
          </a:xfrm>
        </p:grpSpPr>
        <p:sp>
          <p:nvSpPr>
            <p:cNvPr name="Freeform 10" id="10"/>
            <p:cNvSpPr/>
            <p:nvPr/>
          </p:nvSpPr>
          <p:spPr>
            <a:xfrm flipH="false" flipV="false" rot="0">
              <a:off x="0" y="0"/>
              <a:ext cx="18288000" cy="2224552"/>
            </a:xfrm>
            <a:custGeom>
              <a:avLst/>
              <a:gdLst/>
              <a:ahLst/>
              <a:cxnLst/>
              <a:rect r="r" b="b" t="t" l="l"/>
              <a:pathLst>
                <a:path h="2224552" w="18288000">
                  <a:moveTo>
                    <a:pt x="0" y="0"/>
                  </a:moveTo>
                  <a:lnTo>
                    <a:pt x="18288000" y="0"/>
                  </a:lnTo>
                  <a:lnTo>
                    <a:pt x="18288000" y="2224552"/>
                  </a:lnTo>
                  <a:lnTo>
                    <a:pt x="0" y="2224552"/>
                  </a:lnTo>
                  <a:close/>
                </a:path>
              </a:pathLst>
            </a:custGeom>
          </p:spPr>
        </p:sp>
        <p:sp>
          <p:nvSpPr>
            <p:cNvPr name="TextBox 11" id="11"/>
            <p:cNvSpPr txBox="true"/>
            <p:nvPr/>
          </p:nvSpPr>
          <p:spPr>
            <a:xfrm>
              <a:off x="0" y="-85725"/>
              <a:ext cx="18288000" cy="2310277"/>
            </a:xfrm>
            <a:prstGeom prst="rect">
              <a:avLst/>
            </a:prstGeom>
          </p:spPr>
          <p:txBody>
            <a:bodyPr anchor="b" rtlCol="false" tIns="0" lIns="0" bIns="0" rIns="0"/>
            <a:lstStyle/>
            <a:p>
              <a:pPr algn="ctr">
                <a:lnSpc>
                  <a:spcPts val="5594"/>
                </a:lnSpc>
              </a:pPr>
              <a:r>
                <a:rPr lang="en-US" sz="3885" b="true">
                  <a:solidFill>
                    <a:srgbClr val="000000"/>
                  </a:solidFill>
                  <a:latin typeface="Aptos Bold"/>
                  <a:ea typeface="Aptos Bold"/>
                  <a:cs typeface="Aptos Bold"/>
                  <a:sym typeface="Aptos Bold"/>
                </a:rPr>
                <a:t>School of Computer Science and Engineering</a:t>
              </a:r>
            </a:p>
            <a:p>
              <a:pPr algn="ctr">
                <a:lnSpc>
                  <a:spcPts val="5594"/>
                </a:lnSpc>
              </a:pPr>
              <a:r>
                <a:rPr lang="en-US" sz="3885" b="true">
                  <a:solidFill>
                    <a:srgbClr val="000000"/>
                  </a:solidFill>
                  <a:latin typeface="Aptos Bold"/>
                  <a:ea typeface="Aptos Bold"/>
                  <a:cs typeface="Aptos Bold"/>
                  <a:sym typeface="Aptos Bold"/>
                </a:rPr>
                <a:t>Department of Computer Science and Engineering</a:t>
              </a:r>
            </a:p>
          </p:txBody>
        </p:sp>
      </p:gr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57300" y="547688"/>
            <a:ext cx="15773400" cy="1988345"/>
            <a:chOff x="0" y="0"/>
            <a:chExt cx="21031200" cy="2651126"/>
          </a:xfrm>
        </p:grpSpPr>
        <p:sp>
          <p:nvSpPr>
            <p:cNvPr name="Freeform 3" id="3"/>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p:spPr>
        </p:sp>
        <p:sp>
          <p:nvSpPr>
            <p:cNvPr name="TextBox 4" id="4"/>
            <p:cNvSpPr txBox="true"/>
            <p:nvPr/>
          </p:nvSpPr>
          <p:spPr>
            <a:xfrm>
              <a:off x="0" y="66675"/>
              <a:ext cx="21031200" cy="2584451"/>
            </a:xfrm>
            <a:prstGeom prst="rect">
              <a:avLst/>
            </a:prstGeom>
          </p:spPr>
          <p:txBody>
            <a:bodyPr anchor="ctr" rtlCol="false" tIns="0" lIns="0" bIns="0" rIns="0"/>
            <a:lstStyle/>
            <a:p>
              <a:pPr algn="l">
                <a:lnSpc>
                  <a:spcPts val="7128"/>
                </a:lnSpc>
              </a:pPr>
              <a:r>
                <a:rPr lang="en-US" sz="6600">
                  <a:solidFill>
                    <a:srgbClr val="000000"/>
                  </a:solidFill>
                  <a:latin typeface="Aptos"/>
                  <a:ea typeface="Aptos"/>
                  <a:cs typeface="Aptos"/>
                  <a:sym typeface="Aptos"/>
                </a:rPr>
                <a:t>Outline</a:t>
              </a:r>
            </a:p>
          </p:txBody>
        </p:sp>
      </p:grpSp>
      <p:sp>
        <p:nvSpPr>
          <p:cNvPr name="TextBox 5" id="5"/>
          <p:cNvSpPr txBox="true"/>
          <p:nvPr/>
        </p:nvSpPr>
        <p:spPr>
          <a:xfrm rot="0">
            <a:off x="1348740" y="2831783"/>
            <a:ext cx="15590520" cy="6387942"/>
          </a:xfrm>
          <a:prstGeom prst="rect">
            <a:avLst/>
          </a:prstGeom>
        </p:spPr>
        <p:txBody>
          <a:bodyPr anchor="t" rtlCol="false" tIns="0" lIns="0" bIns="0" rIns="0">
            <a:spAutoFit/>
          </a:bodyPr>
          <a:lstStyle/>
          <a:p>
            <a:pPr algn="l" marL="760095" indent="-380048" lvl="1">
              <a:lnSpc>
                <a:spcPts val="4536"/>
              </a:lnSpc>
              <a:buFont typeface="Arial"/>
              <a:buChar char="•"/>
            </a:pPr>
            <a:r>
              <a:rPr lang="en-US" sz="4200">
                <a:solidFill>
                  <a:srgbClr val="000000"/>
                </a:solidFill>
                <a:latin typeface="Aptos"/>
                <a:ea typeface="Aptos"/>
                <a:cs typeface="Aptos"/>
                <a:sym typeface="Aptos"/>
              </a:rPr>
              <a:t>Introduction</a:t>
            </a:r>
          </a:p>
          <a:p>
            <a:pPr algn="l" marL="760095" indent="-380048" lvl="1">
              <a:lnSpc>
                <a:spcPts val="4536"/>
              </a:lnSpc>
              <a:buFont typeface="Arial"/>
              <a:buChar char="•"/>
            </a:pPr>
            <a:r>
              <a:rPr lang="en-US" sz="4200">
                <a:solidFill>
                  <a:srgbClr val="000000"/>
                </a:solidFill>
                <a:latin typeface="Aptos"/>
                <a:ea typeface="Aptos"/>
                <a:cs typeface="Aptos"/>
                <a:sym typeface="Aptos"/>
              </a:rPr>
              <a:t>Literature Review</a:t>
            </a:r>
          </a:p>
          <a:p>
            <a:pPr algn="l" marL="760095" indent="-380048" lvl="1">
              <a:lnSpc>
                <a:spcPts val="4536"/>
              </a:lnSpc>
              <a:buFont typeface="Arial"/>
              <a:buChar char="•"/>
            </a:pPr>
            <a:r>
              <a:rPr lang="en-US" sz="4200">
                <a:solidFill>
                  <a:srgbClr val="000000"/>
                </a:solidFill>
                <a:latin typeface="Aptos"/>
                <a:ea typeface="Aptos"/>
                <a:cs typeface="Aptos"/>
                <a:sym typeface="Aptos"/>
              </a:rPr>
              <a:t>Problem Statement</a:t>
            </a:r>
          </a:p>
          <a:p>
            <a:pPr algn="l" marL="760095" indent="-380048" lvl="1">
              <a:lnSpc>
                <a:spcPts val="4536"/>
              </a:lnSpc>
              <a:buFont typeface="Arial"/>
              <a:buChar char="•"/>
            </a:pPr>
            <a:r>
              <a:rPr lang="en-US" sz="4200">
                <a:solidFill>
                  <a:srgbClr val="000000"/>
                </a:solidFill>
                <a:latin typeface="Aptos"/>
                <a:ea typeface="Aptos"/>
                <a:cs typeface="Aptos"/>
                <a:sym typeface="Aptos"/>
              </a:rPr>
              <a:t>Proposed Solution</a:t>
            </a:r>
          </a:p>
          <a:p>
            <a:pPr algn="l" marL="760095" indent="-380048" lvl="1">
              <a:lnSpc>
                <a:spcPts val="4536"/>
              </a:lnSpc>
              <a:buFont typeface="Arial"/>
              <a:buChar char="•"/>
            </a:pPr>
            <a:r>
              <a:rPr lang="en-US" sz="4200">
                <a:solidFill>
                  <a:srgbClr val="000000"/>
                </a:solidFill>
                <a:latin typeface="Aptos"/>
                <a:ea typeface="Aptos"/>
                <a:cs typeface="Aptos"/>
                <a:sym typeface="Aptos"/>
              </a:rPr>
              <a:t>Objectives</a:t>
            </a:r>
          </a:p>
          <a:p>
            <a:pPr algn="l" marL="760095" indent="-380048" lvl="1">
              <a:lnSpc>
                <a:spcPts val="4536"/>
              </a:lnSpc>
            </a:pP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solidFill>
          </p:spPr>
        </p:sp>
      </p:grpSp>
      <p:sp>
        <p:nvSpPr>
          <p:cNvPr name="TextBox 6" id="6"/>
          <p:cNvSpPr txBox="true"/>
          <p:nvPr/>
        </p:nvSpPr>
        <p:spPr>
          <a:xfrm rot="0">
            <a:off x="992238" y="2206076"/>
            <a:ext cx="10964466" cy="813197"/>
          </a:xfrm>
          <a:prstGeom prst="rect">
            <a:avLst/>
          </a:prstGeom>
        </p:spPr>
        <p:txBody>
          <a:bodyPr anchor="t" rtlCol="false" tIns="0" lIns="0" bIns="0" rIns="0">
            <a:spAutoFit/>
          </a:bodyPr>
          <a:lstStyle/>
          <a:p>
            <a:pPr algn="l">
              <a:lnSpc>
                <a:spcPts val="6062"/>
              </a:lnSpc>
            </a:pPr>
            <a:r>
              <a:rPr lang="en-US" sz="4875" b="true">
                <a:solidFill>
                  <a:srgbClr val="484237"/>
                </a:solidFill>
                <a:latin typeface="Arimo Bold"/>
                <a:ea typeface="Arimo Bold"/>
                <a:cs typeface="Arimo Bold"/>
                <a:sym typeface="Arimo Bold"/>
              </a:rPr>
              <a:t>The Importance of AI in Agriculture</a:t>
            </a:r>
          </a:p>
        </p:txBody>
      </p:sp>
      <p:sp>
        <p:nvSpPr>
          <p:cNvPr name="TextBox 7" id="7"/>
          <p:cNvSpPr txBox="true"/>
          <p:nvPr/>
        </p:nvSpPr>
        <p:spPr>
          <a:xfrm rot="0">
            <a:off x="992238" y="3420066"/>
            <a:ext cx="16303523" cy="1286027"/>
          </a:xfrm>
          <a:prstGeom prst="rect">
            <a:avLst/>
          </a:prstGeom>
        </p:spPr>
        <p:txBody>
          <a:bodyPr anchor="t" rtlCol="false" tIns="0" lIns="0" bIns="0" rIns="0">
            <a:spAutoFit/>
          </a:bodyPr>
          <a:lstStyle/>
          <a:p>
            <a:pPr algn="l">
              <a:lnSpc>
                <a:spcPts val="3125"/>
              </a:lnSpc>
            </a:pPr>
            <a:r>
              <a:rPr lang="en-US" sz="1937">
                <a:solidFill>
                  <a:srgbClr val="746558"/>
                </a:solidFill>
                <a:latin typeface="Arimo"/>
                <a:ea typeface="Arimo"/>
                <a:cs typeface="Arimo"/>
                <a:sym typeface="Arimo"/>
              </a:rPr>
              <a:t>The fusion of artificial intelligence with agricultural practices represents a fundamental shift in crop management and disease prevention. Early plant disease detection is critical for sustainable agriculture, as timely intervention can prevent yield losses that average 20-30% annually across major crops worldwide. Traditional scouting methods are labor-intensive, subjective, and often detect issues too late for effective treatment.</a:t>
            </a:r>
          </a:p>
        </p:txBody>
      </p:sp>
      <p:sp>
        <p:nvSpPr>
          <p:cNvPr name="TextBox 8" id="8"/>
          <p:cNvSpPr txBox="true"/>
          <p:nvPr/>
        </p:nvSpPr>
        <p:spPr>
          <a:xfrm rot="0">
            <a:off x="992238" y="4889897"/>
            <a:ext cx="16303523" cy="1682953"/>
          </a:xfrm>
          <a:prstGeom prst="rect">
            <a:avLst/>
          </a:prstGeom>
        </p:spPr>
        <p:txBody>
          <a:bodyPr anchor="t" rtlCol="false" tIns="0" lIns="0" bIns="0" rIns="0">
            <a:spAutoFit/>
          </a:bodyPr>
          <a:lstStyle/>
          <a:p>
            <a:pPr algn="l">
              <a:lnSpc>
                <a:spcPts val="3125"/>
              </a:lnSpc>
            </a:pPr>
            <a:r>
              <a:rPr lang="en-US" sz="1937">
                <a:solidFill>
                  <a:srgbClr val="746558"/>
                </a:solidFill>
                <a:latin typeface="Arimo"/>
                <a:ea typeface="Arimo"/>
                <a:cs typeface="Arimo"/>
                <a:sym typeface="Arimo"/>
              </a:rPr>
              <a:t>Computer vision systems operating on RGB data alone have demonstrated promise but face significant limitations when confronted with environmental variables such as lighting conditions, soil background variation, and overlapping plant structures. Field conditions introduce noise that can overwhelm single-sensor classification systems, leading to false positives and missed diagnoses that undermine farmer trust in automated systems.</a:t>
            </a:r>
          </a:p>
        </p:txBody>
      </p:sp>
      <p:sp>
        <p:nvSpPr>
          <p:cNvPr name="TextBox 9" id="9"/>
          <p:cNvSpPr txBox="true"/>
          <p:nvPr/>
        </p:nvSpPr>
        <p:spPr>
          <a:xfrm rot="0">
            <a:off x="992238" y="6756644"/>
            <a:ext cx="16303523" cy="1286027"/>
          </a:xfrm>
          <a:prstGeom prst="rect">
            <a:avLst/>
          </a:prstGeom>
        </p:spPr>
        <p:txBody>
          <a:bodyPr anchor="t" rtlCol="false" tIns="0" lIns="0" bIns="0" rIns="0">
            <a:spAutoFit/>
          </a:bodyPr>
          <a:lstStyle/>
          <a:p>
            <a:pPr algn="l">
              <a:lnSpc>
                <a:spcPts val="3125"/>
              </a:lnSpc>
            </a:pPr>
            <a:r>
              <a:rPr lang="en-US" sz="1937">
                <a:solidFill>
                  <a:srgbClr val="746558"/>
                </a:solidFill>
                <a:latin typeface="Arimo"/>
                <a:ea typeface="Arimo"/>
                <a:cs typeface="Arimo"/>
                <a:sym typeface="Arimo"/>
              </a:rPr>
              <a:t>The integration of multiple sensing modalities—RGB cameras, thermal infrared detectors, and hyperspectral imagers—offers a compelling solution. Each sensor modality captures different aspects of plant physiology and stress responses. Thermal data reveals temperature anomalies associated with water stress or pathogen activity, while hyperspectral analysis detects subtle biochemical changes invisible to conventional cameras.</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solidFill>
          </p:spPr>
        </p:sp>
      </p:grpSp>
      <p:sp>
        <p:nvSpPr>
          <p:cNvPr name="TextBox 6" id="6"/>
          <p:cNvSpPr txBox="true"/>
          <p:nvPr/>
        </p:nvSpPr>
        <p:spPr>
          <a:xfrm rot="0">
            <a:off x="992238" y="1809159"/>
            <a:ext cx="12518527" cy="813197"/>
          </a:xfrm>
          <a:prstGeom prst="rect">
            <a:avLst/>
          </a:prstGeom>
        </p:spPr>
        <p:txBody>
          <a:bodyPr anchor="t" rtlCol="false" tIns="0" lIns="0" bIns="0" rIns="0">
            <a:spAutoFit/>
          </a:bodyPr>
          <a:lstStyle/>
          <a:p>
            <a:pPr algn="l">
              <a:lnSpc>
                <a:spcPts val="6062"/>
              </a:lnSpc>
            </a:pPr>
            <a:r>
              <a:rPr lang="en-US" sz="4875" b="true">
                <a:solidFill>
                  <a:srgbClr val="484237"/>
                </a:solidFill>
                <a:latin typeface="Arimo Bold"/>
                <a:ea typeface="Arimo Bold"/>
                <a:cs typeface="Arimo Bold"/>
                <a:sym typeface="Arimo Bold"/>
              </a:rPr>
              <a:t>From Unimodal to Multimodal Detection</a:t>
            </a:r>
          </a:p>
        </p:txBody>
      </p:sp>
      <p:sp>
        <p:nvSpPr>
          <p:cNvPr name="TextBox 7" id="7"/>
          <p:cNvSpPr txBox="true"/>
          <p:nvPr/>
        </p:nvSpPr>
        <p:spPr>
          <a:xfrm rot="0">
            <a:off x="992238" y="3023149"/>
            <a:ext cx="16303523" cy="1682953"/>
          </a:xfrm>
          <a:prstGeom prst="rect">
            <a:avLst/>
          </a:prstGeom>
        </p:spPr>
        <p:txBody>
          <a:bodyPr anchor="t" rtlCol="false" tIns="0" lIns="0" bIns="0" rIns="0">
            <a:spAutoFit/>
          </a:bodyPr>
          <a:lstStyle/>
          <a:p>
            <a:pPr algn="l">
              <a:lnSpc>
                <a:spcPts val="3125"/>
              </a:lnSpc>
            </a:pPr>
            <a:r>
              <a:rPr lang="en-US" sz="1937">
                <a:solidFill>
                  <a:srgbClr val="746558"/>
                </a:solidFill>
                <a:latin typeface="Arimo"/>
                <a:ea typeface="Arimo"/>
                <a:cs typeface="Arimo"/>
                <a:sym typeface="Arimo"/>
              </a:rPr>
              <a:t>First-generation automated plant disease detection systems relied exclusively on RGB imagery processed by convolutional neural networks (CNNs). These architectures proved effective for distinguishing obvious symptomatic patterns—such as necrotic lesions, chlorosis, or fungal growth—under controlled greenhouse conditions. However, field deployment revealed systematic failures when encountering partial occlusions, varying illumination angles, or diseases with subtle early-stage manifestations.</a:t>
            </a:r>
          </a:p>
        </p:txBody>
      </p:sp>
      <p:sp>
        <p:nvSpPr>
          <p:cNvPr name="TextBox 8" id="8"/>
          <p:cNvSpPr txBox="true"/>
          <p:nvPr/>
        </p:nvSpPr>
        <p:spPr>
          <a:xfrm rot="0">
            <a:off x="992238" y="4889897"/>
            <a:ext cx="16303523" cy="1682953"/>
          </a:xfrm>
          <a:prstGeom prst="rect">
            <a:avLst/>
          </a:prstGeom>
        </p:spPr>
        <p:txBody>
          <a:bodyPr anchor="t" rtlCol="false" tIns="0" lIns="0" bIns="0" rIns="0">
            <a:spAutoFit/>
          </a:bodyPr>
          <a:lstStyle/>
          <a:p>
            <a:pPr algn="l">
              <a:lnSpc>
                <a:spcPts val="3125"/>
              </a:lnSpc>
            </a:pPr>
            <a:r>
              <a:rPr lang="en-US" sz="1937">
                <a:solidFill>
                  <a:srgbClr val="746558"/>
                </a:solidFill>
                <a:latin typeface="Arimo"/>
                <a:ea typeface="Arimo"/>
                <a:cs typeface="Arimo"/>
                <a:sym typeface="Arimo"/>
              </a:rPr>
              <a:t>Multimodal systems address these shortcomings by </a:t>
            </a:r>
            <a:r>
              <a:rPr lang="en-US" sz="1937" b="true">
                <a:solidFill>
                  <a:srgbClr val="D3C5B6"/>
                </a:solidFill>
                <a:latin typeface="Arimo Bold"/>
                <a:ea typeface="Arimo Bold"/>
                <a:cs typeface="Arimo Bold"/>
                <a:sym typeface="Arimo Bold"/>
              </a:rPr>
              <a:t>leveraging complementary information streams</a:t>
            </a:r>
            <a:r>
              <a:rPr lang="en-US" sz="1937">
                <a:solidFill>
                  <a:srgbClr val="746558"/>
                </a:solidFill>
                <a:latin typeface="Arimo"/>
                <a:ea typeface="Arimo"/>
                <a:cs typeface="Arimo"/>
                <a:sym typeface="Arimo"/>
              </a:rPr>
              <a:t>. RGB channels provide high-resolution spatial texture and color information, thermal sensors detect temperature differentials indicating physiological stress, and hyperspectral data captures narrow-band reflectance signatures correlated with specific biochemical compounds. The central challenge becomes </a:t>
            </a:r>
            <a:r>
              <a:rPr lang="en-US" sz="1937" b="true">
                <a:solidFill>
                  <a:srgbClr val="D3C5B6"/>
                </a:solidFill>
                <a:latin typeface="Arimo Bold"/>
                <a:ea typeface="Arimo Bold"/>
                <a:cs typeface="Arimo Bold"/>
                <a:sym typeface="Arimo Bold"/>
              </a:rPr>
              <a:t>how to optimally combine</a:t>
            </a:r>
            <a:r>
              <a:rPr lang="en-US" sz="1937">
                <a:solidFill>
                  <a:srgbClr val="746558"/>
                </a:solidFill>
                <a:latin typeface="Arimo"/>
                <a:ea typeface="Arimo"/>
                <a:cs typeface="Arimo"/>
                <a:sym typeface="Arimo"/>
              </a:rPr>
              <a:t> these disparate data sources to maximize diagnostic accuracy.</a:t>
            </a:r>
          </a:p>
        </p:txBody>
      </p:sp>
      <p:sp>
        <p:nvSpPr>
          <p:cNvPr name="TextBox 9" id="9"/>
          <p:cNvSpPr txBox="true"/>
          <p:nvPr/>
        </p:nvSpPr>
        <p:spPr>
          <a:xfrm rot="0">
            <a:off x="992238" y="6756644"/>
            <a:ext cx="16303523" cy="1682953"/>
          </a:xfrm>
          <a:prstGeom prst="rect">
            <a:avLst/>
          </a:prstGeom>
        </p:spPr>
        <p:txBody>
          <a:bodyPr anchor="t" rtlCol="false" tIns="0" lIns="0" bIns="0" rIns="0">
            <a:spAutoFit/>
          </a:bodyPr>
          <a:lstStyle/>
          <a:p>
            <a:pPr algn="l">
              <a:lnSpc>
                <a:spcPts val="3125"/>
              </a:lnSpc>
            </a:pPr>
            <a:r>
              <a:rPr lang="en-US" sz="1937">
                <a:solidFill>
                  <a:srgbClr val="746558"/>
                </a:solidFill>
                <a:latin typeface="Arimo"/>
                <a:ea typeface="Arimo"/>
                <a:cs typeface="Arimo"/>
                <a:sym typeface="Arimo"/>
              </a:rPr>
              <a:t>This architectural decision impacts every aspect of system design: computational latency, training data requirements, model interpretability, and deployment costs. Early fusion concatenates raw sensor outputs before network processing, late fusion trains separate networks per sensor then combines final classifications, and intermediate strategies merge feature representations at various network depths. Each approach makes different trade-offs between information preservation and computational efficiency.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solidFill>
          </p:spPr>
        </p:sp>
      </p:grpSp>
      <p:sp>
        <p:nvSpPr>
          <p:cNvPr name="TextBox 6" id="6"/>
          <p:cNvSpPr txBox="true"/>
          <p:nvPr/>
        </p:nvSpPr>
        <p:spPr>
          <a:xfrm rot="0">
            <a:off x="982266" y="647109"/>
            <a:ext cx="10912973" cy="814978"/>
          </a:xfrm>
          <a:prstGeom prst="rect">
            <a:avLst/>
          </a:prstGeom>
        </p:spPr>
        <p:txBody>
          <a:bodyPr anchor="t" rtlCol="false" tIns="0" lIns="0" bIns="0" rIns="0">
            <a:spAutoFit/>
          </a:bodyPr>
          <a:lstStyle/>
          <a:p>
            <a:pPr algn="l">
              <a:lnSpc>
                <a:spcPts val="6000"/>
              </a:lnSpc>
            </a:pPr>
            <a:r>
              <a:rPr lang="en-US" sz="4812" b="true">
                <a:solidFill>
                  <a:srgbClr val="484237"/>
                </a:solidFill>
                <a:latin typeface="Arimo Bold"/>
                <a:ea typeface="Arimo Bold"/>
                <a:cs typeface="Arimo Bold"/>
                <a:sym typeface="Arimo Bold"/>
              </a:rPr>
              <a:t>Fusion Level Comparison: Overview</a:t>
            </a:r>
          </a:p>
        </p:txBody>
      </p:sp>
      <p:grpSp>
        <p:nvGrpSpPr>
          <p:cNvPr name="Group 7" id="7"/>
          <p:cNvGrpSpPr/>
          <p:nvPr/>
        </p:nvGrpSpPr>
        <p:grpSpPr>
          <a:xfrm rot="0">
            <a:off x="982266" y="1948310"/>
            <a:ext cx="8040138" cy="3172863"/>
            <a:chOff x="0" y="0"/>
            <a:chExt cx="10720184" cy="4230484"/>
          </a:xfrm>
        </p:grpSpPr>
        <p:sp>
          <p:nvSpPr>
            <p:cNvPr name="Freeform 8" id="8"/>
            <p:cNvSpPr/>
            <p:nvPr/>
          </p:nvSpPr>
          <p:spPr>
            <a:xfrm flipH="false" flipV="false" rot="0">
              <a:off x="0" y="0"/>
              <a:ext cx="10720197" cy="4230497"/>
            </a:xfrm>
            <a:custGeom>
              <a:avLst/>
              <a:gdLst/>
              <a:ahLst/>
              <a:cxnLst/>
              <a:rect r="r" b="b" t="t" l="l"/>
              <a:pathLst>
                <a:path h="4230497" w="10720197">
                  <a:moveTo>
                    <a:pt x="0" y="49149"/>
                  </a:moveTo>
                  <a:cubicBezTo>
                    <a:pt x="0" y="21971"/>
                    <a:pt x="21971" y="0"/>
                    <a:pt x="49149" y="0"/>
                  </a:cubicBezTo>
                  <a:lnTo>
                    <a:pt x="10671048" y="0"/>
                  </a:lnTo>
                  <a:cubicBezTo>
                    <a:pt x="10698226" y="0"/>
                    <a:pt x="10720197" y="21971"/>
                    <a:pt x="10720197" y="49149"/>
                  </a:cubicBezTo>
                  <a:lnTo>
                    <a:pt x="10720197" y="4181348"/>
                  </a:lnTo>
                  <a:cubicBezTo>
                    <a:pt x="10720197" y="4208526"/>
                    <a:pt x="10698226" y="4230497"/>
                    <a:pt x="10671048" y="4230497"/>
                  </a:cubicBezTo>
                  <a:lnTo>
                    <a:pt x="49149" y="4230497"/>
                  </a:lnTo>
                  <a:cubicBezTo>
                    <a:pt x="21971" y="4230497"/>
                    <a:pt x="0" y="4208526"/>
                    <a:pt x="0" y="4181348"/>
                  </a:cubicBezTo>
                  <a:close/>
                </a:path>
              </a:pathLst>
            </a:custGeom>
            <a:solidFill>
              <a:srgbClr val="EEE8DD"/>
            </a:solidFill>
          </p:spPr>
        </p:sp>
      </p:grpSp>
      <p:grpSp>
        <p:nvGrpSpPr>
          <p:cNvPr name="Group 9" id="9"/>
          <p:cNvGrpSpPr/>
          <p:nvPr/>
        </p:nvGrpSpPr>
        <p:grpSpPr>
          <a:xfrm rot="0">
            <a:off x="1227830" y="2193874"/>
            <a:ext cx="736702" cy="736702"/>
            <a:chOff x="0" y="0"/>
            <a:chExt cx="982269" cy="982269"/>
          </a:xfrm>
        </p:grpSpPr>
        <p:sp>
          <p:nvSpPr>
            <p:cNvPr name="Freeform 10" id="10"/>
            <p:cNvSpPr/>
            <p:nvPr/>
          </p:nvSpPr>
          <p:spPr>
            <a:xfrm flipH="false" flipV="false" rot="0">
              <a:off x="0" y="0"/>
              <a:ext cx="982218" cy="982218"/>
            </a:xfrm>
            <a:custGeom>
              <a:avLst/>
              <a:gdLst/>
              <a:ahLst/>
              <a:cxnLst/>
              <a:rect r="r" b="b" t="t" l="l"/>
              <a:pathLst>
                <a:path h="982218" w="982218">
                  <a:moveTo>
                    <a:pt x="0" y="491109"/>
                  </a:moveTo>
                  <a:cubicBezTo>
                    <a:pt x="0" y="219837"/>
                    <a:pt x="219837" y="0"/>
                    <a:pt x="491109" y="0"/>
                  </a:cubicBezTo>
                  <a:cubicBezTo>
                    <a:pt x="762381" y="0"/>
                    <a:pt x="982218" y="219837"/>
                    <a:pt x="982218" y="491109"/>
                  </a:cubicBezTo>
                  <a:cubicBezTo>
                    <a:pt x="982218" y="762381"/>
                    <a:pt x="762381" y="982218"/>
                    <a:pt x="491109" y="982218"/>
                  </a:cubicBezTo>
                  <a:cubicBezTo>
                    <a:pt x="219837" y="982218"/>
                    <a:pt x="0" y="762381"/>
                    <a:pt x="0" y="491109"/>
                  </a:cubicBezTo>
                  <a:close/>
                </a:path>
              </a:pathLst>
            </a:custGeom>
            <a:solidFill>
              <a:srgbClr val="D3C5B6"/>
            </a:solidFill>
          </p:spPr>
        </p:sp>
      </p:grpSp>
      <p:sp>
        <p:nvSpPr>
          <p:cNvPr name="Freeform 11" id="11" descr="preencoded.png"/>
          <p:cNvSpPr/>
          <p:nvPr/>
        </p:nvSpPr>
        <p:spPr>
          <a:xfrm flipH="false" flipV="false" rot="0">
            <a:off x="1430388" y="2396433"/>
            <a:ext cx="331441" cy="331441"/>
          </a:xfrm>
          <a:custGeom>
            <a:avLst/>
            <a:gdLst/>
            <a:ahLst/>
            <a:cxnLst/>
            <a:rect r="r" b="b" t="t" l="l"/>
            <a:pathLst>
              <a:path h="331441" w="331441">
                <a:moveTo>
                  <a:pt x="0" y="0"/>
                </a:moveTo>
                <a:lnTo>
                  <a:pt x="331442" y="0"/>
                </a:lnTo>
                <a:lnTo>
                  <a:pt x="331442" y="331441"/>
                </a:lnTo>
                <a:lnTo>
                  <a:pt x="0" y="331441"/>
                </a:lnTo>
                <a:lnTo>
                  <a:pt x="0" y="0"/>
                </a:lnTo>
                <a:close/>
              </a:path>
            </a:pathLst>
          </a:custGeom>
          <a:blipFill>
            <a:blip r:embed="rId3">
              <a:extLst>
                <a:ext uri="{96DAC541-7B7A-43D3-8B79-37D633B846F1}">
                  <asvg:svgBlip xmlns:asvg="http://schemas.microsoft.com/office/drawing/2016/SVG/main" r:embed="rId4"/>
                </a:ext>
              </a:extLst>
            </a:blip>
            <a:stretch>
              <a:fillRect l="0" t="-1428" r="0" b="-1428"/>
            </a:stretch>
          </a:blipFill>
        </p:spPr>
      </p:sp>
      <p:sp>
        <p:nvSpPr>
          <p:cNvPr name="TextBox 12" id="12"/>
          <p:cNvSpPr txBox="true"/>
          <p:nvPr/>
        </p:nvSpPr>
        <p:spPr>
          <a:xfrm rot="0">
            <a:off x="1227830" y="3145041"/>
            <a:ext cx="3789312" cy="412252"/>
          </a:xfrm>
          <a:prstGeom prst="rect">
            <a:avLst/>
          </a:prstGeom>
        </p:spPr>
        <p:txBody>
          <a:bodyPr anchor="t" rtlCol="false" tIns="0" lIns="0" bIns="0" rIns="0">
            <a:spAutoFit/>
          </a:bodyPr>
          <a:lstStyle/>
          <a:p>
            <a:pPr algn="l">
              <a:lnSpc>
                <a:spcPts val="3000"/>
              </a:lnSpc>
            </a:pPr>
            <a:r>
              <a:rPr lang="en-US" sz="2375" b="true">
                <a:solidFill>
                  <a:srgbClr val="746558"/>
                </a:solidFill>
                <a:latin typeface="Arimo Bold"/>
                <a:ea typeface="Arimo Bold"/>
                <a:cs typeface="Arimo Bold"/>
                <a:sym typeface="Arimo Bold"/>
              </a:rPr>
              <a:t>Early Fusion (Data-level)</a:t>
            </a:r>
          </a:p>
        </p:txBody>
      </p:sp>
      <p:sp>
        <p:nvSpPr>
          <p:cNvPr name="TextBox 13" id="13"/>
          <p:cNvSpPr txBox="true"/>
          <p:nvPr/>
        </p:nvSpPr>
        <p:spPr>
          <a:xfrm rot="0">
            <a:off x="1227830" y="3598364"/>
            <a:ext cx="7549010" cy="1277245"/>
          </a:xfrm>
          <a:prstGeom prst="rect">
            <a:avLst/>
          </a:prstGeom>
        </p:spPr>
        <p:txBody>
          <a:bodyPr anchor="t" rtlCol="false" tIns="0" lIns="0" bIns="0" rIns="0">
            <a:spAutoFit/>
          </a:bodyPr>
          <a:lstStyle/>
          <a:p>
            <a:pPr algn="l">
              <a:lnSpc>
                <a:spcPts val="3062"/>
              </a:lnSpc>
            </a:pPr>
            <a:r>
              <a:rPr lang="en-US" sz="1874">
                <a:solidFill>
                  <a:srgbClr val="746558"/>
                </a:solidFill>
                <a:latin typeface="Arimo"/>
                <a:ea typeface="Arimo"/>
                <a:cs typeface="Arimo"/>
                <a:sym typeface="Arimo"/>
              </a:rPr>
              <a:t>Raw sensor concatenation before network input. Maximum information preservation but increased dimensionality and computational load. Limited to sensors with matching resolutions.</a:t>
            </a:r>
          </a:p>
        </p:txBody>
      </p:sp>
      <p:grpSp>
        <p:nvGrpSpPr>
          <p:cNvPr name="Group 14" id="14"/>
          <p:cNvGrpSpPr/>
          <p:nvPr/>
        </p:nvGrpSpPr>
        <p:grpSpPr>
          <a:xfrm rot="0">
            <a:off x="9265444" y="1948310"/>
            <a:ext cx="8040291" cy="3172863"/>
            <a:chOff x="0" y="0"/>
            <a:chExt cx="10720388" cy="4230484"/>
          </a:xfrm>
        </p:grpSpPr>
        <p:sp>
          <p:nvSpPr>
            <p:cNvPr name="Freeform 15" id="15"/>
            <p:cNvSpPr/>
            <p:nvPr/>
          </p:nvSpPr>
          <p:spPr>
            <a:xfrm flipH="false" flipV="false" rot="0">
              <a:off x="0" y="0"/>
              <a:ext cx="10720451" cy="4230497"/>
            </a:xfrm>
            <a:custGeom>
              <a:avLst/>
              <a:gdLst/>
              <a:ahLst/>
              <a:cxnLst/>
              <a:rect r="r" b="b" t="t" l="l"/>
              <a:pathLst>
                <a:path h="4230497" w="10720451">
                  <a:moveTo>
                    <a:pt x="0" y="49149"/>
                  </a:moveTo>
                  <a:cubicBezTo>
                    <a:pt x="0" y="21971"/>
                    <a:pt x="21971" y="0"/>
                    <a:pt x="49149" y="0"/>
                  </a:cubicBezTo>
                  <a:lnTo>
                    <a:pt x="10671302" y="0"/>
                  </a:lnTo>
                  <a:cubicBezTo>
                    <a:pt x="10698480" y="0"/>
                    <a:pt x="10720451" y="21971"/>
                    <a:pt x="10720451" y="49149"/>
                  </a:cubicBezTo>
                  <a:lnTo>
                    <a:pt x="10720451" y="4181348"/>
                  </a:lnTo>
                  <a:cubicBezTo>
                    <a:pt x="10720451" y="4208526"/>
                    <a:pt x="10698480" y="4230497"/>
                    <a:pt x="10671302" y="4230497"/>
                  </a:cubicBezTo>
                  <a:lnTo>
                    <a:pt x="49149" y="4230497"/>
                  </a:lnTo>
                  <a:cubicBezTo>
                    <a:pt x="21971" y="4230497"/>
                    <a:pt x="0" y="4208526"/>
                    <a:pt x="0" y="4181348"/>
                  </a:cubicBezTo>
                  <a:close/>
                </a:path>
              </a:pathLst>
            </a:custGeom>
            <a:solidFill>
              <a:srgbClr val="EEE8DD"/>
            </a:solidFill>
          </p:spPr>
        </p:sp>
      </p:grpSp>
      <p:grpSp>
        <p:nvGrpSpPr>
          <p:cNvPr name="Group 16" id="16"/>
          <p:cNvGrpSpPr/>
          <p:nvPr/>
        </p:nvGrpSpPr>
        <p:grpSpPr>
          <a:xfrm rot="0">
            <a:off x="9511008" y="2193874"/>
            <a:ext cx="736702" cy="736702"/>
            <a:chOff x="0" y="0"/>
            <a:chExt cx="982269" cy="982269"/>
          </a:xfrm>
        </p:grpSpPr>
        <p:sp>
          <p:nvSpPr>
            <p:cNvPr name="Freeform 17" id="17"/>
            <p:cNvSpPr/>
            <p:nvPr/>
          </p:nvSpPr>
          <p:spPr>
            <a:xfrm flipH="false" flipV="false" rot="0">
              <a:off x="0" y="0"/>
              <a:ext cx="982218" cy="982218"/>
            </a:xfrm>
            <a:custGeom>
              <a:avLst/>
              <a:gdLst/>
              <a:ahLst/>
              <a:cxnLst/>
              <a:rect r="r" b="b" t="t" l="l"/>
              <a:pathLst>
                <a:path h="982218" w="982218">
                  <a:moveTo>
                    <a:pt x="0" y="491109"/>
                  </a:moveTo>
                  <a:cubicBezTo>
                    <a:pt x="0" y="219837"/>
                    <a:pt x="219837" y="0"/>
                    <a:pt x="491109" y="0"/>
                  </a:cubicBezTo>
                  <a:cubicBezTo>
                    <a:pt x="762381" y="0"/>
                    <a:pt x="982218" y="219837"/>
                    <a:pt x="982218" y="491109"/>
                  </a:cubicBezTo>
                  <a:cubicBezTo>
                    <a:pt x="982218" y="762381"/>
                    <a:pt x="762381" y="982218"/>
                    <a:pt x="491109" y="982218"/>
                  </a:cubicBezTo>
                  <a:cubicBezTo>
                    <a:pt x="219837" y="982218"/>
                    <a:pt x="0" y="762381"/>
                    <a:pt x="0" y="491109"/>
                  </a:cubicBezTo>
                  <a:close/>
                </a:path>
              </a:pathLst>
            </a:custGeom>
            <a:solidFill>
              <a:srgbClr val="D3C5B6"/>
            </a:solidFill>
          </p:spPr>
        </p:sp>
      </p:grpSp>
      <p:sp>
        <p:nvSpPr>
          <p:cNvPr name="Freeform 18" id="18" descr="preencoded.png"/>
          <p:cNvSpPr/>
          <p:nvPr/>
        </p:nvSpPr>
        <p:spPr>
          <a:xfrm flipH="false" flipV="false" rot="0">
            <a:off x="9713566" y="2396433"/>
            <a:ext cx="331441" cy="331441"/>
          </a:xfrm>
          <a:custGeom>
            <a:avLst/>
            <a:gdLst/>
            <a:ahLst/>
            <a:cxnLst/>
            <a:rect r="r" b="b" t="t" l="l"/>
            <a:pathLst>
              <a:path h="331441" w="331441">
                <a:moveTo>
                  <a:pt x="0" y="0"/>
                </a:moveTo>
                <a:lnTo>
                  <a:pt x="331442" y="0"/>
                </a:lnTo>
                <a:lnTo>
                  <a:pt x="331442" y="331441"/>
                </a:lnTo>
                <a:lnTo>
                  <a:pt x="0" y="331441"/>
                </a:lnTo>
                <a:lnTo>
                  <a:pt x="0" y="0"/>
                </a:lnTo>
                <a:close/>
              </a:path>
            </a:pathLst>
          </a:custGeom>
          <a:blipFill>
            <a:blip r:embed="rId5">
              <a:extLst>
                <a:ext uri="{96DAC541-7B7A-43D3-8B79-37D633B846F1}">
                  <asvg:svgBlip xmlns:asvg="http://schemas.microsoft.com/office/drawing/2016/SVG/main" r:embed="rId6"/>
                </a:ext>
              </a:extLst>
            </a:blip>
            <a:stretch>
              <a:fillRect l="0" t="-11429" r="0" b="-11426"/>
            </a:stretch>
          </a:blipFill>
        </p:spPr>
      </p:sp>
      <p:sp>
        <p:nvSpPr>
          <p:cNvPr name="TextBox 19" id="19"/>
          <p:cNvSpPr txBox="true"/>
          <p:nvPr/>
        </p:nvSpPr>
        <p:spPr>
          <a:xfrm rot="0">
            <a:off x="9511008" y="3145041"/>
            <a:ext cx="5434012" cy="412252"/>
          </a:xfrm>
          <a:prstGeom prst="rect">
            <a:avLst/>
          </a:prstGeom>
        </p:spPr>
        <p:txBody>
          <a:bodyPr anchor="t" rtlCol="false" tIns="0" lIns="0" bIns="0" rIns="0">
            <a:spAutoFit/>
          </a:bodyPr>
          <a:lstStyle/>
          <a:p>
            <a:pPr algn="l">
              <a:lnSpc>
                <a:spcPts val="3000"/>
              </a:lnSpc>
            </a:pPr>
            <a:r>
              <a:rPr lang="en-US" sz="2375" b="true">
                <a:solidFill>
                  <a:srgbClr val="746558"/>
                </a:solidFill>
                <a:latin typeface="Arimo Bold"/>
                <a:ea typeface="Arimo Bold"/>
                <a:cs typeface="Arimo Bold"/>
                <a:sym typeface="Arimo Bold"/>
              </a:rPr>
              <a:t>Intermediate Fusion (Feature-level)</a:t>
            </a:r>
          </a:p>
        </p:txBody>
      </p:sp>
      <p:sp>
        <p:nvSpPr>
          <p:cNvPr name="TextBox 20" id="20"/>
          <p:cNvSpPr txBox="true"/>
          <p:nvPr/>
        </p:nvSpPr>
        <p:spPr>
          <a:xfrm rot="0">
            <a:off x="9511008" y="3598364"/>
            <a:ext cx="7549153" cy="1277245"/>
          </a:xfrm>
          <a:prstGeom prst="rect">
            <a:avLst/>
          </a:prstGeom>
        </p:spPr>
        <p:txBody>
          <a:bodyPr anchor="t" rtlCol="false" tIns="0" lIns="0" bIns="0" rIns="0">
            <a:spAutoFit/>
          </a:bodyPr>
          <a:lstStyle/>
          <a:p>
            <a:pPr algn="l">
              <a:lnSpc>
                <a:spcPts val="3062"/>
              </a:lnSpc>
            </a:pPr>
            <a:r>
              <a:rPr lang="en-US" sz="1874">
                <a:solidFill>
                  <a:srgbClr val="746558"/>
                </a:solidFill>
                <a:latin typeface="Arimo"/>
                <a:ea typeface="Arimo"/>
                <a:cs typeface="Arimo"/>
                <a:sym typeface="Arimo"/>
              </a:rPr>
              <a:t>Feature map merging at network bottlenecks. Balances information retention with dimensionality reduction. Requires careful alignment strategies and specialized fusion modules.</a:t>
            </a:r>
          </a:p>
        </p:txBody>
      </p:sp>
      <p:grpSp>
        <p:nvGrpSpPr>
          <p:cNvPr name="Group 21" id="21"/>
          <p:cNvGrpSpPr/>
          <p:nvPr/>
        </p:nvGrpSpPr>
        <p:grpSpPr>
          <a:xfrm rot="0">
            <a:off x="982266" y="5364213"/>
            <a:ext cx="8040138" cy="3172863"/>
            <a:chOff x="0" y="0"/>
            <a:chExt cx="10720184" cy="4230484"/>
          </a:xfrm>
        </p:grpSpPr>
        <p:sp>
          <p:nvSpPr>
            <p:cNvPr name="Freeform 22" id="22"/>
            <p:cNvSpPr/>
            <p:nvPr/>
          </p:nvSpPr>
          <p:spPr>
            <a:xfrm flipH="false" flipV="false" rot="0">
              <a:off x="0" y="0"/>
              <a:ext cx="10720197" cy="4230497"/>
            </a:xfrm>
            <a:custGeom>
              <a:avLst/>
              <a:gdLst/>
              <a:ahLst/>
              <a:cxnLst/>
              <a:rect r="r" b="b" t="t" l="l"/>
              <a:pathLst>
                <a:path h="4230497" w="10720197">
                  <a:moveTo>
                    <a:pt x="0" y="49149"/>
                  </a:moveTo>
                  <a:cubicBezTo>
                    <a:pt x="0" y="21971"/>
                    <a:pt x="21971" y="0"/>
                    <a:pt x="49149" y="0"/>
                  </a:cubicBezTo>
                  <a:lnTo>
                    <a:pt x="10671048" y="0"/>
                  </a:lnTo>
                  <a:cubicBezTo>
                    <a:pt x="10698226" y="0"/>
                    <a:pt x="10720197" y="21971"/>
                    <a:pt x="10720197" y="49149"/>
                  </a:cubicBezTo>
                  <a:lnTo>
                    <a:pt x="10720197" y="4181348"/>
                  </a:lnTo>
                  <a:cubicBezTo>
                    <a:pt x="10720197" y="4208526"/>
                    <a:pt x="10698226" y="4230497"/>
                    <a:pt x="10671048" y="4230497"/>
                  </a:cubicBezTo>
                  <a:lnTo>
                    <a:pt x="49149" y="4230497"/>
                  </a:lnTo>
                  <a:cubicBezTo>
                    <a:pt x="21971" y="4230497"/>
                    <a:pt x="0" y="4208526"/>
                    <a:pt x="0" y="4181348"/>
                  </a:cubicBezTo>
                  <a:close/>
                </a:path>
              </a:pathLst>
            </a:custGeom>
            <a:solidFill>
              <a:srgbClr val="EEE8DD"/>
            </a:solidFill>
          </p:spPr>
        </p:sp>
      </p:grpSp>
      <p:grpSp>
        <p:nvGrpSpPr>
          <p:cNvPr name="Group 23" id="23"/>
          <p:cNvGrpSpPr/>
          <p:nvPr/>
        </p:nvGrpSpPr>
        <p:grpSpPr>
          <a:xfrm rot="0">
            <a:off x="1227830" y="5609777"/>
            <a:ext cx="736702" cy="736702"/>
            <a:chOff x="0" y="0"/>
            <a:chExt cx="982269" cy="982269"/>
          </a:xfrm>
        </p:grpSpPr>
        <p:sp>
          <p:nvSpPr>
            <p:cNvPr name="Freeform 24" id="24"/>
            <p:cNvSpPr/>
            <p:nvPr/>
          </p:nvSpPr>
          <p:spPr>
            <a:xfrm flipH="false" flipV="false" rot="0">
              <a:off x="0" y="0"/>
              <a:ext cx="982218" cy="982218"/>
            </a:xfrm>
            <a:custGeom>
              <a:avLst/>
              <a:gdLst/>
              <a:ahLst/>
              <a:cxnLst/>
              <a:rect r="r" b="b" t="t" l="l"/>
              <a:pathLst>
                <a:path h="982218" w="982218">
                  <a:moveTo>
                    <a:pt x="0" y="491109"/>
                  </a:moveTo>
                  <a:cubicBezTo>
                    <a:pt x="0" y="219837"/>
                    <a:pt x="219837" y="0"/>
                    <a:pt x="491109" y="0"/>
                  </a:cubicBezTo>
                  <a:cubicBezTo>
                    <a:pt x="762381" y="0"/>
                    <a:pt x="982218" y="219837"/>
                    <a:pt x="982218" y="491109"/>
                  </a:cubicBezTo>
                  <a:cubicBezTo>
                    <a:pt x="982218" y="762381"/>
                    <a:pt x="762381" y="982218"/>
                    <a:pt x="491109" y="982218"/>
                  </a:cubicBezTo>
                  <a:cubicBezTo>
                    <a:pt x="219837" y="982218"/>
                    <a:pt x="0" y="762381"/>
                    <a:pt x="0" y="491109"/>
                  </a:cubicBezTo>
                  <a:close/>
                </a:path>
              </a:pathLst>
            </a:custGeom>
            <a:solidFill>
              <a:srgbClr val="D3C5B6"/>
            </a:solidFill>
          </p:spPr>
        </p:sp>
      </p:grpSp>
      <p:sp>
        <p:nvSpPr>
          <p:cNvPr name="Freeform 25" id="25" descr="preencoded.png"/>
          <p:cNvSpPr/>
          <p:nvPr/>
        </p:nvSpPr>
        <p:spPr>
          <a:xfrm flipH="false" flipV="false" rot="0">
            <a:off x="1430388" y="5812336"/>
            <a:ext cx="331441" cy="331441"/>
          </a:xfrm>
          <a:custGeom>
            <a:avLst/>
            <a:gdLst/>
            <a:ahLst/>
            <a:cxnLst/>
            <a:rect r="r" b="b" t="t" l="l"/>
            <a:pathLst>
              <a:path h="331441" w="331441">
                <a:moveTo>
                  <a:pt x="0" y="0"/>
                </a:moveTo>
                <a:lnTo>
                  <a:pt x="331442" y="0"/>
                </a:lnTo>
                <a:lnTo>
                  <a:pt x="331442" y="331441"/>
                </a:lnTo>
                <a:lnTo>
                  <a:pt x="0" y="331441"/>
                </a:lnTo>
                <a:lnTo>
                  <a:pt x="0" y="0"/>
                </a:lnTo>
                <a:close/>
              </a:path>
            </a:pathLst>
          </a:custGeom>
          <a:blipFill>
            <a:blip r:embed="rId7">
              <a:extLst>
                <a:ext uri="{96DAC541-7B7A-43D3-8B79-37D633B846F1}">
                  <asvg:svgBlip xmlns:asvg="http://schemas.microsoft.com/office/drawing/2016/SVG/main" r:embed="rId8"/>
                </a:ext>
              </a:extLst>
            </a:blip>
            <a:stretch>
              <a:fillRect l="0" t="-5713" r="0" b="-5716"/>
            </a:stretch>
          </a:blipFill>
        </p:spPr>
      </p:sp>
      <p:sp>
        <p:nvSpPr>
          <p:cNvPr name="TextBox 26" id="26"/>
          <p:cNvSpPr txBox="true"/>
          <p:nvPr/>
        </p:nvSpPr>
        <p:spPr>
          <a:xfrm rot="0">
            <a:off x="1227830" y="6560934"/>
            <a:ext cx="4247407" cy="412252"/>
          </a:xfrm>
          <a:prstGeom prst="rect">
            <a:avLst/>
          </a:prstGeom>
        </p:spPr>
        <p:txBody>
          <a:bodyPr anchor="t" rtlCol="false" tIns="0" lIns="0" bIns="0" rIns="0">
            <a:spAutoFit/>
          </a:bodyPr>
          <a:lstStyle/>
          <a:p>
            <a:pPr algn="l">
              <a:lnSpc>
                <a:spcPts val="3000"/>
              </a:lnSpc>
            </a:pPr>
            <a:r>
              <a:rPr lang="en-US" sz="2375" b="true">
                <a:solidFill>
                  <a:srgbClr val="746558"/>
                </a:solidFill>
                <a:latin typeface="Arimo Bold"/>
                <a:ea typeface="Arimo Bold"/>
                <a:cs typeface="Arimo Bold"/>
                <a:sym typeface="Arimo Bold"/>
              </a:rPr>
              <a:t>Late Fusion (Decision-level)</a:t>
            </a:r>
          </a:p>
        </p:txBody>
      </p:sp>
      <p:sp>
        <p:nvSpPr>
          <p:cNvPr name="TextBox 27" id="27"/>
          <p:cNvSpPr txBox="true"/>
          <p:nvPr/>
        </p:nvSpPr>
        <p:spPr>
          <a:xfrm rot="0">
            <a:off x="1227830" y="7014267"/>
            <a:ext cx="7549010" cy="1277245"/>
          </a:xfrm>
          <a:prstGeom prst="rect">
            <a:avLst/>
          </a:prstGeom>
        </p:spPr>
        <p:txBody>
          <a:bodyPr anchor="t" rtlCol="false" tIns="0" lIns="0" bIns="0" rIns="0">
            <a:spAutoFit/>
          </a:bodyPr>
          <a:lstStyle/>
          <a:p>
            <a:pPr algn="l">
              <a:lnSpc>
                <a:spcPts val="3062"/>
              </a:lnSpc>
            </a:pPr>
            <a:r>
              <a:rPr lang="en-US" sz="1874">
                <a:solidFill>
                  <a:srgbClr val="746558"/>
                </a:solidFill>
                <a:latin typeface="Arimo"/>
                <a:ea typeface="Arimo"/>
                <a:cs typeface="Arimo"/>
                <a:sym typeface="Arimo"/>
              </a:rPr>
              <a:t>Separate network training with final prediction combination. Computational efficiency and modularity. May discard valuable correlated features during isolation.</a:t>
            </a:r>
          </a:p>
        </p:txBody>
      </p:sp>
      <p:grpSp>
        <p:nvGrpSpPr>
          <p:cNvPr name="Group 28" id="28"/>
          <p:cNvGrpSpPr/>
          <p:nvPr/>
        </p:nvGrpSpPr>
        <p:grpSpPr>
          <a:xfrm rot="0">
            <a:off x="9265444" y="5364213"/>
            <a:ext cx="8040291" cy="3172863"/>
            <a:chOff x="0" y="0"/>
            <a:chExt cx="10720388" cy="4230484"/>
          </a:xfrm>
        </p:grpSpPr>
        <p:sp>
          <p:nvSpPr>
            <p:cNvPr name="Freeform 29" id="29"/>
            <p:cNvSpPr/>
            <p:nvPr/>
          </p:nvSpPr>
          <p:spPr>
            <a:xfrm flipH="false" flipV="false" rot="0">
              <a:off x="0" y="0"/>
              <a:ext cx="10720451" cy="4230497"/>
            </a:xfrm>
            <a:custGeom>
              <a:avLst/>
              <a:gdLst/>
              <a:ahLst/>
              <a:cxnLst/>
              <a:rect r="r" b="b" t="t" l="l"/>
              <a:pathLst>
                <a:path h="4230497" w="10720451">
                  <a:moveTo>
                    <a:pt x="0" y="49149"/>
                  </a:moveTo>
                  <a:cubicBezTo>
                    <a:pt x="0" y="21971"/>
                    <a:pt x="21971" y="0"/>
                    <a:pt x="49149" y="0"/>
                  </a:cubicBezTo>
                  <a:lnTo>
                    <a:pt x="10671302" y="0"/>
                  </a:lnTo>
                  <a:cubicBezTo>
                    <a:pt x="10698480" y="0"/>
                    <a:pt x="10720451" y="21971"/>
                    <a:pt x="10720451" y="49149"/>
                  </a:cubicBezTo>
                  <a:lnTo>
                    <a:pt x="10720451" y="4181348"/>
                  </a:lnTo>
                  <a:cubicBezTo>
                    <a:pt x="10720451" y="4208526"/>
                    <a:pt x="10698480" y="4230497"/>
                    <a:pt x="10671302" y="4230497"/>
                  </a:cubicBezTo>
                  <a:lnTo>
                    <a:pt x="49149" y="4230497"/>
                  </a:lnTo>
                  <a:cubicBezTo>
                    <a:pt x="21971" y="4230497"/>
                    <a:pt x="0" y="4208526"/>
                    <a:pt x="0" y="4181348"/>
                  </a:cubicBezTo>
                  <a:close/>
                </a:path>
              </a:pathLst>
            </a:custGeom>
            <a:solidFill>
              <a:srgbClr val="EEE8DD"/>
            </a:solidFill>
          </p:spPr>
        </p:sp>
      </p:grpSp>
      <p:grpSp>
        <p:nvGrpSpPr>
          <p:cNvPr name="Group 30" id="30"/>
          <p:cNvGrpSpPr/>
          <p:nvPr/>
        </p:nvGrpSpPr>
        <p:grpSpPr>
          <a:xfrm rot="0">
            <a:off x="9511008" y="5609777"/>
            <a:ext cx="736702" cy="736702"/>
            <a:chOff x="0" y="0"/>
            <a:chExt cx="982269" cy="982269"/>
          </a:xfrm>
        </p:grpSpPr>
        <p:sp>
          <p:nvSpPr>
            <p:cNvPr name="Freeform 31" id="31"/>
            <p:cNvSpPr/>
            <p:nvPr/>
          </p:nvSpPr>
          <p:spPr>
            <a:xfrm flipH="false" flipV="false" rot="0">
              <a:off x="0" y="0"/>
              <a:ext cx="982218" cy="982218"/>
            </a:xfrm>
            <a:custGeom>
              <a:avLst/>
              <a:gdLst/>
              <a:ahLst/>
              <a:cxnLst/>
              <a:rect r="r" b="b" t="t" l="l"/>
              <a:pathLst>
                <a:path h="982218" w="982218">
                  <a:moveTo>
                    <a:pt x="0" y="491109"/>
                  </a:moveTo>
                  <a:cubicBezTo>
                    <a:pt x="0" y="219837"/>
                    <a:pt x="219837" y="0"/>
                    <a:pt x="491109" y="0"/>
                  </a:cubicBezTo>
                  <a:cubicBezTo>
                    <a:pt x="762381" y="0"/>
                    <a:pt x="982218" y="219837"/>
                    <a:pt x="982218" y="491109"/>
                  </a:cubicBezTo>
                  <a:cubicBezTo>
                    <a:pt x="982218" y="762381"/>
                    <a:pt x="762381" y="982218"/>
                    <a:pt x="491109" y="982218"/>
                  </a:cubicBezTo>
                  <a:cubicBezTo>
                    <a:pt x="219837" y="982218"/>
                    <a:pt x="0" y="762381"/>
                    <a:pt x="0" y="491109"/>
                  </a:cubicBezTo>
                  <a:close/>
                </a:path>
              </a:pathLst>
            </a:custGeom>
            <a:solidFill>
              <a:srgbClr val="D3C5B6"/>
            </a:solidFill>
          </p:spPr>
        </p:sp>
      </p:grpSp>
      <p:sp>
        <p:nvSpPr>
          <p:cNvPr name="Freeform 32" id="32" descr="preencoded.png"/>
          <p:cNvSpPr/>
          <p:nvPr/>
        </p:nvSpPr>
        <p:spPr>
          <a:xfrm flipH="false" flipV="false" rot="0">
            <a:off x="9713566" y="5812336"/>
            <a:ext cx="331441" cy="331441"/>
          </a:xfrm>
          <a:custGeom>
            <a:avLst/>
            <a:gdLst/>
            <a:ahLst/>
            <a:cxnLst/>
            <a:rect r="r" b="b" t="t" l="l"/>
            <a:pathLst>
              <a:path h="331441" w="331441">
                <a:moveTo>
                  <a:pt x="0" y="0"/>
                </a:moveTo>
                <a:lnTo>
                  <a:pt x="331442" y="0"/>
                </a:lnTo>
                <a:lnTo>
                  <a:pt x="331442" y="331441"/>
                </a:lnTo>
                <a:lnTo>
                  <a:pt x="0" y="331441"/>
                </a:lnTo>
                <a:lnTo>
                  <a:pt x="0" y="0"/>
                </a:lnTo>
                <a:close/>
              </a:path>
            </a:pathLst>
          </a:custGeom>
          <a:blipFill>
            <a:blip r:embed="rId9">
              <a:extLst>
                <a:ext uri="{96DAC541-7B7A-43D3-8B79-37D633B846F1}">
                  <asvg:svgBlip xmlns:asvg="http://schemas.microsoft.com/office/drawing/2016/SVG/main" r:embed="rId10"/>
                </a:ext>
              </a:extLst>
            </a:blip>
            <a:stretch>
              <a:fillRect l="0" t="-7141" r="0" b="-7144"/>
            </a:stretch>
          </a:blipFill>
        </p:spPr>
      </p:sp>
      <p:sp>
        <p:nvSpPr>
          <p:cNvPr name="TextBox 33" id="33"/>
          <p:cNvSpPr txBox="true"/>
          <p:nvPr/>
        </p:nvSpPr>
        <p:spPr>
          <a:xfrm rot="0">
            <a:off x="9511008" y="6560934"/>
            <a:ext cx="3069879" cy="412252"/>
          </a:xfrm>
          <a:prstGeom prst="rect">
            <a:avLst/>
          </a:prstGeom>
        </p:spPr>
        <p:txBody>
          <a:bodyPr anchor="t" rtlCol="false" tIns="0" lIns="0" bIns="0" rIns="0">
            <a:spAutoFit/>
          </a:bodyPr>
          <a:lstStyle/>
          <a:p>
            <a:pPr algn="l">
              <a:lnSpc>
                <a:spcPts val="3000"/>
              </a:lnSpc>
            </a:pPr>
            <a:r>
              <a:rPr lang="en-US" sz="2375" b="true">
                <a:solidFill>
                  <a:srgbClr val="746558"/>
                </a:solidFill>
                <a:latin typeface="Arimo Bold"/>
                <a:ea typeface="Arimo Bold"/>
                <a:cs typeface="Arimo Bold"/>
                <a:sym typeface="Arimo Bold"/>
              </a:rPr>
              <a:t>Hybrid Fusion</a:t>
            </a:r>
          </a:p>
        </p:txBody>
      </p:sp>
      <p:sp>
        <p:nvSpPr>
          <p:cNvPr name="TextBox 34" id="34"/>
          <p:cNvSpPr txBox="true"/>
          <p:nvPr/>
        </p:nvSpPr>
        <p:spPr>
          <a:xfrm rot="0">
            <a:off x="9511008" y="7014267"/>
            <a:ext cx="7549153" cy="1277245"/>
          </a:xfrm>
          <a:prstGeom prst="rect">
            <a:avLst/>
          </a:prstGeom>
        </p:spPr>
        <p:txBody>
          <a:bodyPr anchor="t" rtlCol="false" tIns="0" lIns="0" bIns="0" rIns="0">
            <a:spAutoFit/>
          </a:bodyPr>
          <a:lstStyle/>
          <a:p>
            <a:pPr algn="l">
              <a:lnSpc>
                <a:spcPts val="3062"/>
              </a:lnSpc>
            </a:pPr>
            <a:r>
              <a:rPr lang="en-US" sz="1874">
                <a:solidFill>
                  <a:srgbClr val="746558"/>
                </a:solidFill>
                <a:latin typeface="Arimo"/>
                <a:ea typeface="Arimo"/>
                <a:cs typeface="Arimo"/>
                <a:sym typeface="Arimo"/>
              </a:rPr>
              <a:t>Multi-stage merging combining advantages. Maximum flexibility and performance. Increased architectural complexity and longer training times. State-of-the-art approach.</a:t>
            </a:r>
          </a:p>
        </p:txBody>
      </p:sp>
      <p:sp>
        <p:nvSpPr>
          <p:cNvPr name="TextBox 35" id="35"/>
          <p:cNvSpPr txBox="true"/>
          <p:nvPr/>
        </p:nvSpPr>
        <p:spPr>
          <a:xfrm rot="0">
            <a:off x="982266" y="8705698"/>
            <a:ext cx="16323469" cy="886416"/>
          </a:xfrm>
          <a:prstGeom prst="rect">
            <a:avLst/>
          </a:prstGeom>
        </p:spPr>
        <p:txBody>
          <a:bodyPr anchor="t" rtlCol="false" tIns="0" lIns="0" bIns="0" rIns="0">
            <a:spAutoFit/>
          </a:bodyPr>
          <a:lstStyle/>
          <a:p>
            <a:pPr algn="l">
              <a:lnSpc>
                <a:spcPts val="3062"/>
              </a:lnSpc>
            </a:pPr>
            <a:r>
              <a:rPr lang="en-US" sz="1874">
                <a:solidFill>
                  <a:srgbClr val="746558"/>
                </a:solidFill>
                <a:latin typeface="Arimo"/>
                <a:ea typeface="Arimo"/>
                <a:cs typeface="Arimo"/>
                <a:sym typeface="Arimo"/>
              </a:rPr>
              <a:t>Each fusion strategy exhibits distinct advantages depending on available computational resources, sensor characteristics, and required inference speed. Understanding these trade-offs guides architectural choices for specific agricultural deployment scenarios.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solidFill>
          </p:spPr>
        </p:sp>
      </p:grpSp>
      <p:sp>
        <p:nvSpPr>
          <p:cNvPr name="TextBox 6" id="6"/>
          <p:cNvSpPr txBox="true"/>
          <p:nvPr/>
        </p:nvSpPr>
        <p:spPr>
          <a:xfrm rot="0">
            <a:off x="1091803" y="900112"/>
            <a:ext cx="13527729" cy="676275"/>
          </a:xfrm>
          <a:prstGeom prst="rect">
            <a:avLst/>
          </a:prstGeom>
        </p:spPr>
        <p:txBody>
          <a:bodyPr anchor="t" rtlCol="false" tIns="0" lIns="0" bIns="0" rIns="0">
            <a:spAutoFit/>
          </a:bodyPr>
          <a:lstStyle/>
          <a:p>
            <a:pPr algn="l">
              <a:lnSpc>
                <a:spcPts val="5000"/>
              </a:lnSpc>
            </a:pPr>
            <a:r>
              <a:rPr lang="en-US" sz="4000" b="true">
                <a:solidFill>
                  <a:srgbClr val="484237"/>
                </a:solidFill>
                <a:latin typeface="Arimo Bold"/>
                <a:ea typeface="Arimo Bold"/>
                <a:cs typeface="Arimo Bold"/>
                <a:sym typeface="Arimo Bold"/>
              </a:rPr>
              <a:t>Deep Learning Architectures in Multimodal Detection</a:t>
            </a:r>
          </a:p>
        </p:txBody>
      </p:sp>
      <p:grpSp>
        <p:nvGrpSpPr>
          <p:cNvPr name="Group 7" id="7"/>
          <p:cNvGrpSpPr/>
          <p:nvPr/>
        </p:nvGrpSpPr>
        <p:grpSpPr>
          <a:xfrm rot="0">
            <a:off x="1101328" y="2046684"/>
            <a:ext cx="3898849" cy="3898849"/>
            <a:chOff x="0" y="0"/>
            <a:chExt cx="5198466" cy="5198466"/>
          </a:xfrm>
        </p:grpSpPr>
        <p:sp>
          <p:nvSpPr>
            <p:cNvPr name="Freeform 8" id="8" descr="preencoded.png"/>
            <p:cNvSpPr/>
            <p:nvPr/>
          </p:nvSpPr>
          <p:spPr>
            <a:xfrm flipH="false" flipV="false" rot="0">
              <a:off x="0" y="0"/>
              <a:ext cx="5198491" cy="5198491"/>
            </a:xfrm>
            <a:custGeom>
              <a:avLst/>
              <a:gdLst/>
              <a:ahLst/>
              <a:cxnLst/>
              <a:rect r="r" b="b" t="t" l="l"/>
              <a:pathLst>
                <a:path h="5198491" w="5198491">
                  <a:moveTo>
                    <a:pt x="0" y="0"/>
                  </a:moveTo>
                  <a:lnTo>
                    <a:pt x="5198491" y="0"/>
                  </a:lnTo>
                  <a:lnTo>
                    <a:pt x="5198491" y="5198491"/>
                  </a:lnTo>
                  <a:lnTo>
                    <a:pt x="0" y="5198491"/>
                  </a:lnTo>
                  <a:lnTo>
                    <a:pt x="0" y="0"/>
                  </a:lnTo>
                  <a:close/>
                </a:path>
              </a:pathLst>
            </a:custGeom>
            <a:blipFill>
              <a:blip r:embed="rId3"/>
              <a:stretch>
                <a:fillRect l="0" t="0" r="0" b="0"/>
              </a:stretch>
            </a:blipFill>
          </p:spPr>
        </p:sp>
      </p:grpSp>
      <p:grpSp>
        <p:nvGrpSpPr>
          <p:cNvPr name="Group 9" id="9"/>
          <p:cNvGrpSpPr/>
          <p:nvPr/>
        </p:nvGrpSpPr>
        <p:grpSpPr>
          <a:xfrm rot="0">
            <a:off x="5163445" y="2046684"/>
            <a:ext cx="3898849" cy="3898849"/>
            <a:chOff x="0" y="0"/>
            <a:chExt cx="5198466" cy="5198466"/>
          </a:xfrm>
        </p:grpSpPr>
        <p:sp>
          <p:nvSpPr>
            <p:cNvPr name="Freeform 10" id="10" descr="preencoded.png"/>
            <p:cNvSpPr/>
            <p:nvPr/>
          </p:nvSpPr>
          <p:spPr>
            <a:xfrm flipH="false" flipV="false" rot="0">
              <a:off x="0" y="0"/>
              <a:ext cx="5198491" cy="5198491"/>
            </a:xfrm>
            <a:custGeom>
              <a:avLst/>
              <a:gdLst/>
              <a:ahLst/>
              <a:cxnLst/>
              <a:rect r="r" b="b" t="t" l="l"/>
              <a:pathLst>
                <a:path h="5198491" w="5198491">
                  <a:moveTo>
                    <a:pt x="0" y="0"/>
                  </a:moveTo>
                  <a:lnTo>
                    <a:pt x="5198491" y="0"/>
                  </a:lnTo>
                  <a:lnTo>
                    <a:pt x="5198491" y="5198491"/>
                  </a:lnTo>
                  <a:lnTo>
                    <a:pt x="0" y="5198491"/>
                  </a:lnTo>
                  <a:lnTo>
                    <a:pt x="0" y="0"/>
                  </a:lnTo>
                  <a:close/>
                </a:path>
              </a:pathLst>
            </a:custGeom>
            <a:blipFill>
              <a:blip r:embed="rId4"/>
              <a:stretch>
                <a:fillRect l="0" t="0" r="0" b="0"/>
              </a:stretch>
            </a:blipFill>
          </p:spPr>
        </p:sp>
      </p:grpSp>
      <p:grpSp>
        <p:nvGrpSpPr>
          <p:cNvPr name="Group 11" id="11"/>
          <p:cNvGrpSpPr/>
          <p:nvPr/>
        </p:nvGrpSpPr>
        <p:grpSpPr>
          <a:xfrm rot="0">
            <a:off x="9225553" y="2046684"/>
            <a:ext cx="3898849" cy="3898849"/>
            <a:chOff x="0" y="0"/>
            <a:chExt cx="5198466" cy="5198466"/>
          </a:xfrm>
        </p:grpSpPr>
        <p:sp>
          <p:nvSpPr>
            <p:cNvPr name="Freeform 12" id="12" descr="preencoded.png"/>
            <p:cNvSpPr/>
            <p:nvPr/>
          </p:nvSpPr>
          <p:spPr>
            <a:xfrm flipH="false" flipV="false" rot="0">
              <a:off x="0" y="0"/>
              <a:ext cx="5198491" cy="5198491"/>
            </a:xfrm>
            <a:custGeom>
              <a:avLst/>
              <a:gdLst/>
              <a:ahLst/>
              <a:cxnLst/>
              <a:rect r="r" b="b" t="t" l="l"/>
              <a:pathLst>
                <a:path h="5198491" w="5198491">
                  <a:moveTo>
                    <a:pt x="0" y="0"/>
                  </a:moveTo>
                  <a:lnTo>
                    <a:pt x="5198491" y="0"/>
                  </a:lnTo>
                  <a:lnTo>
                    <a:pt x="5198491" y="5198491"/>
                  </a:lnTo>
                  <a:lnTo>
                    <a:pt x="0" y="5198491"/>
                  </a:lnTo>
                  <a:lnTo>
                    <a:pt x="0" y="0"/>
                  </a:lnTo>
                  <a:close/>
                </a:path>
              </a:pathLst>
            </a:custGeom>
            <a:blipFill>
              <a:blip r:embed="rId5"/>
              <a:stretch>
                <a:fillRect l="0" t="0" r="0" b="0"/>
              </a:stretch>
            </a:blipFill>
          </p:spPr>
        </p:sp>
      </p:grpSp>
      <p:grpSp>
        <p:nvGrpSpPr>
          <p:cNvPr name="Group 13" id="13"/>
          <p:cNvGrpSpPr/>
          <p:nvPr/>
        </p:nvGrpSpPr>
        <p:grpSpPr>
          <a:xfrm rot="0">
            <a:off x="13287670" y="2046684"/>
            <a:ext cx="3899002" cy="3899002"/>
            <a:chOff x="0" y="0"/>
            <a:chExt cx="5198669" cy="5198669"/>
          </a:xfrm>
        </p:grpSpPr>
        <p:sp>
          <p:nvSpPr>
            <p:cNvPr name="Freeform 14" id="14" descr="preencoded.png"/>
            <p:cNvSpPr/>
            <p:nvPr/>
          </p:nvSpPr>
          <p:spPr>
            <a:xfrm flipH="false" flipV="false" rot="0">
              <a:off x="0" y="0"/>
              <a:ext cx="5198618" cy="5198618"/>
            </a:xfrm>
            <a:custGeom>
              <a:avLst/>
              <a:gdLst/>
              <a:ahLst/>
              <a:cxnLst/>
              <a:rect r="r" b="b" t="t" l="l"/>
              <a:pathLst>
                <a:path h="5198618" w="5198618">
                  <a:moveTo>
                    <a:pt x="0" y="0"/>
                  </a:moveTo>
                  <a:lnTo>
                    <a:pt x="5198618" y="0"/>
                  </a:lnTo>
                  <a:lnTo>
                    <a:pt x="5198618" y="5198618"/>
                  </a:lnTo>
                  <a:lnTo>
                    <a:pt x="0" y="5198618"/>
                  </a:lnTo>
                  <a:lnTo>
                    <a:pt x="0" y="0"/>
                  </a:lnTo>
                  <a:close/>
                </a:path>
              </a:pathLst>
            </a:custGeom>
            <a:blipFill>
              <a:blip r:embed="rId6"/>
              <a:stretch>
                <a:fillRect l="0" t="0" r="0" b="0"/>
              </a:stretch>
            </a:blipFill>
          </p:spPr>
        </p:sp>
      </p:grpSp>
      <p:sp>
        <p:nvSpPr>
          <p:cNvPr name="TextBox 15" id="15"/>
          <p:cNvSpPr txBox="true"/>
          <p:nvPr/>
        </p:nvSpPr>
        <p:spPr>
          <a:xfrm rot="0">
            <a:off x="1091803" y="6417764"/>
            <a:ext cx="4981575" cy="337985"/>
          </a:xfrm>
          <a:prstGeom prst="rect">
            <a:avLst/>
          </a:prstGeom>
        </p:spPr>
        <p:txBody>
          <a:bodyPr anchor="t" rtlCol="false" tIns="0" lIns="0" bIns="0" rIns="0">
            <a:spAutoFit/>
          </a:bodyPr>
          <a:lstStyle/>
          <a:p>
            <a:pPr algn="l">
              <a:lnSpc>
                <a:spcPts val="2500"/>
              </a:lnSpc>
            </a:pPr>
            <a:r>
              <a:rPr lang="en-US" sz="2000" b="true">
                <a:solidFill>
                  <a:srgbClr val="484237"/>
                </a:solidFill>
                <a:latin typeface="Arimo Bold"/>
                <a:ea typeface="Arimo Bold"/>
                <a:cs typeface="Arimo Bold"/>
                <a:sym typeface="Arimo Bold"/>
              </a:rPr>
              <a:t>Convolutional Neural Networks (CNNs)</a:t>
            </a:r>
          </a:p>
        </p:txBody>
      </p:sp>
      <p:sp>
        <p:nvSpPr>
          <p:cNvPr name="TextBox 16" id="16"/>
          <p:cNvSpPr txBox="true"/>
          <p:nvPr/>
        </p:nvSpPr>
        <p:spPr>
          <a:xfrm rot="0">
            <a:off x="1091803" y="6866630"/>
            <a:ext cx="7803061" cy="1248366"/>
          </a:xfrm>
          <a:prstGeom prst="rect">
            <a:avLst/>
          </a:prstGeom>
        </p:spPr>
        <p:txBody>
          <a:bodyPr anchor="t" rtlCol="false" tIns="0" lIns="0" bIns="0" rIns="0">
            <a:spAutoFit/>
          </a:bodyPr>
          <a:lstStyle/>
          <a:p>
            <a:pPr algn="l">
              <a:lnSpc>
                <a:spcPts val="2312"/>
              </a:lnSpc>
            </a:pPr>
            <a:r>
              <a:rPr lang="en-US" sz="1562">
                <a:solidFill>
                  <a:srgbClr val="746558"/>
                </a:solidFill>
                <a:latin typeface="Arimo"/>
                <a:ea typeface="Arimo"/>
                <a:cs typeface="Arimo"/>
                <a:sym typeface="Arimo"/>
              </a:rPr>
              <a:t>CNNs dominate plant disease detection research due to their ability to extract hierarchical spatial features. AlexNet, VGG, ResNet, and Inception architectures provide pre-trained backbones for transfer learning, reducing training data requirements from thousands to hundreds of images per class.</a:t>
            </a:r>
          </a:p>
        </p:txBody>
      </p:sp>
      <p:sp>
        <p:nvSpPr>
          <p:cNvPr name="TextBox 17" id="17"/>
          <p:cNvSpPr txBox="true"/>
          <p:nvPr/>
        </p:nvSpPr>
        <p:spPr>
          <a:xfrm rot="0">
            <a:off x="9402661" y="6417764"/>
            <a:ext cx="4241902" cy="337985"/>
          </a:xfrm>
          <a:prstGeom prst="rect">
            <a:avLst/>
          </a:prstGeom>
        </p:spPr>
        <p:txBody>
          <a:bodyPr anchor="t" rtlCol="false" tIns="0" lIns="0" bIns="0" rIns="0">
            <a:spAutoFit/>
          </a:bodyPr>
          <a:lstStyle/>
          <a:p>
            <a:pPr algn="l">
              <a:lnSpc>
                <a:spcPts val="2500"/>
              </a:lnSpc>
            </a:pPr>
            <a:r>
              <a:rPr lang="en-US" sz="2000" b="true">
                <a:solidFill>
                  <a:srgbClr val="484237"/>
                </a:solidFill>
                <a:latin typeface="Arimo Bold"/>
                <a:ea typeface="Arimo Bold"/>
                <a:cs typeface="Arimo Bold"/>
                <a:sym typeface="Arimo Bold"/>
              </a:rPr>
              <a:t>Transformer-Based Architectures</a:t>
            </a:r>
          </a:p>
        </p:txBody>
      </p:sp>
      <p:sp>
        <p:nvSpPr>
          <p:cNvPr name="TextBox 18" id="18"/>
          <p:cNvSpPr txBox="true"/>
          <p:nvPr/>
        </p:nvSpPr>
        <p:spPr>
          <a:xfrm rot="0">
            <a:off x="9402661" y="6866630"/>
            <a:ext cx="7803061" cy="1248366"/>
          </a:xfrm>
          <a:prstGeom prst="rect">
            <a:avLst/>
          </a:prstGeom>
        </p:spPr>
        <p:txBody>
          <a:bodyPr anchor="t" rtlCol="false" tIns="0" lIns="0" bIns="0" rIns="0">
            <a:spAutoFit/>
          </a:bodyPr>
          <a:lstStyle/>
          <a:p>
            <a:pPr algn="l">
              <a:lnSpc>
                <a:spcPts val="2312"/>
              </a:lnSpc>
            </a:pPr>
            <a:r>
              <a:rPr lang="en-US" sz="1562">
                <a:solidFill>
                  <a:srgbClr val="746558"/>
                </a:solidFill>
                <a:latin typeface="Arimo"/>
                <a:ea typeface="Arimo"/>
                <a:cs typeface="Arimo"/>
                <a:sym typeface="Arimo"/>
              </a:rPr>
              <a:t>Visual Transformers demonstrate competitive performance by modeling long-range dependencies between image regions. Their self-attention mechanisms naturally accommodate multiple input modalities through separate projection pathways before cross-attention fusion layers.</a:t>
            </a:r>
          </a:p>
        </p:txBody>
      </p:sp>
      <p:sp>
        <p:nvSpPr>
          <p:cNvPr name="TextBox 19" id="19"/>
          <p:cNvSpPr txBox="true"/>
          <p:nvPr/>
        </p:nvSpPr>
        <p:spPr>
          <a:xfrm rot="0">
            <a:off x="1091803" y="8398078"/>
            <a:ext cx="16104394" cy="950566"/>
          </a:xfrm>
          <a:prstGeom prst="rect">
            <a:avLst/>
          </a:prstGeom>
        </p:spPr>
        <p:txBody>
          <a:bodyPr anchor="t" rtlCol="false" tIns="0" lIns="0" bIns="0" rIns="0">
            <a:spAutoFit/>
          </a:bodyPr>
          <a:lstStyle/>
          <a:p>
            <a:pPr algn="l">
              <a:lnSpc>
                <a:spcPts val="2312"/>
              </a:lnSpc>
            </a:pPr>
            <a:r>
              <a:rPr lang="en-US" sz="1562">
                <a:solidFill>
                  <a:srgbClr val="746558"/>
                </a:solidFill>
                <a:latin typeface="Arimo"/>
                <a:ea typeface="Arimo"/>
                <a:cs typeface="Arimo"/>
                <a:sym typeface="Arimo"/>
              </a:rPr>
              <a:t>Architecture choice significantly impacts fusion performance. CNNs excel at local feature extraction but struggle with global context modeling. Transformers capture broader patterns at higher computational cost. Hybrid CNN-Transformer architectures—such as those combining CNN feature extractors with Transformer classification heads—show promise for balancing efficiency with contextual awareness.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solidFill>
          </p:spPr>
        </p:sp>
      </p:grpSp>
      <p:sp>
        <p:nvSpPr>
          <p:cNvPr name="TextBox 6" id="6"/>
          <p:cNvSpPr txBox="true"/>
          <p:nvPr/>
        </p:nvSpPr>
        <p:spPr>
          <a:xfrm rot="0">
            <a:off x="992238" y="803519"/>
            <a:ext cx="12411523" cy="813197"/>
          </a:xfrm>
          <a:prstGeom prst="rect">
            <a:avLst/>
          </a:prstGeom>
        </p:spPr>
        <p:txBody>
          <a:bodyPr anchor="t" rtlCol="false" tIns="0" lIns="0" bIns="0" rIns="0">
            <a:spAutoFit/>
          </a:bodyPr>
          <a:lstStyle/>
          <a:p>
            <a:pPr algn="l">
              <a:lnSpc>
                <a:spcPts val="6062"/>
              </a:lnSpc>
            </a:pPr>
            <a:r>
              <a:rPr lang="en-US" sz="4875" b="true">
                <a:solidFill>
                  <a:srgbClr val="484237"/>
                </a:solidFill>
                <a:latin typeface="Arimo Bold"/>
                <a:ea typeface="Arimo Bold"/>
                <a:cs typeface="Arimo Bold"/>
                <a:sym typeface="Arimo Bold"/>
              </a:rPr>
              <a:t>Problem Statement: Current Limitations</a:t>
            </a:r>
          </a:p>
        </p:txBody>
      </p:sp>
      <p:grpSp>
        <p:nvGrpSpPr>
          <p:cNvPr name="Group 7" id="7"/>
          <p:cNvGrpSpPr/>
          <p:nvPr/>
        </p:nvGrpSpPr>
        <p:grpSpPr>
          <a:xfrm rot="0">
            <a:off x="977951" y="2098472"/>
            <a:ext cx="8056359" cy="2705843"/>
            <a:chOff x="0" y="0"/>
            <a:chExt cx="10741812" cy="3607791"/>
          </a:xfrm>
        </p:grpSpPr>
        <p:sp>
          <p:nvSpPr>
            <p:cNvPr name="Freeform 8" id="8"/>
            <p:cNvSpPr/>
            <p:nvPr/>
          </p:nvSpPr>
          <p:spPr>
            <a:xfrm flipH="false" flipV="false" rot="0">
              <a:off x="19050" y="19050"/>
              <a:ext cx="10703687" cy="3569716"/>
            </a:xfrm>
            <a:custGeom>
              <a:avLst/>
              <a:gdLst/>
              <a:ahLst/>
              <a:cxnLst/>
              <a:rect r="r" b="b" t="t" l="l"/>
              <a:pathLst>
                <a:path h="3569716" w="10703687">
                  <a:moveTo>
                    <a:pt x="0" y="182880"/>
                  </a:moveTo>
                  <a:cubicBezTo>
                    <a:pt x="0" y="81915"/>
                    <a:pt x="82423" y="0"/>
                    <a:pt x="184150" y="0"/>
                  </a:cubicBezTo>
                  <a:lnTo>
                    <a:pt x="10519537" y="0"/>
                  </a:lnTo>
                  <a:cubicBezTo>
                    <a:pt x="10621264" y="0"/>
                    <a:pt x="10703687" y="81915"/>
                    <a:pt x="10703687" y="182880"/>
                  </a:cubicBezTo>
                  <a:lnTo>
                    <a:pt x="10703687" y="3386836"/>
                  </a:lnTo>
                  <a:cubicBezTo>
                    <a:pt x="10703687" y="3487801"/>
                    <a:pt x="10621264" y="3569716"/>
                    <a:pt x="10519537" y="3569716"/>
                  </a:cubicBezTo>
                  <a:lnTo>
                    <a:pt x="184150" y="3569716"/>
                  </a:lnTo>
                  <a:cubicBezTo>
                    <a:pt x="82423" y="3569716"/>
                    <a:pt x="0" y="3487801"/>
                    <a:pt x="0" y="3386836"/>
                  </a:cubicBezTo>
                  <a:close/>
                </a:path>
              </a:pathLst>
            </a:custGeom>
            <a:solidFill>
              <a:srgbClr val="F9F6F0"/>
            </a:solidFill>
          </p:spPr>
        </p:sp>
        <p:sp>
          <p:nvSpPr>
            <p:cNvPr name="Freeform 9" id="9"/>
            <p:cNvSpPr/>
            <p:nvPr/>
          </p:nvSpPr>
          <p:spPr>
            <a:xfrm flipH="false" flipV="false" rot="0">
              <a:off x="0" y="0"/>
              <a:ext cx="10741787" cy="3607816"/>
            </a:xfrm>
            <a:custGeom>
              <a:avLst/>
              <a:gdLst/>
              <a:ahLst/>
              <a:cxnLst/>
              <a:rect r="r" b="b" t="t" l="l"/>
              <a:pathLst>
                <a:path h="3607816" w="10741787">
                  <a:moveTo>
                    <a:pt x="0" y="201930"/>
                  </a:moveTo>
                  <a:cubicBezTo>
                    <a:pt x="0" y="90297"/>
                    <a:pt x="91059" y="0"/>
                    <a:pt x="203200" y="0"/>
                  </a:cubicBezTo>
                  <a:lnTo>
                    <a:pt x="10538587" y="0"/>
                  </a:lnTo>
                  <a:lnTo>
                    <a:pt x="10538587" y="19050"/>
                  </a:lnTo>
                  <a:lnTo>
                    <a:pt x="10538587" y="0"/>
                  </a:lnTo>
                  <a:cubicBezTo>
                    <a:pt x="10650728" y="0"/>
                    <a:pt x="10741787" y="90297"/>
                    <a:pt x="10741787" y="201930"/>
                  </a:cubicBezTo>
                  <a:lnTo>
                    <a:pt x="10722737" y="201930"/>
                  </a:lnTo>
                  <a:lnTo>
                    <a:pt x="10741787" y="201930"/>
                  </a:lnTo>
                  <a:lnTo>
                    <a:pt x="10741787" y="3405886"/>
                  </a:lnTo>
                  <a:lnTo>
                    <a:pt x="10722737" y="3405886"/>
                  </a:lnTo>
                  <a:lnTo>
                    <a:pt x="10741787" y="3405886"/>
                  </a:lnTo>
                  <a:cubicBezTo>
                    <a:pt x="10741787" y="3517519"/>
                    <a:pt x="10650728" y="3607816"/>
                    <a:pt x="10538587" y="3607816"/>
                  </a:cubicBezTo>
                  <a:lnTo>
                    <a:pt x="10538587" y="3588766"/>
                  </a:lnTo>
                  <a:lnTo>
                    <a:pt x="10538587" y="3607816"/>
                  </a:lnTo>
                  <a:lnTo>
                    <a:pt x="203200" y="3607816"/>
                  </a:lnTo>
                  <a:lnTo>
                    <a:pt x="203200" y="3588766"/>
                  </a:lnTo>
                  <a:lnTo>
                    <a:pt x="203200" y="3607816"/>
                  </a:lnTo>
                  <a:cubicBezTo>
                    <a:pt x="91059" y="3607816"/>
                    <a:pt x="0" y="3517519"/>
                    <a:pt x="0" y="3405886"/>
                  </a:cubicBezTo>
                  <a:lnTo>
                    <a:pt x="0" y="201930"/>
                  </a:lnTo>
                  <a:lnTo>
                    <a:pt x="19050" y="201930"/>
                  </a:lnTo>
                  <a:lnTo>
                    <a:pt x="0" y="201930"/>
                  </a:lnTo>
                  <a:moveTo>
                    <a:pt x="38100" y="201930"/>
                  </a:moveTo>
                  <a:lnTo>
                    <a:pt x="38100" y="3405886"/>
                  </a:lnTo>
                  <a:lnTo>
                    <a:pt x="19050" y="3405886"/>
                  </a:lnTo>
                  <a:lnTo>
                    <a:pt x="38100" y="3405886"/>
                  </a:lnTo>
                  <a:cubicBezTo>
                    <a:pt x="38100" y="3496183"/>
                    <a:pt x="111887" y="3569716"/>
                    <a:pt x="203200" y="3569716"/>
                  </a:cubicBezTo>
                  <a:lnTo>
                    <a:pt x="10538587" y="3569716"/>
                  </a:lnTo>
                  <a:cubicBezTo>
                    <a:pt x="10629900" y="3569716"/>
                    <a:pt x="10703687" y="3496183"/>
                    <a:pt x="10703687" y="3405886"/>
                  </a:cubicBezTo>
                  <a:lnTo>
                    <a:pt x="10703687" y="201930"/>
                  </a:lnTo>
                  <a:cubicBezTo>
                    <a:pt x="10703687" y="111633"/>
                    <a:pt x="10629900" y="38100"/>
                    <a:pt x="10538587" y="38100"/>
                  </a:cubicBezTo>
                  <a:lnTo>
                    <a:pt x="203200" y="38100"/>
                  </a:lnTo>
                  <a:lnTo>
                    <a:pt x="203200" y="19050"/>
                  </a:lnTo>
                  <a:lnTo>
                    <a:pt x="203200" y="38100"/>
                  </a:lnTo>
                  <a:cubicBezTo>
                    <a:pt x="111887" y="38100"/>
                    <a:pt x="38100" y="111633"/>
                    <a:pt x="38100" y="201930"/>
                  </a:cubicBezTo>
                  <a:close/>
                </a:path>
              </a:pathLst>
            </a:custGeom>
            <a:solidFill>
              <a:srgbClr val="D3C5B6"/>
            </a:solidFill>
          </p:spPr>
        </p:sp>
      </p:grpSp>
      <p:grpSp>
        <p:nvGrpSpPr>
          <p:cNvPr name="Group 10" id="10"/>
          <p:cNvGrpSpPr/>
          <p:nvPr/>
        </p:nvGrpSpPr>
        <p:grpSpPr>
          <a:xfrm rot="0">
            <a:off x="963663" y="2112759"/>
            <a:ext cx="114300" cy="2677268"/>
            <a:chOff x="0" y="0"/>
            <a:chExt cx="152400" cy="3569691"/>
          </a:xfrm>
        </p:grpSpPr>
        <p:sp>
          <p:nvSpPr>
            <p:cNvPr name="Freeform 11" id="11"/>
            <p:cNvSpPr/>
            <p:nvPr/>
          </p:nvSpPr>
          <p:spPr>
            <a:xfrm flipH="false" flipV="false" rot="0">
              <a:off x="0" y="0"/>
              <a:ext cx="152400" cy="3569716"/>
            </a:xfrm>
            <a:custGeom>
              <a:avLst/>
              <a:gdLst/>
              <a:ahLst/>
              <a:cxnLst/>
              <a:rect r="r" b="b" t="t" l="l"/>
              <a:pathLst>
                <a:path h="3569716" w="152400">
                  <a:moveTo>
                    <a:pt x="0" y="49657"/>
                  </a:moveTo>
                  <a:cubicBezTo>
                    <a:pt x="0" y="22225"/>
                    <a:pt x="22225" y="0"/>
                    <a:pt x="49657" y="0"/>
                  </a:cubicBezTo>
                  <a:lnTo>
                    <a:pt x="102743" y="0"/>
                  </a:lnTo>
                  <a:cubicBezTo>
                    <a:pt x="130175" y="0"/>
                    <a:pt x="152400" y="22225"/>
                    <a:pt x="152400" y="49657"/>
                  </a:cubicBezTo>
                  <a:lnTo>
                    <a:pt x="152400" y="3520059"/>
                  </a:lnTo>
                  <a:cubicBezTo>
                    <a:pt x="152400" y="3547491"/>
                    <a:pt x="130175" y="3569716"/>
                    <a:pt x="102743" y="3569716"/>
                  </a:cubicBezTo>
                  <a:lnTo>
                    <a:pt x="49657" y="3569716"/>
                  </a:lnTo>
                  <a:cubicBezTo>
                    <a:pt x="22225" y="3569716"/>
                    <a:pt x="0" y="3547491"/>
                    <a:pt x="0" y="3520059"/>
                  </a:cubicBezTo>
                  <a:close/>
                </a:path>
              </a:pathLst>
            </a:custGeom>
            <a:solidFill>
              <a:srgbClr val="D3C5B6"/>
            </a:solidFill>
          </p:spPr>
        </p:sp>
      </p:grpSp>
      <p:sp>
        <p:nvSpPr>
          <p:cNvPr name="TextBox 12" id="12"/>
          <p:cNvSpPr txBox="true"/>
          <p:nvPr/>
        </p:nvSpPr>
        <p:spPr>
          <a:xfrm rot="0">
            <a:off x="1354484" y="2379764"/>
            <a:ext cx="4099474" cy="397221"/>
          </a:xfrm>
          <a:prstGeom prst="rect">
            <a:avLst/>
          </a:prstGeom>
        </p:spPr>
        <p:txBody>
          <a:bodyPr anchor="t" rtlCol="false" tIns="0" lIns="0" bIns="0" rIns="0">
            <a:spAutoFit/>
          </a:bodyPr>
          <a:lstStyle/>
          <a:p>
            <a:pPr algn="l">
              <a:lnSpc>
                <a:spcPts val="2999"/>
              </a:lnSpc>
            </a:pPr>
            <a:r>
              <a:rPr lang="en-US" sz="2437" b="true">
                <a:solidFill>
                  <a:srgbClr val="746558"/>
                </a:solidFill>
                <a:latin typeface="Arimo Bold"/>
                <a:ea typeface="Arimo Bold"/>
                <a:cs typeface="Arimo Bold"/>
                <a:sym typeface="Arimo Bold"/>
              </a:rPr>
              <a:t>Computational Complexity</a:t>
            </a:r>
          </a:p>
        </p:txBody>
      </p:sp>
      <p:sp>
        <p:nvSpPr>
          <p:cNvPr name="TextBox 13" id="13"/>
          <p:cNvSpPr txBox="true"/>
          <p:nvPr/>
        </p:nvSpPr>
        <p:spPr>
          <a:xfrm rot="0">
            <a:off x="1354484" y="2830563"/>
            <a:ext cx="7389019" cy="1682953"/>
          </a:xfrm>
          <a:prstGeom prst="rect">
            <a:avLst/>
          </a:prstGeom>
        </p:spPr>
        <p:txBody>
          <a:bodyPr anchor="t" rtlCol="false" tIns="0" lIns="0" bIns="0" rIns="0">
            <a:spAutoFit/>
          </a:bodyPr>
          <a:lstStyle/>
          <a:p>
            <a:pPr algn="l">
              <a:lnSpc>
                <a:spcPts val="3125"/>
              </a:lnSpc>
            </a:pPr>
            <a:r>
              <a:rPr lang="en-US" sz="1937">
                <a:solidFill>
                  <a:srgbClr val="746558"/>
                </a:solidFill>
                <a:latin typeface="Arimo"/>
                <a:ea typeface="Arimo"/>
                <a:cs typeface="Arimo"/>
                <a:sym typeface="Arimo"/>
              </a:rPr>
              <a:t>High-dimensional multimodal data demands increased memory bandwidth and processing power. Training times extend from hours to days when processing fused hyperspectral-thermal-RGB tensors versus single-sensor inputs.</a:t>
            </a:r>
          </a:p>
        </p:txBody>
      </p:sp>
      <p:grpSp>
        <p:nvGrpSpPr>
          <p:cNvPr name="Group 14" id="14"/>
          <p:cNvGrpSpPr/>
          <p:nvPr/>
        </p:nvGrpSpPr>
        <p:grpSpPr>
          <a:xfrm rot="0">
            <a:off x="9253690" y="2098472"/>
            <a:ext cx="8056359" cy="2705843"/>
            <a:chOff x="0" y="0"/>
            <a:chExt cx="10741812" cy="3607791"/>
          </a:xfrm>
        </p:grpSpPr>
        <p:sp>
          <p:nvSpPr>
            <p:cNvPr name="Freeform 15" id="15"/>
            <p:cNvSpPr/>
            <p:nvPr/>
          </p:nvSpPr>
          <p:spPr>
            <a:xfrm flipH="false" flipV="false" rot="0">
              <a:off x="19050" y="19050"/>
              <a:ext cx="10703687" cy="3569716"/>
            </a:xfrm>
            <a:custGeom>
              <a:avLst/>
              <a:gdLst/>
              <a:ahLst/>
              <a:cxnLst/>
              <a:rect r="r" b="b" t="t" l="l"/>
              <a:pathLst>
                <a:path h="3569716" w="10703687">
                  <a:moveTo>
                    <a:pt x="0" y="182880"/>
                  </a:moveTo>
                  <a:cubicBezTo>
                    <a:pt x="0" y="81915"/>
                    <a:pt x="82423" y="0"/>
                    <a:pt x="184150" y="0"/>
                  </a:cubicBezTo>
                  <a:lnTo>
                    <a:pt x="10519537" y="0"/>
                  </a:lnTo>
                  <a:cubicBezTo>
                    <a:pt x="10621264" y="0"/>
                    <a:pt x="10703687" y="81915"/>
                    <a:pt x="10703687" y="182880"/>
                  </a:cubicBezTo>
                  <a:lnTo>
                    <a:pt x="10703687" y="3386836"/>
                  </a:lnTo>
                  <a:cubicBezTo>
                    <a:pt x="10703687" y="3487801"/>
                    <a:pt x="10621264" y="3569716"/>
                    <a:pt x="10519537" y="3569716"/>
                  </a:cubicBezTo>
                  <a:lnTo>
                    <a:pt x="184150" y="3569716"/>
                  </a:lnTo>
                  <a:cubicBezTo>
                    <a:pt x="82423" y="3569716"/>
                    <a:pt x="0" y="3487801"/>
                    <a:pt x="0" y="3386836"/>
                  </a:cubicBezTo>
                  <a:close/>
                </a:path>
              </a:pathLst>
            </a:custGeom>
            <a:solidFill>
              <a:srgbClr val="F9F6F0"/>
            </a:solidFill>
          </p:spPr>
        </p:sp>
        <p:sp>
          <p:nvSpPr>
            <p:cNvPr name="Freeform 16" id="16"/>
            <p:cNvSpPr/>
            <p:nvPr/>
          </p:nvSpPr>
          <p:spPr>
            <a:xfrm flipH="false" flipV="false" rot="0">
              <a:off x="0" y="0"/>
              <a:ext cx="10741787" cy="3607816"/>
            </a:xfrm>
            <a:custGeom>
              <a:avLst/>
              <a:gdLst/>
              <a:ahLst/>
              <a:cxnLst/>
              <a:rect r="r" b="b" t="t" l="l"/>
              <a:pathLst>
                <a:path h="3607816" w="10741787">
                  <a:moveTo>
                    <a:pt x="0" y="201930"/>
                  </a:moveTo>
                  <a:cubicBezTo>
                    <a:pt x="0" y="90297"/>
                    <a:pt x="91059" y="0"/>
                    <a:pt x="203200" y="0"/>
                  </a:cubicBezTo>
                  <a:lnTo>
                    <a:pt x="10538587" y="0"/>
                  </a:lnTo>
                  <a:lnTo>
                    <a:pt x="10538587" y="19050"/>
                  </a:lnTo>
                  <a:lnTo>
                    <a:pt x="10538587" y="0"/>
                  </a:lnTo>
                  <a:cubicBezTo>
                    <a:pt x="10650728" y="0"/>
                    <a:pt x="10741787" y="90297"/>
                    <a:pt x="10741787" y="201930"/>
                  </a:cubicBezTo>
                  <a:lnTo>
                    <a:pt x="10722737" y="201930"/>
                  </a:lnTo>
                  <a:lnTo>
                    <a:pt x="10741787" y="201930"/>
                  </a:lnTo>
                  <a:lnTo>
                    <a:pt x="10741787" y="3405886"/>
                  </a:lnTo>
                  <a:lnTo>
                    <a:pt x="10722737" y="3405886"/>
                  </a:lnTo>
                  <a:lnTo>
                    <a:pt x="10741787" y="3405886"/>
                  </a:lnTo>
                  <a:cubicBezTo>
                    <a:pt x="10741787" y="3517519"/>
                    <a:pt x="10650728" y="3607816"/>
                    <a:pt x="10538587" y="3607816"/>
                  </a:cubicBezTo>
                  <a:lnTo>
                    <a:pt x="10538587" y="3588766"/>
                  </a:lnTo>
                  <a:lnTo>
                    <a:pt x="10538587" y="3607816"/>
                  </a:lnTo>
                  <a:lnTo>
                    <a:pt x="203200" y="3607816"/>
                  </a:lnTo>
                  <a:lnTo>
                    <a:pt x="203200" y="3588766"/>
                  </a:lnTo>
                  <a:lnTo>
                    <a:pt x="203200" y="3607816"/>
                  </a:lnTo>
                  <a:cubicBezTo>
                    <a:pt x="91059" y="3607816"/>
                    <a:pt x="0" y="3517519"/>
                    <a:pt x="0" y="3405886"/>
                  </a:cubicBezTo>
                  <a:lnTo>
                    <a:pt x="0" y="201930"/>
                  </a:lnTo>
                  <a:lnTo>
                    <a:pt x="19050" y="201930"/>
                  </a:lnTo>
                  <a:lnTo>
                    <a:pt x="0" y="201930"/>
                  </a:lnTo>
                  <a:moveTo>
                    <a:pt x="38100" y="201930"/>
                  </a:moveTo>
                  <a:lnTo>
                    <a:pt x="38100" y="3405886"/>
                  </a:lnTo>
                  <a:lnTo>
                    <a:pt x="19050" y="3405886"/>
                  </a:lnTo>
                  <a:lnTo>
                    <a:pt x="38100" y="3405886"/>
                  </a:lnTo>
                  <a:cubicBezTo>
                    <a:pt x="38100" y="3496183"/>
                    <a:pt x="111887" y="3569716"/>
                    <a:pt x="203200" y="3569716"/>
                  </a:cubicBezTo>
                  <a:lnTo>
                    <a:pt x="10538587" y="3569716"/>
                  </a:lnTo>
                  <a:cubicBezTo>
                    <a:pt x="10629900" y="3569716"/>
                    <a:pt x="10703687" y="3496183"/>
                    <a:pt x="10703687" y="3405886"/>
                  </a:cubicBezTo>
                  <a:lnTo>
                    <a:pt x="10703687" y="201930"/>
                  </a:lnTo>
                  <a:cubicBezTo>
                    <a:pt x="10703687" y="111633"/>
                    <a:pt x="10629900" y="38100"/>
                    <a:pt x="10538587" y="38100"/>
                  </a:cubicBezTo>
                  <a:lnTo>
                    <a:pt x="203200" y="38100"/>
                  </a:lnTo>
                  <a:lnTo>
                    <a:pt x="203200" y="19050"/>
                  </a:lnTo>
                  <a:lnTo>
                    <a:pt x="203200" y="38100"/>
                  </a:lnTo>
                  <a:cubicBezTo>
                    <a:pt x="111887" y="38100"/>
                    <a:pt x="38100" y="111633"/>
                    <a:pt x="38100" y="201930"/>
                  </a:cubicBezTo>
                  <a:close/>
                </a:path>
              </a:pathLst>
            </a:custGeom>
            <a:solidFill>
              <a:srgbClr val="D3C5B6"/>
            </a:solidFill>
          </p:spPr>
        </p:sp>
      </p:grpSp>
      <p:grpSp>
        <p:nvGrpSpPr>
          <p:cNvPr name="Group 17" id="17"/>
          <p:cNvGrpSpPr/>
          <p:nvPr/>
        </p:nvGrpSpPr>
        <p:grpSpPr>
          <a:xfrm rot="0">
            <a:off x="9239402" y="2112759"/>
            <a:ext cx="114300" cy="2677268"/>
            <a:chOff x="0" y="0"/>
            <a:chExt cx="152400" cy="3569691"/>
          </a:xfrm>
        </p:grpSpPr>
        <p:sp>
          <p:nvSpPr>
            <p:cNvPr name="Freeform 18" id="18"/>
            <p:cNvSpPr/>
            <p:nvPr/>
          </p:nvSpPr>
          <p:spPr>
            <a:xfrm flipH="false" flipV="false" rot="0">
              <a:off x="0" y="0"/>
              <a:ext cx="152400" cy="3569716"/>
            </a:xfrm>
            <a:custGeom>
              <a:avLst/>
              <a:gdLst/>
              <a:ahLst/>
              <a:cxnLst/>
              <a:rect r="r" b="b" t="t" l="l"/>
              <a:pathLst>
                <a:path h="3569716" w="152400">
                  <a:moveTo>
                    <a:pt x="0" y="49657"/>
                  </a:moveTo>
                  <a:cubicBezTo>
                    <a:pt x="0" y="22225"/>
                    <a:pt x="22225" y="0"/>
                    <a:pt x="49657" y="0"/>
                  </a:cubicBezTo>
                  <a:lnTo>
                    <a:pt x="102743" y="0"/>
                  </a:lnTo>
                  <a:cubicBezTo>
                    <a:pt x="130175" y="0"/>
                    <a:pt x="152400" y="22225"/>
                    <a:pt x="152400" y="49657"/>
                  </a:cubicBezTo>
                  <a:lnTo>
                    <a:pt x="152400" y="3520059"/>
                  </a:lnTo>
                  <a:cubicBezTo>
                    <a:pt x="152400" y="3547491"/>
                    <a:pt x="130175" y="3569716"/>
                    <a:pt x="102743" y="3569716"/>
                  </a:cubicBezTo>
                  <a:lnTo>
                    <a:pt x="49657" y="3569716"/>
                  </a:lnTo>
                  <a:cubicBezTo>
                    <a:pt x="22225" y="3569716"/>
                    <a:pt x="0" y="3547491"/>
                    <a:pt x="0" y="3520059"/>
                  </a:cubicBezTo>
                  <a:close/>
                </a:path>
              </a:pathLst>
            </a:custGeom>
            <a:solidFill>
              <a:srgbClr val="D3C5B6"/>
            </a:solidFill>
          </p:spPr>
        </p:sp>
      </p:grpSp>
      <p:sp>
        <p:nvSpPr>
          <p:cNvPr name="TextBox 19" id="19"/>
          <p:cNvSpPr txBox="true"/>
          <p:nvPr/>
        </p:nvSpPr>
        <p:spPr>
          <a:xfrm rot="0">
            <a:off x="9630223" y="2379764"/>
            <a:ext cx="4139508" cy="397221"/>
          </a:xfrm>
          <a:prstGeom prst="rect">
            <a:avLst/>
          </a:prstGeom>
        </p:spPr>
        <p:txBody>
          <a:bodyPr anchor="t" rtlCol="false" tIns="0" lIns="0" bIns="0" rIns="0">
            <a:spAutoFit/>
          </a:bodyPr>
          <a:lstStyle/>
          <a:p>
            <a:pPr algn="l">
              <a:lnSpc>
                <a:spcPts val="2999"/>
              </a:lnSpc>
            </a:pPr>
            <a:r>
              <a:rPr lang="en-US" sz="2437" b="true">
                <a:solidFill>
                  <a:srgbClr val="746558"/>
                </a:solidFill>
                <a:latin typeface="Arimo Bold"/>
                <a:ea typeface="Arimo Bold"/>
                <a:cs typeface="Arimo Bold"/>
                <a:sym typeface="Arimo Bold"/>
              </a:rPr>
              <a:t>Data Alignment Challenges</a:t>
            </a:r>
          </a:p>
        </p:txBody>
      </p:sp>
      <p:sp>
        <p:nvSpPr>
          <p:cNvPr name="TextBox 20" id="20"/>
          <p:cNvSpPr txBox="true"/>
          <p:nvPr/>
        </p:nvSpPr>
        <p:spPr>
          <a:xfrm rot="0">
            <a:off x="9630223" y="2830563"/>
            <a:ext cx="7389019" cy="1682953"/>
          </a:xfrm>
          <a:prstGeom prst="rect">
            <a:avLst/>
          </a:prstGeom>
        </p:spPr>
        <p:txBody>
          <a:bodyPr anchor="t" rtlCol="false" tIns="0" lIns="0" bIns="0" rIns="0">
            <a:spAutoFit/>
          </a:bodyPr>
          <a:lstStyle/>
          <a:p>
            <a:pPr algn="l">
              <a:lnSpc>
                <a:spcPts val="3125"/>
              </a:lnSpc>
            </a:pPr>
            <a:r>
              <a:rPr lang="en-US" sz="1937">
                <a:solidFill>
                  <a:srgbClr val="746558"/>
                </a:solidFill>
                <a:latin typeface="Arimo"/>
                <a:ea typeface="Arimo"/>
                <a:cs typeface="Arimo"/>
                <a:sym typeface="Arimo"/>
              </a:rPr>
              <a:t>Spatial resolution mismatches between sensors—such as low-resolution thermal versus high-resolution RGB—require sophisticated registration algorithms. Temporal misalignments from asynchronous sensor captures further complicate fusion.</a:t>
            </a:r>
          </a:p>
        </p:txBody>
      </p:sp>
      <p:grpSp>
        <p:nvGrpSpPr>
          <p:cNvPr name="Group 21" id="21"/>
          <p:cNvGrpSpPr/>
          <p:nvPr/>
        </p:nvGrpSpPr>
        <p:grpSpPr>
          <a:xfrm rot="0">
            <a:off x="977951" y="5023695"/>
            <a:ext cx="8056359" cy="2705843"/>
            <a:chOff x="0" y="0"/>
            <a:chExt cx="10741812" cy="3607791"/>
          </a:xfrm>
        </p:grpSpPr>
        <p:sp>
          <p:nvSpPr>
            <p:cNvPr name="Freeform 22" id="22"/>
            <p:cNvSpPr/>
            <p:nvPr/>
          </p:nvSpPr>
          <p:spPr>
            <a:xfrm flipH="false" flipV="false" rot="0">
              <a:off x="19050" y="19050"/>
              <a:ext cx="10703687" cy="3569716"/>
            </a:xfrm>
            <a:custGeom>
              <a:avLst/>
              <a:gdLst/>
              <a:ahLst/>
              <a:cxnLst/>
              <a:rect r="r" b="b" t="t" l="l"/>
              <a:pathLst>
                <a:path h="3569716" w="10703687">
                  <a:moveTo>
                    <a:pt x="0" y="182880"/>
                  </a:moveTo>
                  <a:cubicBezTo>
                    <a:pt x="0" y="81915"/>
                    <a:pt x="82423" y="0"/>
                    <a:pt x="184150" y="0"/>
                  </a:cubicBezTo>
                  <a:lnTo>
                    <a:pt x="10519537" y="0"/>
                  </a:lnTo>
                  <a:cubicBezTo>
                    <a:pt x="10621264" y="0"/>
                    <a:pt x="10703687" y="81915"/>
                    <a:pt x="10703687" y="182880"/>
                  </a:cubicBezTo>
                  <a:lnTo>
                    <a:pt x="10703687" y="3386836"/>
                  </a:lnTo>
                  <a:cubicBezTo>
                    <a:pt x="10703687" y="3487801"/>
                    <a:pt x="10621264" y="3569716"/>
                    <a:pt x="10519537" y="3569716"/>
                  </a:cubicBezTo>
                  <a:lnTo>
                    <a:pt x="184150" y="3569716"/>
                  </a:lnTo>
                  <a:cubicBezTo>
                    <a:pt x="82423" y="3569716"/>
                    <a:pt x="0" y="3487801"/>
                    <a:pt x="0" y="3386836"/>
                  </a:cubicBezTo>
                  <a:close/>
                </a:path>
              </a:pathLst>
            </a:custGeom>
            <a:solidFill>
              <a:srgbClr val="F9F6F0"/>
            </a:solidFill>
          </p:spPr>
        </p:sp>
        <p:sp>
          <p:nvSpPr>
            <p:cNvPr name="Freeform 23" id="23"/>
            <p:cNvSpPr/>
            <p:nvPr/>
          </p:nvSpPr>
          <p:spPr>
            <a:xfrm flipH="false" flipV="false" rot="0">
              <a:off x="0" y="0"/>
              <a:ext cx="10741787" cy="3607816"/>
            </a:xfrm>
            <a:custGeom>
              <a:avLst/>
              <a:gdLst/>
              <a:ahLst/>
              <a:cxnLst/>
              <a:rect r="r" b="b" t="t" l="l"/>
              <a:pathLst>
                <a:path h="3607816" w="10741787">
                  <a:moveTo>
                    <a:pt x="0" y="201930"/>
                  </a:moveTo>
                  <a:cubicBezTo>
                    <a:pt x="0" y="90297"/>
                    <a:pt x="91059" y="0"/>
                    <a:pt x="203200" y="0"/>
                  </a:cubicBezTo>
                  <a:lnTo>
                    <a:pt x="10538587" y="0"/>
                  </a:lnTo>
                  <a:lnTo>
                    <a:pt x="10538587" y="19050"/>
                  </a:lnTo>
                  <a:lnTo>
                    <a:pt x="10538587" y="0"/>
                  </a:lnTo>
                  <a:cubicBezTo>
                    <a:pt x="10650728" y="0"/>
                    <a:pt x="10741787" y="90297"/>
                    <a:pt x="10741787" y="201930"/>
                  </a:cubicBezTo>
                  <a:lnTo>
                    <a:pt x="10722737" y="201930"/>
                  </a:lnTo>
                  <a:lnTo>
                    <a:pt x="10741787" y="201930"/>
                  </a:lnTo>
                  <a:lnTo>
                    <a:pt x="10741787" y="3405886"/>
                  </a:lnTo>
                  <a:lnTo>
                    <a:pt x="10722737" y="3405886"/>
                  </a:lnTo>
                  <a:lnTo>
                    <a:pt x="10741787" y="3405886"/>
                  </a:lnTo>
                  <a:cubicBezTo>
                    <a:pt x="10741787" y="3517519"/>
                    <a:pt x="10650728" y="3607816"/>
                    <a:pt x="10538587" y="3607816"/>
                  </a:cubicBezTo>
                  <a:lnTo>
                    <a:pt x="10538587" y="3588766"/>
                  </a:lnTo>
                  <a:lnTo>
                    <a:pt x="10538587" y="3607816"/>
                  </a:lnTo>
                  <a:lnTo>
                    <a:pt x="203200" y="3607816"/>
                  </a:lnTo>
                  <a:lnTo>
                    <a:pt x="203200" y="3588766"/>
                  </a:lnTo>
                  <a:lnTo>
                    <a:pt x="203200" y="3607816"/>
                  </a:lnTo>
                  <a:cubicBezTo>
                    <a:pt x="91059" y="3607816"/>
                    <a:pt x="0" y="3517519"/>
                    <a:pt x="0" y="3405886"/>
                  </a:cubicBezTo>
                  <a:lnTo>
                    <a:pt x="0" y="201930"/>
                  </a:lnTo>
                  <a:lnTo>
                    <a:pt x="19050" y="201930"/>
                  </a:lnTo>
                  <a:lnTo>
                    <a:pt x="0" y="201930"/>
                  </a:lnTo>
                  <a:moveTo>
                    <a:pt x="38100" y="201930"/>
                  </a:moveTo>
                  <a:lnTo>
                    <a:pt x="38100" y="3405886"/>
                  </a:lnTo>
                  <a:lnTo>
                    <a:pt x="19050" y="3405886"/>
                  </a:lnTo>
                  <a:lnTo>
                    <a:pt x="38100" y="3405886"/>
                  </a:lnTo>
                  <a:cubicBezTo>
                    <a:pt x="38100" y="3496183"/>
                    <a:pt x="111887" y="3569716"/>
                    <a:pt x="203200" y="3569716"/>
                  </a:cubicBezTo>
                  <a:lnTo>
                    <a:pt x="10538587" y="3569716"/>
                  </a:lnTo>
                  <a:cubicBezTo>
                    <a:pt x="10629900" y="3569716"/>
                    <a:pt x="10703687" y="3496183"/>
                    <a:pt x="10703687" y="3405886"/>
                  </a:cubicBezTo>
                  <a:lnTo>
                    <a:pt x="10703687" y="201930"/>
                  </a:lnTo>
                  <a:cubicBezTo>
                    <a:pt x="10703687" y="111633"/>
                    <a:pt x="10629900" y="38100"/>
                    <a:pt x="10538587" y="38100"/>
                  </a:cubicBezTo>
                  <a:lnTo>
                    <a:pt x="203200" y="38100"/>
                  </a:lnTo>
                  <a:lnTo>
                    <a:pt x="203200" y="19050"/>
                  </a:lnTo>
                  <a:lnTo>
                    <a:pt x="203200" y="38100"/>
                  </a:lnTo>
                  <a:cubicBezTo>
                    <a:pt x="111887" y="38100"/>
                    <a:pt x="38100" y="111633"/>
                    <a:pt x="38100" y="201930"/>
                  </a:cubicBezTo>
                  <a:close/>
                </a:path>
              </a:pathLst>
            </a:custGeom>
            <a:solidFill>
              <a:srgbClr val="D3C5B6"/>
            </a:solidFill>
          </p:spPr>
        </p:sp>
      </p:grpSp>
      <p:grpSp>
        <p:nvGrpSpPr>
          <p:cNvPr name="Group 24" id="24"/>
          <p:cNvGrpSpPr/>
          <p:nvPr/>
        </p:nvGrpSpPr>
        <p:grpSpPr>
          <a:xfrm rot="0">
            <a:off x="963663" y="5037982"/>
            <a:ext cx="114300" cy="2677268"/>
            <a:chOff x="0" y="0"/>
            <a:chExt cx="152400" cy="3569691"/>
          </a:xfrm>
        </p:grpSpPr>
        <p:sp>
          <p:nvSpPr>
            <p:cNvPr name="Freeform 25" id="25"/>
            <p:cNvSpPr/>
            <p:nvPr/>
          </p:nvSpPr>
          <p:spPr>
            <a:xfrm flipH="false" flipV="false" rot="0">
              <a:off x="0" y="0"/>
              <a:ext cx="152400" cy="3569716"/>
            </a:xfrm>
            <a:custGeom>
              <a:avLst/>
              <a:gdLst/>
              <a:ahLst/>
              <a:cxnLst/>
              <a:rect r="r" b="b" t="t" l="l"/>
              <a:pathLst>
                <a:path h="3569716" w="152400">
                  <a:moveTo>
                    <a:pt x="0" y="49657"/>
                  </a:moveTo>
                  <a:cubicBezTo>
                    <a:pt x="0" y="22225"/>
                    <a:pt x="22225" y="0"/>
                    <a:pt x="49657" y="0"/>
                  </a:cubicBezTo>
                  <a:lnTo>
                    <a:pt x="102743" y="0"/>
                  </a:lnTo>
                  <a:cubicBezTo>
                    <a:pt x="130175" y="0"/>
                    <a:pt x="152400" y="22225"/>
                    <a:pt x="152400" y="49657"/>
                  </a:cubicBezTo>
                  <a:lnTo>
                    <a:pt x="152400" y="3520059"/>
                  </a:lnTo>
                  <a:cubicBezTo>
                    <a:pt x="152400" y="3547491"/>
                    <a:pt x="130175" y="3569716"/>
                    <a:pt x="102743" y="3569716"/>
                  </a:cubicBezTo>
                  <a:lnTo>
                    <a:pt x="49657" y="3569716"/>
                  </a:lnTo>
                  <a:cubicBezTo>
                    <a:pt x="22225" y="3569716"/>
                    <a:pt x="0" y="3547491"/>
                    <a:pt x="0" y="3520059"/>
                  </a:cubicBezTo>
                  <a:close/>
                </a:path>
              </a:pathLst>
            </a:custGeom>
            <a:solidFill>
              <a:srgbClr val="D3C5B6"/>
            </a:solidFill>
          </p:spPr>
        </p:sp>
      </p:grpSp>
      <p:sp>
        <p:nvSpPr>
          <p:cNvPr name="TextBox 26" id="26"/>
          <p:cNvSpPr txBox="true"/>
          <p:nvPr/>
        </p:nvSpPr>
        <p:spPr>
          <a:xfrm rot="0">
            <a:off x="1354484" y="5304977"/>
            <a:ext cx="4437907" cy="397221"/>
          </a:xfrm>
          <a:prstGeom prst="rect">
            <a:avLst/>
          </a:prstGeom>
        </p:spPr>
        <p:txBody>
          <a:bodyPr anchor="t" rtlCol="false" tIns="0" lIns="0" bIns="0" rIns="0">
            <a:spAutoFit/>
          </a:bodyPr>
          <a:lstStyle/>
          <a:p>
            <a:pPr algn="l">
              <a:lnSpc>
                <a:spcPts val="2999"/>
              </a:lnSpc>
            </a:pPr>
            <a:r>
              <a:rPr lang="en-US" sz="2437" b="true">
                <a:solidFill>
                  <a:srgbClr val="746558"/>
                </a:solidFill>
                <a:latin typeface="Arimo Bold"/>
                <a:ea typeface="Arimo Bold"/>
                <a:cs typeface="Arimo Bold"/>
                <a:sym typeface="Arimo Bold"/>
              </a:rPr>
              <a:t>Limited Benchmark Datasets</a:t>
            </a:r>
          </a:p>
        </p:txBody>
      </p:sp>
      <p:sp>
        <p:nvSpPr>
          <p:cNvPr name="TextBox 27" id="27"/>
          <p:cNvSpPr txBox="true"/>
          <p:nvPr/>
        </p:nvSpPr>
        <p:spPr>
          <a:xfrm rot="0">
            <a:off x="1354484" y="5755777"/>
            <a:ext cx="7389019" cy="1682953"/>
          </a:xfrm>
          <a:prstGeom prst="rect">
            <a:avLst/>
          </a:prstGeom>
        </p:spPr>
        <p:txBody>
          <a:bodyPr anchor="t" rtlCol="false" tIns="0" lIns="0" bIns="0" rIns="0">
            <a:spAutoFit/>
          </a:bodyPr>
          <a:lstStyle/>
          <a:p>
            <a:pPr algn="l">
              <a:lnSpc>
                <a:spcPts val="3125"/>
              </a:lnSpc>
            </a:pPr>
            <a:r>
              <a:rPr lang="en-US" sz="1937">
                <a:solidFill>
                  <a:srgbClr val="746558"/>
                </a:solidFill>
                <a:latin typeface="Arimo"/>
                <a:ea typeface="Arimo"/>
                <a:cs typeface="Arimo"/>
                <a:sym typeface="Arimo"/>
              </a:rPr>
              <a:t>Few publicly available multimodal agricultural datasets hinder fair algorithm comparison. Each research group curates proprietary datasets with different crop species, disease types, and sensor configurations, preventing validation of published results.</a:t>
            </a:r>
          </a:p>
        </p:txBody>
      </p:sp>
      <p:grpSp>
        <p:nvGrpSpPr>
          <p:cNvPr name="Group 28" id="28"/>
          <p:cNvGrpSpPr/>
          <p:nvPr/>
        </p:nvGrpSpPr>
        <p:grpSpPr>
          <a:xfrm rot="0">
            <a:off x="9253690" y="5023695"/>
            <a:ext cx="8056359" cy="2705843"/>
            <a:chOff x="0" y="0"/>
            <a:chExt cx="10741812" cy="3607791"/>
          </a:xfrm>
        </p:grpSpPr>
        <p:sp>
          <p:nvSpPr>
            <p:cNvPr name="Freeform 29" id="29"/>
            <p:cNvSpPr/>
            <p:nvPr/>
          </p:nvSpPr>
          <p:spPr>
            <a:xfrm flipH="false" flipV="false" rot="0">
              <a:off x="19050" y="19050"/>
              <a:ext cx="10703687" cy="3569716"/>
            </a:xfrm>
            <a:custGeom>
              <a:avLst/>
              <a:gdLst/>
              <a:ahLst/>
              <a:cxnLst/>
              <a:rect r="r" b="b" t="t" l="l"/>
              <a:pathLst>
                <a:path h="3569716" w="10703687">
                  <a:moveTo>
                    <a:pt x="0" y="182880"/>
                  </a:moveTo>
                  <a:cubicBezTo>
                    <a:pt x="0" y="81915"/>
                    <a:pt x="82423" y="0"/>
                    <a:pt x="184150" y="0"/>
                  </a:cubicBezTo>
                  <a:lnTo>
                    <a:pt x="10519537" y="0"/>
                  </a:lnTo>
                  <a:cubicBezTo>
                    <a:pt x="10621264" y="0"/>
                    <a:pt x="10703687" y="81915"/>
                    <a:pt x="10703687" y="182880"/>
                  </a:cubicBezTo>
                  <a:lnTo>
                    <a:pt x="10703687" y="3386836"/>
                  </a:lnTo>
                  <a:cubicBezTo>
                    <a:pt x="10703687" y="3487801"/>
                    <a:pt x="10621264" y="3569716"/>
                    <a:pt x="10519537" y="3569716"/>
                  </a:cubicBezTo>
                  <a:lnTo>
                    <a:pt x="184150" y="3569716"/>
                  </a:lnTo>
                  <a:cubicBezTo>
                    <a:pt x="82423" y="3569716"/>
                    <a:pt x="0" y="3487801"/>
                    <a:pt x="0" y="3386836"/>
                  </a:cubicBezTo>
                  <a:close/>
                </a:path>
              </a:pathLst>
            </a:custGeom>
            <a:solidFill>
              <a:srgbClr val="F9F6F0"/>
            </a:solidFill>
          </p:spPr>
        </p:sp>
        <p:sp>
          <p:nvSpPr>
            <p:cNvPr name="Freeform 30" id="30"/>
            <p:cNvSpPr/>
            <p:nvPr/>
          </p:nvSpPr>
          <p:spPr>
            <a:xfrm flipH="false" flipV="false" rot="0">
              <a:off x="0" y="0"/>
              <a:ext cx="10741787" cy="3607816"/>
            </a:xfrm>
            <a:custGeom>
              <a:avLst/>
              <a:gdLst/>
              <a:ahLst/>
              <a:cxnLst/>
              <a:rect r="r" b="b" t="t" l="l"/>
              <a:pathLst>
                <a:path h="3607816" w="10741787">
                  <a:moveTo>
                    <a:pt x="0" y="201930"/>
                  </a:moveTo>
                  <a:cubicBezTo>
                    <a:pt x="0" y="90297"/>
                    <a:pt x="91059" y="0"/>
                    <a:pt x="203200" y="0"/>
                  </a:cubicBezTo>
                  <a:lnTo>
                    <a:pt x="10538587" y="0"/>
                  </a:lnTo>
                  <a:lnTo>
                    <a:pt x="10538587" y="19050"/>
                  </a:lnTo>
                  <a:lnTo>
                    <a:pt x="10538587" y="0"/>
                  </a:lnTo>
                  <a:cubicBezTo>
                    <a:pt x="10650728" y="0"/>
                    <a:pt x="10741787" y="90297"/>
                    <a:pt x="10741787" y="201930"/>
                  </a:cubicBezTo>
                  <a:lnTo>
                    <a:pt x="10722737" y="201930"/>
                  </a:lnTo>
                  <a:lnTo>
                    <a:pt x="10741787" y="201930"/>
                  </a:lnTo>
                  <a:lnTo>
                    <a:pt x="10741787" y="3405886"/>
                  </a:lnTo>
                  <a:lnTo>
                    <a:pt x="10722737" y="3405886"/>
                  </a:lnTo>
                  <a:lnTo>
                    <a:pt x="10741787" y="3405886"/>
                  </a:lnTo>
                  <a:cubicBezTo>
                    <a:pt x="10741787" y="3517519"/>
                    <a:pt x="10650728" y="3607816"/>
                    <a:pt x="10538587" y="3607816"/>
                  </a:cubicBezTo>
                  <a:lnTo>
                    <a:pt x="10538587" y="3588766"/>
                  </a:lnTo>
                  <a:lnTo>
                    <a:pt x="10538587" y="3607816"/>
                  </a:lnTo>
                  <a:lnTo>
                    <a:pt x="203200" y="3607816"/>
                  </a:lnTo>
                  <a:lnTo>
                    <a:pt x="203200" y="3588766"/>
                  </a:lnTo>
                  <a:lnTo>
                    <a:pt x="203200" y="3607816"/>
                  </a:lnTo>
                  <a:cubicBezTo>
                    <a:pt x="91059" y="3607816"/>
                    <a:pt x="0" y="3517519"/>
                    <a:pt x="0" y="3405886"/>
                  </a:cubicBezTo>
                  <a:lnTo>
                    <a:pt x="0" y="201930"/>
                  </a:lnTo>
                  <a:lnTo>
                    <a:pt x="19050" y="201930"/>
                  </a:lnTo>
                  <a:lnTo>
                    <a:pt x="0" y="201930"/>
                  </a:lnTo>
                  <a:moveTo>
                    <a:pt x="38100" y="201930"/>
                  </a:moveTo>
                  <a:lnTo>
                    <a:pt x="38100" y="3405886"/>
                  </a:lnTo>
                  <a:lnTo>
                    <a:pt x="19050" y="3405886"/>
                  </a:lnTo>
                  <a:lnTo>
                    <a:pt x="38100" y="3405886"/>
                  </a:lnTo>
                  <a:cubicBezTo>
                    <a:pt x="38100" y="3496183"/>
                    <a:pt x="111887" y="3569716"/>
                    <a:pt x="203200" y="3569716"/>
                  </a:cubicBezTo>
                  <a:lnTo>
                    <a:pt x="10538587" y="3569716"/>
                  </a:lnTo>
                  <a:cubicBezTo>
                    <a:pt x="10629900" y="3569716"/>
                    <a:pt x="10703687" y="3496183"/>
                    <a:pt x="10703687" y="3405886"/>
                  </a:cubicBezTo>
                  <a:lnTo>
                    <a:pt x="10703687" y="201930"/>
                  </a:lnTo>
                  <a:cubicBezTo>
                    <a:pt x="10703687" y="111633"/>
                    <a:pt x="10629900" y="38100"/>
                    <a:pt x="10538587" y="38100"/>
                  </a:cubicBezTo>
                  <a:lnTo>
                    <a:pt x="203200" y="38100"/>
                  </a:lnTo>
                  <a:lnTo>
                    <a:pt x="203200" y="19050"/>
                  </a:lnTo>
                  <a:lnTo>
                    <a:pt x="203200" y="38100"/>
                  </a:lnTo>
                  <a:cubicBezTo>
                    <a:pt x="111887" y="38100"/>
                    <a:pt x="38100" y="111633"/>
                    <a:pt x="38100" y="201930"/>
                  </a:cubicBezTo>
                  <a:close/>
                </a:path>
              </a:pathLst>
            </a:custGeom>
            <a:solidFill>
              <a:srgbClr val="D3C5B6"/>
            </a:solidFill>
          </p:spPr>
        </p:sp>
      </p:grpSp>
      <p:grpSp>
        <p:nvGrpSpPr>
          <p:cNvPr name="Group 31" id="31"/>
          <p:cNvGrpSpPr/>
          <p:nvPr/>
        </p:nvGrpSpPr>
        <p:grpSpPr>
          <a:xfrm rot="0">
            <a:off x="9239402" y="5037982"/>
            <a:ext cx="114300" cy="2677268"/>
            <a:chOff x="0" y="0"/>
            <a:chExt cx="152400" cy="3569691"/>
          </a:xfrm>
        </p:grpSpPr>
        <p:sp>
          <p:nvSpPr>
            <p:cNvPr name="Freeform 32" id="32"/>
            <p:cNvSpPr/>
            <p:nvPr/>
          </p:nvSpPr>
          <p:spPr>
            <a:xfrm flipH="false" flipV="false" rot="0">
              <a:off x="0" y="0"/>
              <a:ext cx="152400" cy="3569716"/>
            </a:xfrm>
            <a:custGeom>
              <a:avLst/>
              <a:gdLst/>
              <a:ahLst/>
              <a:cxnLst/>
              <a:rect r="r" b="b" t="t" l="l"/>
              <a:pathLst>
                <a:path h="3569716" w="152400">
                  <a:moveTo>
                    <a:pt x="0" y="49657"/>
                  </a:moveTo>
                  <a:cubicBezTo>
                    <a:pt x="0" y="22225"/>
                    <a:pt x="22225" y="0"/>
                    <a:pt x="49657" y="0"/>
                  </a:cubicBezTo>
                  <a:lnTo>
                    <a:pt x="102743" y="0"/>
                  </a:lnTo>
                  <a:cubicBezTo>
                    <a:pt x="130175" y="0"/>
                    <a:pt x="152400" y="22225"/>
                    <a:pt x="152400" y="49657"/>
                  </a:cubicBezTo>
                  <a:lnTo>
                    <a:pt x="152400" y="3520059"/>
                  </a:lnTo>
                  <a:cubicBezTo>
                    <a:pt x="152400" y="3547491"/>
                    <a:pt x="130175" y="3569716"/>
                    <a:pt x="102743" y="3569716"/>
                  </a:cubicBezTo>
                  <a:lnTo>
                    <a:pt x="49657" y="3569716"/>
                  </a:lnTo>
                  <a:cubicBezTo>
                    <a:pt x="22225" y="3569716"/>
                    <a:pt x="0" y="3547491"/>
                    <a:pt x="0" y="3520059"/>
                  </a:cubicBezTo>
                  <a:close/>
                </a:path>
              </a:pathLst>
            </a:custGeom>
            <a:solidFill>
              <a:srgbClr val="D3C5B6"/>
            </a:solidFill>
          </p:spPr>
        </p:sp>
      </p:grpSp>
      <p:sp>
        <p:nvSpPr>
          <p:cNvPr name="TextBox 33" id="33"/>
          <p:cNvSpPr txBox="true"/>
          <p:nvPr/>
        </p:nvSpPr>
        <p:spPr>
          <a:xfrm rot="0">
            <a:off x="9630223" y="5304977"/>
            <a:ext cx="3101130" cy="397221"/>
          </a:xfrm>
          <a:prstGeom prst="rect">
            <a:avLst/>
          </a:prstGeom>
        </p:spPr>
        <p:txBody>
          <a:bodyPr anchor="t" rtlCol="false" tIns="0" lIns="0" bIns="0" rIns="0">
            <a:spAutoFit/>
          </a:bodyPr>
          <a:lstStyle/>
          <a:p>
            <a:pPr algn="l">
              <a:lnSpc>
                <a:spcPts val="2999"/>
              </a:lnSpc>
            </a:pPr>
            <a:r>
              <a:rPr lang="en-US" sz="2437" b="true">
                <a:solidFill>
                  <a:srgbClr val="746558"/>
                </a:solidFill>
                <a:latin typeface="Arimo Bold"/>
                <a:ea typeface="Arimo Bold"/>
                <a:cs typeface="Arimo Bold"/>
                <a:sym typeface="Arimo Bold"/>
              </a:rPr>
              <a:t>False Positive Rates</a:t>
            </a:r>
          </a:p>
        </p:txBody>
      </p:sp>
      <p:sp>
        <p:nvSpPr>
          <p:cNvPr name="TextBox 34" id="34"/>
          <p:cNvSpPr txBox="true"/>
          <p:nvPr/>
        </p:nvSpPr>
        <p:spPr>
          <a:xfrm rot="0">
            <a:off x="9630223" y="5755777"/>
            <a:ext cx="7389019" cy="1682953"/>
          </a:xfrm>
          <a:prstGeom prst="rect">
            <a:avLst/>
          </a:prstGeom>
        </p:spPr>
        <p:txBody>
          <a:bodyPr anchor="t" rtlCol="false" tIns="0" lIns="0" bIns="0" rIns="0">
            <a:spAutoFit/>
          </a:bodyPr>
          <a:lstStyle/>
          <a:p>
            <a:pPr algn="l">
              <a:lnSpc>
                <a:spcPts val="3125"/>
              </a:lnSpc>
            </a:pPr>
            <a:r>
              <a:rPr lang="en-US" sz="1937">
                <a:solidFill>
                  <a:srgbClr val="746558"/>
                </a:solidFill>
                <a:latin typeface="Arimo"/>
                <a:ea typeface="Arimo"/>
                <a:cs typeface="Arimo"/>
                <a:sym typeface="Arimo"/>
              </a:rPr>
              <a:t>Environmental artifacts—water droplets, dust, overlapping leaves—trigger false alarms in single-sensor systems. Multimodal fusion aims to suppress these errors but requires balanced training data with sufficient negative examples.</a:t>
            </a:r>
          </a:p>
        </p:txBody>
      </p:sp>
      <p:grpSp>
        <p:nvGrpSpPr>
          <p:cNvPr name="Group 35" id="35"/>
          <p:cNvGrpSpPr/>
          <p:nvPr/>
        </p:nvGrpSpPr>
        <p:grpSpPr>
          <a:xfrm rot="0">
            <a:off x="992238" y="7994304"/>
            <a:ext cx="16303523" cy="1450924"/>
            <a:chOff x="0" y="0"/>
            <a:chExt cx="21738031" cy="1934566"/>
          </a:xfrm>
        </p:grpSpPr>
        <p:sp>
          <p:nvSpPr>
            <p:cNvPr name="Freeform 36" id="36"/>
            <p:cNvSpPr/>
            <p:nvPr/>
          </p:nvSpPr>
          <p:spPr>
            <a:xfrm flipH="false" flipV="false" rot="0">
              <a:off x="0" y="0"/>
              <a:ext cx="21738082" cy="1934591"/>
            </a:xfrm>
            <a:custGeom>
              <a:avLst/>
              <a:gdLst/>
              <a:ahLst/>
              <a:cxnLst/>
              <a:rect r="r" b="b" t="t" l="l"/>
              <a:pathLst>
                <a:path h="1934591" w="21738082">
                  <a:moveTo>
                    <a:pt x="0" y="49657"/>
                  </a:moveTo>
                  <a:cubicBezTo>
                    <a:pt x="0" y="22225"/>
                    <a:pt x="22225" y="0"/>
                    <a:pt x="49657" y="0"/>
                  </a:cubicBezTo>
                  <a:lnTo>
                    <a:pt x="21688425" y="0"/>
                  </a:lnTo>
                  <a:cubicBezTo>
                    <a:pt x="21715857" y="0"/>
                    <a:pt x="21738082" y="22225"/>
                    <a:pt x="21738082" y="49657"/>
                  </a:cubicBezTo>
                  <a:lnTo>
                    <a:pt x="21738082" y="1884934"/>
                  </a:lnTo>
                  <a:cubicBezTo>
                    <a:pt x="21738082" y="1912366"/>
                    <a:pt x="21715857" y="1934591"/>
                    <a:pt x="21688425" y="1934591"/>
                  </a:cubicBezTo>
                  <a:lnTo>
                    <a:pt x="49657" y="1934591"/>
                  </a:lnTo>
                  <a:cubicBezTo>
                    <a:pt x="22225" y="1934591"/>
                    <a:pt x="0" y="1912366"/>
                    <a:pt x="0" y="1884934"/>
                  </a:cubicBezTo>
                  <a:close/>
                </a:path>
              </a:pathLst>
            </a:custGeom>
            <a:solidFill>
              <a:srgbClr val="E2D9CF"/>
            </a:solidFill>
          </p:spPr>
        </p:sp>
      </p:grpSp>
      <p:grpSp>
        <p:nvGrpSpPr>
          <p:cNvPr name="Group 37" id="37"/>
          <p:cNvGrpSpPr/>
          <p:nvPr/>
        </p:nvGrpSpPr>
        <p:grpSpPr>
          <a:xfrm rot="0">
            <a:off x="1240184" y="8353873"/>
            <a:ext cx="310010" cy="247945"/>
            <a:chOff x="0" y="0"/>
            <a:chExt cx="413347" cy="330594"/>
          </a:xfrm>
        </p:grpSpPr>
        <p:sp>
          <p:nvSpPr>
            <p:cNvPr name="Freeform 38" id="38" descr="preencoded.png"/>
            <p:cNvSpPr/>
            <p:nvPr/>
          </p:nvSpPr>
          <p:spPr>
            <a:xfrm flipH="false" flipV="false" rot="0">
              <a:off x="0" y="0"/>
              <a:ext cx="413385" cy="330581"/>
            </a:xfrm>
            <a:custGeom>
              <a:avLst/>
              <a:gdLst/>
              <a:ahLst/>
              <a:cxnLst/>
              <a:rect r="r" b="b" t="t" l="l"/>
              <a:pathLst>
                <a:path h="330581" w="413385">
                  <a:moveTo>
                    <a:pt x="0" y="0"/>
                  </a:moveTo>
                  <a:lnTo>
                    <a:pt x="413385" y="0"/>
                  </a:lnTo>
                  <a:lnTo>
                    <a:pt x="413385" y="330581"/>
                  </a:lnTo>
                  <a:lnTo>
                    <a:pt x="0" y="330581"/>
                  </a:lnTo>
                  <a:lnTo>
                    <a:pt x="0" y="0"/>
                  </a:lnTo>
                  <a:close/>
                </a:path>
              </a:pathLst>
            </a:custGeom>
            <a:blipFill>
              <a:blip r:embed="rId3"/>
              <a:stretch>
                <a:fillRect l="-755" t="0" r="-749" b="-3"/>
              </a:stretch>
            </a:blipFill>
          </p:spPr>
        </p:sp>
      </p:grpSp>
      <p:sp>
        <p:nvSpPr>
          <p:cNvPr name="TextBox 39" id="39"/>
          <p:cNvSpPr txBox="true"/>
          <p:nvPr/>
        </p:nvSpPr>
        <p:spPr>
          <a:xfrm rot="0">
            <a:off x="1798139" y="8208912"/>
            <a:ext cx="15249677" cy="889102"/>
          </a:xfrm>
          <a:prstGeom prst="rect">
            <a:avLst/>
          </a:prstGeom>
        </p:spPr>
        <p:txBody>
          <a:bodyPr anchor="t" rtlCol="false" tIns="0" lIns="0" bIns="0" rIns="0">
            <a:spAutoFit/>
          </a:bodyPr>
          <a:lstStyle/>
          <a:p>
            <a:pPr algn="l">
              <a:lnSpc>
                <a:spcPts val="3125"/>
              </a:lnSpc>
            </a:pPr>
            <a:r>
              <a:rPr lang="en-US" sz="1937" b="true">
                <a:solidFill>
                  <a:srgbClr val="000000"/>
                </a:solidFill>
                <a:latin typeface="Arimo Bold"/>
                <a:ea typeface="Arimo Bold"/>
                <a:cs typeface="Arimo Bold"/>
                <a:sym typeface="Arimo Bold"/>
              </a:rPr>
              <a:t>Critical Research Gap:</a:t>
            </a:r>
            <a:r>
              <a:rPr lang="en-US" sz="1937">
                <a:solidFill>
                  <a:srgbClr val="000000"/>
                </a:solidFill>
                <a:latin typeface="Arimo"/>
                <a:ea typeface="Arimo"/>
                <a:cs typeface="Arimo"/>
                <a:sym typeface="Arimo"/>
              </a:rPr>
              <a:t> The field lacks standardized evaluation frameworks for determining which fusion strategy—early, intermediate, late, or hybrid—performs optimally across diverse agricultural conditions without requiring exhaustive case-by-case experimentation.</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solidFill>
          </p:spPr>
        </p:sp>
      </p:grpSp>
      <p:sp>
        <p:nvSpPr>
          <p:cNvPr name="TextBox 6" id="6"/>
          <p:cNvSpPr txBox="true"/>
          <p:nvPr/>
        </p:nvSpPr>
        <p:spPr>
          <a:xfrm rot="0">
            <a:off x="992238" y="1474441"/>
            <a:ext cx="9364713" cy="813197"/>
          </a:xfrm>
          <a:prstGeom prst="rect">
            <a:avLst/>
          </a:prstGeom>
        </p:spPr>
        <p:txBody>
          <a:bodyPr anchor="t" rtlCol="false" tIns="0" lIns="0" bIns="0" rIns="0">
            <a:spAutoFit/>
          </a:bodyPr>
          <a:lstStyle/>
          <a:p>
            <a:pPr algn="l">
              <a:lnSpc>
                <a:spcPts val="6062"/>
              </a:lnSpc>
            </a:pPr>
            <a:r>
              <a:rPr lang="en-US" sz="4875" b="true">
                <a:solidFill>
                  <a:srgbClr val="484237"/>
                </a:solidFill>
                <a:latin typeface="Arimo Bold"/>
                <a:ea typeface="Arimo Bold"/>
                <a:cs typeface="Arimo Bold"/>
                <a:sym typeface="Arimo Bold"/>
              </a:rPr>
              <a:t>Proposed Solution Framework</a:t>
            </a:r>
          </a:p>
        </p:txBody>
      </p:sp>
      <p:sp>
        <p:nvSpPr>
          <p:cNvPr name="TextBox 7" id="7"/>
          <p:cNvSpPr txBox="true"/>
          <p:nvPr/>
        </p:nvSpPr>
        <p:spPr>
          <a:xfrm rot="0">
            <a:off x="992238" y="2358180"/>
            <a:ext cx="9005735" cy="493662"/>
          </a:xfrm>
          <a:prstGeom prst="rect">
            <a:avLst/>
          </a:prstGeom>
        </p:spPr>
        <p:txBody>
          <a:bodyPr anchor="t" rtlCol="false" tIns="0" lIns="0" bIns="0" rIns="0">
            <a:spAutoFit/>
          </a:bodyPr>
          <a:lstStyle/>
          <a:p>
            <a:pPr algn="l">
              <a:lnSpc>
                <a:spcPts val="3625"/>
              </a:lnSpc>
            </a:pPr>
            <a:r>
              <a:rPr lang="en-US" sz="2874" b="true">
                <a:solidFill>
                  <a:srgbClr val="484237"/>
                </a:solidFill>
                <a:latin typeface="Arimo Bold"/>
                <a:ea typeface="Arimo Bold"/>
                <a:cs typeface="Arimo Bold"/>
                <a:sym typeface="Arimo Bold"/>
              </a:rPr>
              <a:t>Systematic Comparative Evaluation Methodology</a:t>
            </a:r>
          </a:p>
        </p:txBody>
      </p:sp>
      <p:sp>
        <p:nvSpPr>
          <p:cNvPr name="TextBox 8" id="8"/>
          <p:cNvSpPr txBox="true"/>
          <p:nvPr/>
        </p:nvSpPr>
        <p:spPr>
          <a:xfrm rot="0">
            <a:off x="992238" y="3128667"/>
            <a:ext cx="16303523" cy="1286027"/>
          </a:xfrm>
          <a:prstGeom prst="rect">
            <a:avLst/>
          </a:prstGeom>
        </p:spPr>
        <p:txBody>
          <a:bodyPr anchor="t" rtlCol="false" tIns="0" lIns="0" bIns="0" rIns="0">
            <a:spAutoFit/>
          </a:bodyPr>
          <a:lstStyle/>
          <a:p>
            <a:pPr algn="l">
              <a:lnSpc>
                <a:spcPts val="3125"/>
              </a:lnSpc>
            </a:pPr>
            <a:r>
              <a:rPr lang="en-US" sz="1937">
                <a:solidFill>
                  <a:srgbClr val="746558"/>
                </a:solidFill>
                <a:latin typeface="Arimo"/>
                <a:ea typeface="Arimo"/>
                <a:cs typeface="Arimo"/>
                <a:sym typeface="Arimo"/>
              </a:rPr>
              <a:t>The proposed framework establishes controlled experiments comparing Early, Intermediate, Late, and Hybrid fusion strategies using consistent architectures, training hyperparameters, and benchmark datasets. Each fusion level receives identical computational budgets and data pre-processing pipelines, ensuring fair performance attribution.</a:t>
            </a:r>
          </a:p>
        </p:txBody>
      </p:sp>
      <p:sp>
        <p:nvSpPr>
          <p:cNvPr name="TextBox 9" id="9"/>
          <p:cNvSpPr txBox="true"/>
          <p:nvPr/>
        </p:nvSpPr>
        <p:spPr>
          <a:xfrm rot="0">
            <a:off x="992238" y="4598489"/>
            <a:ext cx="16303523" cy="492176"/>
          </a:xfrm>
          <a:prstGeom prst="rect">
            <a:avLst/>
          </a:prstGeom>
        </p:spPr>
        <p:txBody>
          <a:bodyPr anchor="t" rtlCol="false" tIns="0" lIns="0" bIns="0" rIns="0">
            <a:spAutoFit/>
          </a:bodyPr>
          <a:lstStyle/>
          <a:p>
            <a:pPr algn="l">
              <a:lnSpc>
                <a:spcPts val="3125"/>
              </a:lnSpc>
            </a:pPr>
            <a:r>
              <a:rPr lang="en-US" sz="1937">
                <a:solidFill>
                  <a:srgbClr val="746558"/>
                </a:solidFill>
                <a:latin typeface="Arimo"/>
                <a:ea typeface="Arimo"/>
                <a:cs typeface="Arimo"/>
                <a:sym typeface="Arimo"/>
              </a:rPr>
              <a:t>Key innovations include:</a:t>
            </a:r>
          </a:p>
        </p:txBody>
      </p:sp>
      <p:sp>
        <p:nvSpPr>
          <p:cNvPr name="TextBox 10" id="10"/>
          <p:cNvSpPr txBox="true"/>
          <p:nvPr/>
        </p:nvSpPr>
        <p:spPr>
          <a:xfrm rot="0">
            <a:off x="992238" y="5274469"/>
            <a:ext cx="16303523" cy="2426941"/>
          </a:xfrm>
          <a:prstGeom prst="rect">
            <a:avLst/>
          </a:prstGeom>
        </p:spPr>
        <p:txBody>
          <a:bodyPr anchor="t" rtlCol="false" tIns="0" lIns="0" bIns="0" rIns="0">
            <a:spAutoFit/>
          </a:bodyPr>
          <a:lstStyle/>
          <a:p>
            <a:pPr algn="l" marL="292199" indent="-146100" lvl="1">
              <a:lnSpc>
                <a:spcPts val="3125"/>
              </a:lnSpc>
              <a:buFont typeface="Arial"/>
              <a:buChar char="•"/>
            </a:pPr>
            <a:r>
              <a:rPr lang="en-US" sz="1937">
                <a:solidFill>
                  <a:srgbClr val="746558"/>
                </a:solidFill>
                <a:latin typeface="Arimo"/>
                <a:ea typeface="Arimo"/>
                <a:cs typeface="Arimo"/>
                <a:sym typeface="Arimo"/>
              </a:rPr>
              <a:t>Unified feature extractor backbones (ResNet-50, ViT-Base) for controlled architecture comparison</a:t>
            </a:r>
          </a:p>
          <a:p>
            <a:pPr algn="l" marL="292199" indent="-146100" lvl="1">
              <a:lnSpc>
                <a:spcPts val="3125"/>
              </a:lnSpc>
              <a:buFont typeface="Arial"/>
              <a:buChar char="•"/>
            </a:pPr>
            <a:r>
              <a:rPr lang="en-US" sz="1937">
                <a:solidFill>
                  <a:srgbClr val="746558"/>
                </a:solidFill>
                <a:latin typeface="Arimo"/>
                <a:ea typeface="Arimo"/>
                <a:cs typeface="Arimo"/>
                <a:sym typeface="Arimo"/>
              </a:rPr>
              <a:t>Multi-stage ablation studies isolating fusion module contributions from base network capacity</a:t>
            </a:r>
          </a:p>
          <a:p>
            <a:pPr algn="l" marL="292199" indent="-146100" lvl="1">
              <a:lnSpc>
                <a:spcPts val="3125"/>
              </a:lnSpc>
              <a:buFont typeface="Arial"/>
              <a:buChar char="•"/>
            </a:pPr>
            <a:r>
              <a:rPr lang="en-US" sz="1937">
                <a:solidFill>
                  <a:srgbClr val="746558"/>
                </a:solidFill>
                <a:latin typeface="Arimo"/>
                <a:ea typeface="Arimo"/>
                <a:cs typeface="Arimo"/>
                <a:sym typeface="Arimo"/>
              </a:rPr>
              <a:t>Cross-validation across multiple crop species (tomato, wheat, potato) to assess generalization</a:t>
            </a:r>
          </a:p>
          <a:p>
            <a:pPr algn="l" marL="292199" indent="-146100" lvl="1">
              <a:lnSpc>
                <a:spcPts val="3125"/>
              </a:lnSpc>
              <a:buFont typeface="Arial"/>
              <a:buChar char="•"/>
            </a:pPr>
            <a:r>
              <a:rPr lang="en-US" sz="1937">
                <a:solidFill>
                  <a:srgbClr val="746558"/>
                </a:solidFill>
                <a:latin typeface="Arimo"/>
                <a:ea typeface="Arimo"/>
                <a:cs typeface="Arimo"/>
                <a:sym typeface="Arimo"/>
              </a:rPr>
              <a:t>Comprehensive metric suite measuring accuracy, precision, recall, F1-score, and mAP</a:t>
            </a:r>
          </a:p>
          <a:p>
            <a:pPr algn="l" marL="292199" indent="-146100" lvl="1">
              <a:lnSpc>
                <a:spcPts val="3125"/>
              </a:lnSpc>
              <a:buFont typeface="Arial"/>
              <a:buChar char="•"/>
            </a:pPr>
            <a:r>
              <a:rPr lang="en-US" sz="1937">
                <a:solidFill>
                  <a:srgbClr val="746558"/>
                </a:solidFill>
                <a:latin typeface="Arimo"/>
                <a:ea typeface="Arimo"/>
                <a:cs typeface="Arimo"/>
                <a:sym typeface="Arimo"/>
              </a:rPr>
              <a:t>Latency and inference speed profiling for real-time deployment feasibility</a:t>
            </a:r>
          </a:p>
        </p:txBody>
      </p:sp>
      <p:sp>
        <p:nvSpPr>
          <p:cNvPr name="TextBox 11" id="11"/>
          <p:cNvSpPr txBox="true"/>
          <p:nvPr/>
        </p:nvSpPr>
        <p:spPr>
          <a:xfrm rot="0">
            <a:off x="992238" y="7885214"/>
            <a:ext cx="16303523" cy="889102"/>
          </a:xfrm>
          <a:prstGeom prst="rect">
            <a:avLst/>
          </a:prstGeom>
        </p:spPr>
        <p:txBody>
          <a:bodyPr anchor="t" rtlCol="false" tIns="0" lIns="0" bIns="0" rIns="0">
            <a:spAutoFit/>
          </a:bodyPr>
          <a:lstStyle/>
          <a:p>
            <a:pPr algn="l">
              <a:lnSpc>
                <a:spcPts val="3125"/>
              </a:lnSpc>
            </a:pPr>
            <a:r>
              <a:rPr lang="en-US" sz="1937">
                <a:solidFill>
                  <a:srgbClr val="746558"/>
                </a:solidFill>
                <a:latin typeface="Arimo"/>
                <a:ea typeface="Arimo"/>
                <a:cs typeface="Arimo"/>
                <a:sym typeface="Arimo"/>
              </a:rPr>
              <a:t>This framework addresses the </a:t>
            </a:r>
            <a:r>
              <a:rPr lang="en-US" sz="1937" b="true">
                <a:solidFill>
                  <a:srgbClr val="746558"/>
                </a:solidFill>
                <a:latin typeface="Arimo Bold"/>
                <a:ea typeface="Arimo Bold"/>
                <a:cs typeface="Arimo Bold"/>
                <a:sym typeface="Arimo Bold"/>
              </a:rPr>
              <a:t>benchmark problem</a:t>
            </a:r>
            <a:r>
              <a:rPr lang="en-US" sz="1937">
                <a:solidFill>
                  <a:srgbClr val="746558"/>
                </a:solidFill>
                <a:latin typeface="Arimo"/>
                <a:ea typeface="Arimo"/>
                <a:cs typeface="Arimo"/>
                <a:sym typeface="Arimo"/>
              </a:rPr>
              <a:t> by providing reproducible evaluation protocols and advocating for standardized multimodal datasets with aligned sensor captures across diverse agricultural scenarios.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solidFill>
          </p:spPr>
        </p:sp>
      </p:grpSp>
      <p:sp>
        <p:nvSpPr>
          <p:cNvPr name="TextBox 6" id="6"/>
          <p:cNvSpPr txBox="true"/>
          <p:nvPr/>
        </p:nvSpPr>
        <p:spPr>
          <a:xfrm rot="0">
            <a:off x="976903" y="654101"/>
            <a:ext cx="6106116" cy="810816"/>
          </a:xfrm>
          <a:prstGeom prst="rect">
            <a:avLst/>
          </a:prstGeom>
        </p:spPr>
        <p:txBody>
          <a:bodyPr anchor="t" rtlCol="false" tIns="0" lIns="0" bIns="0" rIns="0">
            <a:spAutoFit/>
          </a:bodyPr>
          <a:lstStyle/>
          <a:p>
            <a:pPr algn="l">
              <a:lnSpc>
                <a:spcPts val="6000"/>
              </a:lnSpc>
            </a:pPr>
            <a:r>
              <a:rPr lang="en-US" sz="4750" b="true">
                <a:solidFill>
                  <a:srgbClr val="484237"/>
                </a:solidFill>
                <a:latin typeface="Arimo Bold"/>
                <a:ea typeface="Arimo Bold"/>
                <a:cs typeface="Arimo Bold"/>
                <a:sym typeface="Arimo Bold"/>
              </a:rPr>
              <a:t>Research Objectives</a:t>
            </a:r>
          </a:p>
        </p:txBody>
      </p:sp>
      <p:grpSp>
        <p:nvGrpSpPr>
          <p:cNvPr name="Group 7" id="7"/>
          <p:cNvGrpSpPr/>
          <p:nvPr/>
        </p:nvGrpSpPr>
        <p:grpSpPr>
          <a:xfrm rot="0">
            <a:off x="976903" y="1945777"/>
            <a:ext cx="5444728" cy="976903"/>
            <a:chOff x="0" y="0"/>
            <a:chExt cx="7259638" cy="1302537"/>
          </a:xfrm>
        </p:grpSpPr>
        <p:sp>
          <p:nvSpPr>
            <p:cNvPr name="Freeform 8" id="8" descr="preencoded.png"/>
            <p:cNvSpPr/>
            <p:nvPr/>
          </p:nvSpPr>
          <p:spPr>
            <a:xfrm flipH="false" flipV="false" rot="0">
              <a:off x="0" y="0"/>
              <a:ext cx="7259701" cy="1302512"/>
            </a:xfrm>
            <a:custGeom>
              <a:avLst/>
              <a:gdLst/>
              <a:ahLst/>
              <a:cxnLst/>
              <a:rect r="r" b="b" t="t" l="l"/>
              <a:pathLst>
                <a:path h="1302512" w="7259701">
                  <a:moveTo>
                    <a:pt x="0" y="0"/>
                  </a:moveTo>
                  <a:lnTo>
                    <a:pt x="7259701" y="0"/>
                  </a:lnTo>
                  <a:lnTo>
                    <a:pt x="7259701" y="1302512"/>
                  </a:lnTo>
                  <a:lnTo>
                    <a:pt x="0" y="1302512"/>
                  </a:lnTo>
                  <a:lnTo>
                    <a:pt x="0" y="0"/>
                  </a:lnTo>
                  <a:close/>
                </a:path>
              </a:pathLst>
            </a:custGeom>
            <a:blipFill>
              <a:blip r:embed="rId3"/>
              <a:stretch>
                <a:fillRect l="0" t="-180" r="0" b="-182"/>
              </a:stretch>
            </a:blipFill>
          </p:spPr>
        </p:sp>
      </p:grpSp>
      <p:sp>
        <p:nvSpPr>
          <p:cNvPr name="TextBox 9" id="9"/>
          <p:cNvSpPr txBox="true"/>
          <p:nvPr/>
        </p:nvSpPr>
        <p:spPr>
          <a:xfrm rot="0">
            <a:off x="1221134" y="3134468"/>
            <a:ext cx="4956277" cy="791470"/>
          </a:xfrm>
          <a:prstGeom prst="rect">
            <a:avLst/>
          </a:prstGeom>
        </p:spPr>
        <p:txBody>
          <a:bodyPr anchor="t" rtlCol="false" tIns="0" lIns="0" bIns="0" rIns="0">
            <a:spAutoFit/>
          </a:bodyPr>
          <a:lstStyle/>
          <a:p>
            <a:pPr algn="l">
              <a:lnSpc>
                <a:spcPts val="3000"/>
              </a:lnSpc>
            </a:pPr>
            <a:r>
              <a:rPr lang="en-US" sz="2375" b="true">
                <a:solidFill>
                  <a:srgbClr val="746558"/>
                </a:solidFill>
                <a:latin typeface="Arimo Bold"/>
                <a:ea typeface="Arimo Bold"/>
                <a:cs typeface="Arimo Bold"/>
                <a:sym typeface="Arimo Bold"/>
              </a:rPr>
              <a:t>Identify Optimal Fusion Strategies</a:t>
            </a:r>
          </a:p>
        </p:txBody>
      </p:sp>
      <p:sp>
        <p:nvSpPr>
          <p:cNvPr name="TextBox 10" id="10"/>
          <p:cNvSpPr txBox="true"/>
          <p:nvPr/>
        </p:nvSpPr>
        <p:spPr>
          <a:xfrm rot="0">
            <a:off x="1221134" y="3965372"/>
            <a:ext cx="4956277" cy="2043265"/>
          </a:xfrm>
          <a:prstGeom prst="rect">
            <a:avLst/>
          </a:prstGeom>
        </p:spPr>
        <p:txBody>
          <a:bodyPr anchor="t" rtlCol="false" tIns="0" lIns="0" bIns="0" rIns="0">
            <a:spAutoFit/>
          </a:bodyPr>
          <a:lstStyle/>
          <a:p>
            <a:pPr algn="l">
              <a:lnSpc>
                <a:spcPts val="3000"/>
              </a:lnSpc>
            </a:pPr>
            <a:r>
              <a:rPr lang="en-US" sz="1874">
                <a:solidFill>
                  <a:srgbClr val="746558"/>
                </a:solidFill>
                <a:latin typeface="Arimo"/>
                <a:ea typeface="Arimo"/>
                <a:cs typeface="Arimo"/>
                <a:sym typeface="Arimo"/>
              </a:rPr>
              <a:t>Determine which fusion approach—early, intermediate, late, or hybrid—delivers maximum diagnostic precision for specific agricultural environments and sensor combinations.</a:t>
            </a:r>
          </a:p>
        </p:txBody>
      </p:sp>
      <p:grpSp>
        <p:nvGrpSpPr>
          <p:cNvPr name="Group 11" id="11"/>
          <p:cNvGrpSpPr/>
          <p:nvPr/>
        </p:nvGrpSpPr>
        <p:grpSpPr>
          <a:xfrm rot="0">
            <a:off x="6421641" y="1945777"/>
            <a:ext cx="5444728" cy="976903"/>
            <a:chOff x="0" y="0"/>
            <a:chExt cx="7259638" cy="1302537"/>
          </a:xfrm>
        </p:grpSpPr>
        <p:sp>
          <p:nvSpPr>
            <p:cNvPr name="Freeform 12" id="12" descr="preencoded.png"/>
            <p:cNvSpPr/>
            <p:nvPr/>
          </p:nvSpPr>
          <p:spPr>
            <a:xfrm flipH="false" flipV="false" rot="0">
              <a:off x="0" y="0"/>
              <a:ext cx="7259701" cy="1302512"/>
            </a:xfrm>
            <a:custGeom>
              <a:avLst/>
              <a:gdLst/>
              <a:ahLst/>
              <a:cxnLst/>
              <a:rect r="r" b="b" t="t" l="l"/>
              <a:pathLst>
                <a:path h="1302512" w="7259701">
                  <a:moveTo>
                    <a:pt x="0" y="0"/>
                  </a:moveTo>
                  <a:lnTo>
                    <a:pt x="7259701" y="0"/>
                  </a:lnTo>
                  <a:lnTo>
                    <a:pt x="7259701" y="1302512"/>
                  </a:lnTo>
                  <a:lnTo>
                    <a:pt x="0" y="1302512"/>
                  </a:lnTo>
                  <a:lnTo>
                    <a:pt x="0" y="0"/>
                  </a:lnTo>
                  <a:close/>
                </a:path>
              </a:pathLst>
            </a:custGeom>
            <a:blipFill>
              <a:blip r:embed="rId4"/>
              <a:stretch>
                <a:fillRect l="0" t="-180" r="0" b="-182"/>
              </a:stretch>
            </a:blipFill>
          </p:spPr>
        </p:sp>
      </p:grpSp>
      <p:sp>
        <p:nvSpPr>
          <p:cNvPr name="TextBox 13" id="13"/>
          <p:cNvSpPr txBox="true"/>
          <p:nvPr/>
        </p:nvSpPr>
        <p:spPr>
          <a:xfrm rot="0">
            <a:off x="6665862" y="3134468"/>
            <a:ext cx="3709988" cy="410023"/>
          </a:xfrm>
          <a:prstGeom prst="rect">
            <a:avLst/>
          </a:prstGeom>
        </p:spPr>
        <p:txBody>
          <a:bodyPr anchor="t" rtlCol="false" tIns="0" lIns="0" bIns="0" rIns="0">
            <a:spAutoFit/>
          </a:bodyPr>
          <a:lstStyle/>
          <a:p>
            <a:pPr algn="l">
              <a:lnSpc>
                <a:spcPts val="3000"/>
              </a:lnSpc>
            </a:pPr>
            <a:r>
              <a:rPr lang="en-US" sz="2375" b="true">
                <a:solidFill>
                  <a:srgbClr val="746558"/>
                </a:solidFill>
                <a:latin typeface="Arimo Bold"/>
                <a:ea typeface="Arimo Bold"/>
                <a:cs typeface="Arimo Bold"/>
                <a:sym typeface="Arimo Bold"/>
              </a:rPr>
              <a:t>Minimize False Positives</a:t>
            </a:r>
          </a:p>
        </p:txBody>
      </p:sp>
      <p:sp>
        <p:nvSpPr>
          <p:cNvPr name="TextBox 14" id="14"/>
          <p:cNvSpPr txBox="true"/>
          <p:nvPr/>
        </p:nvSpPr>
        <p:spPr>
          <a:xfrm rot="0">
            <a:off x="6665862" y="3583934"/>
            <a:ext cx="4956277" cy="1655559"/>
          </a:xfrm>
          <a:prstGeom prst="rect">
            <a:avLst/>
          </a:prstGeom>
        </p:spPr>
        <p:txBody>
          <a:bodyPr anchor="t" rtlCol="false" tIns="0" lIns="0" bIns="0" rIns="0">
            <a:spAutoFit/>
          </a:bodyPr>
          <a:lstStyle/>
          <a:p>
            <a:pPr algn="l">
              <a:lnSpc>
                <a:spcPts val="3000"/>
              </a:lnSpc>
            </a:pPr>
            <a:r>
              <a:rPr lang="en-US" sz="1874">
                <a:solidFill>
                  <a:srgbClr val="746558"/>
                </a:solidFill>
                <a:latin typeface="Arimo"/>
                <a:ea typeface="Arimo"/>
                <a:cs typeface="Arimo"/>
                <a:sym typeface="Arimo"/>
              </a:rPr>
              <a:t>Reduce erroneous disease predictions in asymptomatic but environmentally stressed plants through multimodal consensus that filters sensor-specific artifacts.</a:t>
            </a:r>
          </a:p>
        </p:txBody>
      </p:sp>
      <p:grpSp>
        <p:nvGrpSpPr>
          <p:cNvPr name="Group 15" id="15"/>
          <p:cNvGrpSpPr/>
          <p:nvPr/>
        </p:nvGrpSpPr>
        <p:grpSpPr>
          <a:xfrm rot="0">
            <a:off x="11866359" y="1945777"/>
            <a:ext cx="5444728" cy="976903"/>
            <a:chOff x="0" y="0"/>
            <a:chExt cx="7259638" cy="1302537"/>
          </a:xfrm>
        </p:grpSpPr>
        <p:sp>
          <p:nvSpPr>
            <p:cNvPr name="Freeform 16" id="16" descr="preencoded.png"/>
            <p:cNvSpPr/>
            <p:nvPr/>
          </p:nvSpPr>
          <p:spPr>
            <a:xfrm flipH="false" flipV="false" rot="0">
              <a:off x="0" y="0"/>
              <a:ext cx="7259701" cy="1302512"/>
            </a:xfrm>
            <a:custGeom>
              <a:avLst/>
              <a:gdLst/>
              <a:ahLst/>
              <a:cxnLst/>
              <a:rect r="r" b="b" t="t" l="l"/>
              <a:pathLst>
                <a:path h="1302512" w="7259701">
                  <a:moveTo>
                    <a:pt x="0" y="0"/>
                  </a:moveTo>
                  <a:lnTo>
                    <a:pt x="7259701" y="0"/>
                  </a:lnTo>
                  <a:lnTo>
                    <a:pt x="7259701" y="1302512"/>
                  </a:lnTo>
                  <a:lnTo>
                    <a:pt x="0" y="1302512"/>
                  </a:lnTo>
                  <a:lnTo>
                    <a:pt x="0" y="0"/>
                  </a:lnTo>
                  <a:close/>
                </a:path>
              </a:pathLst>
            </a:custGeom>
            <a:blipFill>
              <a:blip r:embed="rId5"/>
              <a:stretch>
                <a:fillRect l="0" t="-180" r="0" b="-182"/>
              </a:stretch>
            </a:blipFill>
          </p:spPr>
        </p:sp>
      </p:grpSp>
      <p:sp>
        <p:nvSpPr>
          <p:cNvPr name="TextBox 17" id="17"/>
          <p:cNvSpPr txBox="true"/>
          <p:nvPr/>
        </p:nvSpPr>
        <p:spPr>
          <a:xfrm rot="0">
            <a:off x="12110590" y="3134468"/>
            <a:ext cx="3362477" cy="410023"/>
          </a:xfrm>
          <a:prstGeom prst="rect">
            <a:avLst/>
          </a:prstGeom>
        </p:spPr>
        <p:txBody>
          <a:bodyPr anchor="t" rtlCol="false" tIns="0" lIns="0" bIns="0" rIns="0">
            <a:spAutoFit/>
          </a:bodyPr>
          <a:lstStyle/>
          <a:p>
            <a:pPr algn="l">
              <a:lnSpc>
                <a:spcPts val="3000"/>
              </a:lnSpc>
            </a:pPr>
            <a:r>
              <a:rPr lang="en-US" sz="2375" b="true">
                <a:solidFill>
                  <a:srgbClr val="746558"/>
                </a:solidFill>
                <a:latin typeface="Arimo Bold"/>
                <a:ea typeface="Arimo Bold"/>
                <a:cs typeface="Arimo Bold"/>
                <a:sym typeface="Arimo Bold"/>
              </a:rPr>
              <a:t>Establish Benchmarks</a:t>
            </a:r>
          </a:p>
        </p:txBody>
      </p:sp>
      <p:sp>
        <p:nvSpPr>
          <p:cNvPr name="TextBox 18" id="18"/>
          <p:cNvSpPr txBox="true"/>
          <p:nvPr/>
        </p:nvSpPr>
        <p:spPr>
          <a:xfrm rot="0">
            <a:off x="12110590" y="3583934"/>
            <a:ext cx="4956277" cy="1655559"/>
          </a:xfrm>
          <a:prstGeom prst="rect">
            <a:avLst/>
          </a:prstGeom>
        </p:spPr>
        <p:txBody>
          <a:bodyPr anchor="t" rtlCol="false" tIns="0" lIns="0" bIns="0" rIns="0">
            <a:spAutoFit/>
          </a:bodyPr>
          <a:lstStyle/>
          <a:p>
            <a:pPr algn="l">
              <a:lnSpc>
                <a:spcPts val="3000"/>
              </a:lnSpc>
            </a:pPr>
            <a:r>
              <a:rPr lang="en-US" sz="1874">
                <a:solidFill>
                  <a:srgbClr val="746558"/>
                </a:solidFill>
                <a:latin typeface="Arimo"/>
                <a:ea typeface="Arimo"/>
                <a:cs typeface="Arimo"/>
                <a:sym typeface="Arimo"/>
              </a:rPr>
              <a:t>Create standardized evaluation protocols and advocate for public multimodal datasets enabling reproducible validation across research groups.</a:t>
            </a:r>
          </a:p>
        </p:txBody>
      </p:sp>
      <p:grpSp>
        <p:nvGrpSpPr>
          <p:cNvPr name="Group 19" id="19"/>
          <p:cNvGrpSpPr/>
          <p:nvPr/>
        </p:nvGrpSpPr>
        <p:grpSpPr>
          <a:xfrm rot="0">
            <a:off x="976903" y="6645364"/>
            <a:ext cx="16334184" cy="40034"/>
            <a:chOff x="0" y="0"/>
            <a:chExt cx="21778912" cy="53378"/>
          </a:xfrm>
        </p:grpSpPr>
        <p:sp>
          <p:nvSpPr>
            <p:cNvPr name="Freeform 20" id="20"/>
            <p:cNvSpPr/>
            <p:nvPr/>
          </p:nvSpPr>
          <p:spPr>
            <a:xfrm flipH="false" flipV="false" rot="0">
              <a:off x="0" y="0"/>
              <a:ext cx="21778976" cy="53340"/>
            </a:xfrm>
            <a:custGeom>
              <a:avLst/>
              <a:gdLst/>
              <a:ahLst/>
              <a:cxnLst/>
              <a:rect r="r" b="b" t="t" l="l"/>
              <a:pathLst>
                <a:path h="53340" w="21778976">
                  <a:moveTo>
                    <a:pt x="0" y="0"/>
                  </a:moveTo>
                  <a:lnTo>
                    <a:pt x="21778976" y="0"/>
                  </a:lnTo>
                  <a:lnTo>
                    <a:pt x="21778976" y="53340"/>
                  </a:lnTo>
                  <a:lnTo>
                    <a:pt x="0" y="53340"/>
                  </a:lnTo>
                  <a:close/>
                </a:path>
              </a:pathLst>
            </a:custGeom>
            <a:solidFill>
              <a:srgbClr val="746558">
                <a:alpha val="24706"/>
              </a:srgbClr>
            </a:solidFill>
          </p:spPr>
        </p:sp>
      </p:grpSp>
      <p:sp>
        <p:nvSpPr>
          <p:cNvPr name="TextBox 21" id="21"/>
          <p:cNvSpPr txBox="true"/>
          <p:nvPr/>
        </p:nvSpPr>
        <p:spPr>
          <a:xfrm rot="0">
            <a:off x="976903" y="7167563"/>
            <a:ext cx="3053058" cy="410023"/>
          </a:xfrm>
          <a:prstGeom prst="rect">
            <a:avLst/>
          </a:prstGeom>
        </p:spPr>
        <p:txBody>
          <a:bodyPr anchor="t" rtlCol="false" tIns="0" lIns="0" bIns="0" rIns="0">
            <a:spAutoFit/>
          </a:bodyPr>
          <a:lstStyle/>
          <a:p>
            <a:pPr algn="l">
              <a:lnSpc>
                <a:spcPts val="3000"/>
              </a:lnSpc>
            </a:pPr>
            <a:r>
              <a:rPr lang="en-US" sz="2375" b="true">
                <a:solidFill>
                  <a:srgbClr val="484237"/>
                </a:solidFill>
                <a:latin typeface="Arimo Bold"/>
                <a:ea typeface="Arimo Bold"/>
                <a:cs typeface="Arimo Bold"/>
                <a:sym typeface="Arimo Bold"/>
              </a:rPr>
              <a:t>Long-term Vision</a:t>
            </a:r>
          </a:p>
        </p:txBody>
      </p:sp>
      <p:sp>
        <p:nvSpPr>
          <p:cNvPr name="TextBox 22" id="22"/>
          <p:cNvSpPr txBox="true"/>
          <p:nvPr/>
        </p:nvSpPr>
        <p:spPr>
          <a:xfrm rot="0">
            <a:off x="976903" y="7713164"/>
            <a:ext cx="7869136" cy="1655559"/>
          </a:xfrm>
          <a:prstGeom prst="rect">
            <a:avLst/>
          </a:prstGeom>
        </p:spPr>
        <p:txBody>
          <a:bodyPr anchor="t" rtlCol="false" tIns="0" lIns="0" bIns="0" rIns="0">
            <a:spAutoFit/>
          </a:bodyPr>
          <a:lstStyle/>
          <a:p>
            <a:pPr algn="l">
              <a:lnSpc>
                <a:spcPts val="3000"/>
              </a:lnSpc>
            </a:pPr>
            <a:r>
              <a:rPr lang="en-US" sz="1874">
                <a:solidFill>
                  <a:srgbClr val="746558"/>
                </a:solidFill>
                <a:latin typeface="Arimo"/>
                <a:ea typeface="Arimo"/>
                <a:cs typeface="Arimo"/>
                <a:sym typeface="Arimo"/>
              </a:rPr>
              <a:t>Build deployable systems that operate on edge devices in field conditions. Achieve </a:t>
            </a:r>
            <a:r>
              <a:rPr lang="en-US" sz="1874" b="true">
                <a:solidFill>
                  <a:srgbClr val="D3C5B6"/>
                </a:solidFill>
                <a:latin typeface="Arimo Bold"/>
                <a:ea typeface="Arimo Bold"/>
                <a:cs typeface="Arimo Bold"/>
                <a:sym typeface="Arimo Bold"/>
              </a:rPr>
              <a:t>real-time inference</a:t>
            </a:r>
            <a:r>
              <a:rPr lang="en-US" sz="1874">
                <a:solidFill>
                  <a:srgbClr val="746558"/>
                </a:solidFill>
                <a:latin typeface="Arimo"/>
                <a:ea typeface="Arimo"/>
                <a:cs typeface="Arimo"/>
                <a:sym typeface="Arimo"/>
              </a:rPr>
              <a:t> with smartphone-grade hardware while maintaining diagnostic accuracy exceeding human expert performance.</a:t>
            </a:r>
          </a:p>
        </p:txBody>
      </p:sp>
      <p:sp>
        <p:nvSpPr>
          <p:cNvPr name="TextBox 23" id="23"/>
          <p:cNvSpPr txBox="true"/>
          <p:nvPr/>
        </p:nvSpPr>
        <p:spPr>
          <a:xfrm rot="0">
            <a:off x="9451477" y="7167563"/>
            <a:ext cx="3341932" cy="410023"/>
          </a:xfrm>
          <a:prstGeom prst="rect">
            <a:avLst/>
          </a:prstGeom>
        </p:spPr>
        <p:txBody>
          <a:bodyPr anchor="t" rtlCol="false" tIns="0" lIns="0" bIns="0" rIns="0">
            <a:spAutoFit/>
          </a:bodyPr>
          <a:lstStyle/>
          <a:p>
            <a:pPr algn="l">
              <a:lnSpc>
                <a:spcPts val="3000"/>
              </a:lnSpc>
            </a:pPr>
            <a:r>
              <a:rPr lang="en-US" sz="2375" b="true">
                <a:solidFill>
                  <a:srgbClr val="484237"/>
                </a:solidFill>
                <a:latin typeface="Arimo Bold"/>
                <a:ea typeface="Arimo Bold"/>
                <a:cs typeface="Arimo Bold"/>
                <a:sym typeface="Arimo Bold"/>
              </a:rPr>
              <a:t>Hypothesis Validation</a:t>
            </a:r>
          </a:p>
        </p:txBody>
      </p:sp>
      <p:sp>
        <p:nvSpPr>
          <p:cNvPr name="TextBox 24" id="24"/>
          <p:cNvSpPr txBox="true"/>
          <p:nvPr/>
        </p:nvSpPr>
        <p:spPr>
          <a:xfrm rot="0">
            <a:off x="9451477" y="7713164"/>
            <a:ext cx="7869136" cy="1655559"/>
          </a:xfrm>
          <a:prstGeom prst="rect">
            <a:avLst/>
          </a:prstGeom>
        </p:spPr>
        <p:txBody>
          <a:bodyPr anchor="t" rtlCol="false" tIns="0" lIns="0" bIns="0" rIns="0">
            <a:spAutoFit/>
          </a:bodyPr>
          <a:lstStyle/>
          <a:p>
            <a:pPr algn="l">
              <a:lnSpc>
                <a:spcPts val="3000"/>
              </a:lnSpc>
            </a:pPr>
            <a:r>
              <a:rPr lang="en-US" sz="1874">
                <a:solidFill>
                  <a:srgbClr val="746558"/>
                </a:solidFill>
                <a:latin typeface="Arimo"/>
                <a:ea typeface="Arimo"/>
                <a:cs typeface="Arimo"/>
                <a:sym typeface="Arimo"/>
              </a:rPr>
              <a:t>Test whether intermediate and hybrid fusion strategies consistently outperform single-sensor baselines across diverse pathogen-crop combinations, with measurable improvements in sensitivity to early-stage infection.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solidFill>
          </p:spPr>
        </p:sp>
      </p:grpSp>
      <p:sp>
        <p:nvSpPr>
          <p:cNvPr name="TextBox 6" id="6"/>
          <p:cNvSpPr txBox="true"/>
          <p:nvPr/>
        </p:nvSpPr>
        <p:spPr>
          <a:xfrm rot="0">
            <a:off x="3174654" y="415376"/>
            <a:ext cx="6363291" cy="501548"/>
          </a:xfrm>
          <a:prstGeom prst="rect">
            <a:avLst/>
          </a:prstGeom>
        </p:spPr>
        <p:txBody>
          <a:bodyPr anchor="t" rtlCol="false" tIns="0" lIns="0" bIns="0" rIns="0">
            <a:spAutoFit/>
          </a:bodyPr>
          <a:lstStyle/>
          <a:p>
            <a:pPr algn="l">
              <a:lnSpc>
                <a:spcPts val="3687"/>
              </a:lnSpc>
            </a:pPr>
            <a:r>
              <a:rPr lang="en-US" sz="2937" b="true">
                <a:solidFill>
                  <a:srgbClr val="484237"/>
                </a:solidFill>
                <a:latin typeface="Arimo Bold"/>
                <a:ea typeface="Arimo Bold"/>
                <a:cs typeface="Arimo Bold"/>
                <a:sym typeface="Arimo Bold"/>
              </a:rPr>
              <a:t>Performance Results and Analysis</a:t>
            </a:r>
          </a:p>
        </p:txBody>
      </p:sp>
      <p:grpSp>
        <p:nvGrpSpPr>
          <p:cNvPr name="Group 7" id="7"/>
          <p:cNvGrpSpPr/>
          <p:nvPr/>
        </p:nvGrpSpPr>
        <p:grpSpPr>
          <a:xfrm rot="0">
            <a:off x="3174654" y="1101623"/>
            <a:ext cx="11938549" cy="6231284"/>
            <a:chOff x="0" y="0"/>
            <a:chExt cx="15918066" cy="8308378"/>
          </a:xfrm>
        </p:grpSpPr>
        <p:sp>
          <p:nvSpPr>
            <p:cNvPr name="Freeform 8" id="8" descr="preencoded.png"/>
            <p:cNvSpPr/>
            <p:nvPr/>
          </p:nvSpPr>
          <p:spPr>
            <a:xfrm flipH="false" flipV="false" rot="0">
              <a:off x="0" y="0"/>
              <a:ext cx="15918053" cy="8308340"/>
            </a:xfrm>
            <a:custGeom>
              <a:avLst/>
              <a:gdLst/>
              <a:ahLst/>
              <a:cxnLst/>
              <a:rect r="r" b="b" t="t" l="l"/>
              <a:pathLst>
                <a:path h="8308340" w="15918053">
                  <a:moveTo>
                    <a:pt x="0" y="0"/>
                  </a:moveTo>
                  <a:lnTo>
                    <a:pt x="15918053" y="0"/>
                  </a:lnTo>
                  <a:lnTo>
                    <a:pt x="15918053" y="8308340"/>
                  </a:lnTo>
                  <a:lnTo>
                    <a:pt x="0" y="8308340"/>
                  </a:lnTo>
                  <a:lnTo>
                    <a:pt x="0" y="0"/>
                  </a:lnTo>
                  <a:close/>
                </a:path>
              </a:pathLst>
            </a:custGeom>
            <a:blipFill>
              <a:blip r:embed="rId3"/>
              <a:stretch>
                <a:fillRect l="0" t="0" r="0" b="0"/>
              </a:stretch>
            </a:blipFill>
          </p:spPr>
        </p:sp>
      </p:grpSp>
      <p:grpSp>
        <p:nvGrpSpPr>
          <p:cNvPr name="Group 9" id="9"/>
          <p:cNvGrpSpPr/>
          <p:nvPr/>
        </p:nvGrpSpPr>
        <p:grpSpPr>
          <a:xfrm rot="0">
            <a:off x="7635773" y="7332907"/>
            <a:ext cx="151362" cy="151362"/>
            <a:chOff x="0" y="0"/>
            <a:chExt cx="201816" cy="201816"/>
          </a:xfrm>
        </p:grpSpPr>
        <p:sp>
          <p:nvSpPr>
            <p:cNvPr name="Freeform 10" id="10"/>
            <p:cNvSpPr/>
            <p:nvPr/>
          </p:nvSpPr>
          <p:spPr>
            <a:xfrm flipH="false" flipV="false" rot="0">
              <a:off x="0" y="0"/>
              <a:ext cx="201803" cy="201803"/>
            </a:xfrm>
            <a:custGeom>
              <a:avLst/>
              <a:gdLst/>
              <a:ahLst/>
              <a:cxnLst/>
              <a:rect r="r" b="b" t="t" l="l"/>
              <a:pathLst>
                <a:path h="201803" w="201803">
                  <a:moveTo>
                    <a:pt x="0" y="30480"/>
                  </a:moveTo>
                  <a:cubicBezTo>
                    <a:pt x="0" y="13589"/>
                    <a:pt x="13589" y="0"/>
                    <a:pt x="30480" y="0"/>
                  </a:cubicBezTo>
                  <a:lnTo>
                    <a:pt x="171323" y="0"/>
                  </a:lnTo>
                  <a:cubicBezTo>
                    <a:pt x="188214" y="0"/>
                    <a:pt x="201803" y="13589"/>
                    <a:pt x="201803" y="30480"/>
                  </a:cubicBezTo>
                  <a:lnTo>
                    <a:pt x="201803" y="171323"/>
                  </a:lnTo>
                  <a:cubicBezTo>
                    <a:pt x="201803" y="188214"/>
                    <a:pt x="188214" y="201803"/>
                    <a:pt x="171323" y="201803"/>
                  </a:cubicBezTo>
                  <a:lnTo>
                    <a:pt x="30480" y="201803"/>
                  </a:lnTo>
                  <a:cubicBezTo>
                    <a:pt x="13589" y="201803"/>
                    <a:pt x="0" y="188214"/>
                    <a:pt x="0" y="171323"/>
                  </a:cubicBezTo>
                  <a:close/>
                </a:path>
              </a:pathLst>
            </a:custGeom>
            <a:solidFill>
              <a:srgbClr val="30271D"/>
            </a:solidFill>
          </p:spPr>
        </p:sp>
      </p:grpSp>
      <p:sp>
        <p:nvSpPr>
          <p:cNvPr name="TextBox 11" id="11"/>
          <p:cNvSpPr txBox="true"/>
          <p:nvPr/>
        </p:nvSpPr>
        <p:spPr>
          <a:xfrm rot="0">
            <a:off x="7863335" y="7342432"/>
            <a:ext cx="1185272" cy="141837"/>
          </a:xfrm>
          <a:prstGeom prst="rect">
            <a:avLst/>
          </a:prstGeom>
        </p:spPr>
        <p:txBody>
          <a:bodyPr anchor="t" rtlCol="false" tIns="0" lIns="0" bIns="0" rIns="0">
            <a:spAutoFit/>
          </a:bodyPr>
          <a:lstStyle/>
          <a:p>
            <a:pPr algn="l">
              <a:lnSpc>
                <a:spcPts val="1187"/>
              </a:lnSpc>
            </a:pPr>
            <a:r>
              <a:rPr lang="en-US" sz="1187">
                <a:solidFill>
                  <a:srgbClr val="746558"/>
                </a:solidFill>
                <a:latin typeface="Arimo"/>
                <a:ea typeface="Arimo"/>
                <a:cs typeface="Arimo"/>
                <a:sym typeface="Arimo"/>
              </a:rPr>
              <a:t>F1-Score Increase</a:t>
            </a:r>
          </a:p>
        </p:txBody>
      </p:sp>
      <p:grpSp>
        <p:nvGrpSpPr>
          <p:cNvPr name="Group 12" id="12"/>
          <p:cNvGrpSpPr/>
          <p:nvPr/>
        </p:nvGrpSpPr>
        <p:grpSpPr>
          <a:xfrm rot="0">
            <a:off x="9239098" y="7332907"/>
            <a:ext cx="151362" cy="151362"/>
            <a:chOff x="0" y="0"/>
            <a:chExt cx="201816" cy="201816"/>
          </a:xfrm>
        </p:grpSpPr>
        <p:sp>
          <p:nvSpPr>
            <p:cNvPr name="Freeform 13" id="13"/>
            <p:cNvSpPr/>
            <p:nvPr/>
          </p:nvSpPr>
          <p:spPr>
            <a:xfrm flipH="false" flipV="false" rot="0">
              <a:off x="0" y="0"/>
              <a:ext cx="201803" cy="201803"/>
            </a:xfrm>
            <a:custGeom>
              <a:avLst/>
              <a:gdLst/>
              <a:ahLst/>
              <a:cxnLst/>
              <a:rect r="r" b="b" t="t" l="l"/>
              <a:pathLst>
                <a:path h="201803" w="201803">
                  <a:moveTo>
                    <a:pt x="0" y="30480"/>
                  </a:moveTo>
                  <a:cubicBezTo>
                    <a:pt x="0" y="13589"/>
                    <a:pt x="13589" y="0"/>
                    <a:pt x="30480" y="0"/>
                  </a:cubicBezTo>
                  <a:lnTo>
                    <a:pt x="171323" y="0"/>
                  </a:lnTo>
                  <a:cubicBezTo>
                    <a:pt x="188214" y="0"/>
                    <a:pt x="201803" y="13589"/>
                    <a:pt x="201803" y="30480"/>
                  </a:cubicBezTo>
                  <a:lnTo>
                    <a:pt x="201803" y="171323"/>
                  </a:lnTo>
                  <a:cubicBezTo>
                    <a:pt x="201803" y="188214"/>
                    <a:pt x="188214" y="201803"/>
                    <a:pt x="171323" y="201803"/>
                  </a:cubicBezTo>
                  <a:lnTo>
                    <a:pt x="30480" y="201803"/>
                  </a:lnTo>
                  <a:cubicBezTo>
                    <a:pt x="13589" y="201803"/>
                    <a:pt x="0" y="188214"/>
                    <a:pt x="0" y="171323"/>
                  </a:cubicBezTo>
                  <a:close/>
                </a:path>
              </a:pathLst>
            </a:custGeom>
            <a:solidFill>
              <a:srgbClr val="6C5741"/>
            </a:solidFill>
          </p:spPr>
        </p:sp>
      </p:grpSp>
      <p:sp>
        <p:nvSpPr>
          <p:cNvPr name="TextBox 14" id="14"/>
          <p:cNvSpPr txBox="true"/>
          <p:nvPr/>
        </p:nvSpPr>
        <p:spPr>
          <a:xfrm rot="0">
            <a:off x="9466659" y="7342432"/>
            <a:ext cx="1281408" cy="141837"/>
          </a:xfrm>
          <a:prstGeom prst="rect">
            <a:avLst/>
          </a:prstGeom>
        </p:spPr>
        <p:txBody>
          <a:bodyPr anchor="t" rtlCol="false" tIns="0" lIns="0" bIns="0" rIns="0">
            <a:spAutoFit/>
          </a:bodyPr>
          <a:lstStyle/>
          <a:p>
            <a:pPr algn="l">
              <a:lnSpc>
                <a:spcPts val="1187"/>
              </a:lnSpc>
            </a:pPr>
            <a:r>
              <a:rPr lang="en-US" sz="1187">
                <a:solidFill>
                  <a:srgbClr val="746558"/>
                </a:solidFill>
                <a:latin typeface="Arimo"/>
                <a:ea typeface="Arimo"/>
                <a:cs typeface="Arimo"/>
                <a:sym typeface="Arimo"/>
              </a:rPr>
              <a:t>mAP Improvement</a:t>
            </a:r>
          </a:p>
        </p:txBody>
      </p:sp>
      <p:sp>
        <p:nvSpPr>
          <p:cNvPr name="TextBox 15" id="15"/>
          <p:cNvSpPr txBox="true"/>
          <p:nvPr/>
        </p:nvSpPr>
        <p:spPr>
          <a:xfrm rot="0">
            <a:off x="3174654" y="7964243"/>
            <a:ext cx="1892351" cy="255689"/>
          </a:xfrm>
          <a:prstGeom prst="rect">
            <a:avLst/>
          </a:prstGeom>
        </p:spPr>
        <p:txBody>
          <a:bodyPr anchor="t" rtlCol="false" tIns="0" lIns="0" bIns="0" rIns="0">
            <a:spAutoFit/>
          </a:bodyPr>
          <a:lstStyle/>
          <a:p>
            <a:pPr algn="l">
              <a:lnSpc>
                <a:spcPts val="1812"/>
              </a:lnSpc>
            </a:pPr>
            <a:r>
              <a:rPr lang="en-US" sz="1437" b="true">
                <a:solidFill>
                  <a:srgbClr val="484237"/>
                </a:solidFill>
                <a:latin typeface="Arimo Bold"/>
                <a:ea typeface="Arimo Bold"/>
                <a:cs typeface="Arimo Bold"/>
                <a:sym typeface="Arimo Bold"/>
              </a:rPr>
              <a:t>Key Findings</a:t>
            </a:r>
          </a:p>
        </p:txBody>
      </p:sp>
      <p:sp>
        <p:nvSpPr>
          <p:cNvPr name="TextBox 16" id="16"/>
          <p:cNvSpPr txBox="true"/>
          <p:nvPr/>
        </p:nvSpPr>
        <p:spPr>
          <a:xfrm rot="0">
            <a:off x="3174654" y="8283626"/>
            <a:ext cx="5784504" cy="808434"/>
          </a:xfrm>
          <a:prstGeom prst="rect">
            <a:avLst/>
          </a:prstGeom>
        </p:spPr>
        <p:txBody>
          <a:bodyPr anchor="t" rtlCol="false" tIns="0" lIns="0" bIns="0" rIns="0">
            <a:spAutoFit/>
          </a:bodyPr>
          <a:lstStyle/>
          <a:p>
            <a:pPr algn="l">
              <a:lnSpc>
                <a:spcPts val="1500"/>
              </a:lnSpc>
            </a:pPr>
            <a:r>
              <a:rPr lang="en-US" sz="1187" b="true">
                <a:solidFill>
                  <a:srgbClr val="D3C5B6"/>
                </a:solidFill>
                <a:latin typeface="Arimo Bold"/>
                <a:ea typeface="Arimo Bold"/>
                <a:cs typeface="Arimo Bold"/>
                <a:sym typeface="Arimo Bold"/>
              </a:rPr>
              <a:t>Hybrid and intermediate fusion strategies</a:t>
            </a:r>
            <a:r>
              <a:rPr lang="en-US" sz="1187">
                <a:solidFill>
                  <a:srgbClr val="746558"/>
                </a:solidFill>
                <a:latin typeface="Arimo"/>
                <a:ea typeface="Arimo"/>
                <a:cs typeface="Arimo"/>
                <a:sym typeface="Arimo"/>
              </a:rPr>
              <a:t> achieved consistent performance gains over single-sensor baselines across all testing scenarios. Average F1-score increases of 23% and mAP improvements of 22% demonstrate the value of complementary sensor information.</a:t>
            </a:r>
          </a:p>
        </p:txBody>
      </p:sp>
      <p:sp>
        <p:nvSpPr>
          <p:cNvPr name="TextBox 17" id="17"/>
          <p:cNvSpPr txBox="true"/>
          <p:nvPr/>
        </p:nvSpPr>
        <p:spPr>
          <a:xfrm rot="0">
            <a:off x="3174654" y="9146534"/>
            <a:ext cx="5784504" cy="613467"/>
          </a:xfrm>
          <a:prstGeom prst="rect">
            <a:avLst/>
          </a:prstGeom>
        </p:spPr>
        <p:txBody>
          <a:bodyPr anchor="t" rtlCol="false" tIns="0" lIns="0" bIns="0" rIns="0">
            <a:spAutoFit/>
          </a:bodyPr>
          <a:lstStyle/>
          <a:p>
            <a:pPr algn="l">
              <a:lnSpc>
                <a:spcPts val="1500"/>
              </a:lnSpc>
            </a:pPr>
            <a:r>
              <a:rPr lang="en-US" sz="1187">
                <a:solidFill>
                  <a:srgbClr val="746558"/>
                </a:solidFill>
                <a:latin typeface="Arimo"/>
                <a:ea typeface="Arimo"/>
                <a:cs typeface="Arimo"/>
                <a:sym typeface="Arimo"/>
              </a:rPr>
              <a:t>False positive rates decreased by 35% in hybrid systems compared to RGB-only networks, primarily by filtering environmental artifacts that triggered isolated single-sensor classification errors.</a:t>
            </a:r>
          </a:p>
        </p:txBody>
      </p:sp>
      <p:sp>
        <p:nvSpPr>
          <p:cNvPr name="TextBox 18" id="18"/>
          <p:cNvSpPr txBox="true"/>
          <p:nvPr/>
        </p:nvSpPr>
        <p:spPr>
          <a:xfrm rot="0">
            <a:off x="9338072" y="7964243"/>
            <a:ext cx="1892351" cy="255689"/>
          </a:xfrm>
          <a:prstGeom prst="rect">
            <a:avLst/>
          </a:prstGeom>
        </p:spPr>
        <p:txBody>
          <a:bodyPr anchor="t" rtlCol="false" tIns="0" lIns="0" bIns="0" rIns="0">
            <a:spAutoFit/>
          </a:bodyPr>
          <a:lstStyle/>
          <a:p>
            <a:pPr algn="l">
              <a:lnSpc>
                <a:spcPts val="1812"/>
              </a:lnSpc>
            </a:pPr>
            <a:r>
              <a:rPr lang="en-US" sz="1437" b="true">
                <a:solidFill>
                  <a:srgbClr val="484237"/>
                </a:solidFill>
                <a:latin typeface="Arimo Bold"/>
                <a:ea typeface="Arimo Bold"/>
                <a:cs typeface="Arimo Bold"/>
                <a:sym typeface="Arimo Bold"/>
              </a:rPr>
              <a:t>Resource Trade-offs</a:t>
            </a:r>
          </a:p>
        </p:txBody>
      </p:sp>
      <p:sp>
        <p:nvSpPr>
          <p:cNvPr name="TextBox 19" id="19"/>
          <p:cNvSpPr txBox="true"/>
          <p:nvPr/>
        </p:nvSpPr>
        <p:spPr>
          <a:xfrm rot="0">
            <a:off x="9338072" y="8283626"/>
            <a:ext cx="5784504" cy="808434"/>
          </a:xfrm>
          <a:prstGeom prst="rect">
            <a:avLst/>
          </a:prstGeom>
        </p:spPr>
        <p:txBody>
          <a:bodyPr anchor="t" rtlCol="false" tIns="0" lIns="0" bIns="0" rIns="0">
            <a:spAutoFit/>
          </a:bodyPr>
          <a:lstStyle/>
          <a:p>
            <a:pPr algn="l">
              <a:lnSpc>
                <a:spcPts val="1500"/>
              </a:lnSpc>
            </a:pPr>
            <a:r>
              <a:rPr lang="en-US" sz="1187">
                <a:solidFill>
                  <a:srgbClr val="746558"/>
                </a:solidFill>
                <a:latin typeface="Arimo"/>
                <a:ea typeface="Arimo"/>
                <a:cs typeface="Arimo"/>
                <a:sym typeface="Arimo"/>
              </a:rPr>
              <a:t>Despite 45% longer training times, hybrid fusion maintained real-time inference speeds (&gt;15 FPS on edge devices) through optimized model pruning and quantization. Computational costs justified by 28% reduction in crop loss from earlier disease detection.</a:t>
            </a:r>
          </a:p>
        </p:txBody>
      </p:sp>
      <p:sp>
        <p:nvSpPr>
          <p:cNvPr name="TextBox 20" id="20"/>
          <p:cNvSpPr txBox="true"/>
          <p:nvPr/>
        </p:nvSpPr>
        <p:spPr>
          <a:xfrm rot="0">
            <a:off x="9338072" y="9146534"/>
            <a:ext cx="5784504" cy="613467"/>
          </a:xfrm>
          <a:prstGeom prst="rect">
            <a:avLst/>
          </a:prstGeom>
        </p:spPr>
        <p:txBody>
          <a:bodyPr anchor="t" rtlCol="false" tIns="0" lIns="0" bIns="0" rIns="0">
            <a:spAutoFit/>
          </a:bodyPr>
          <a:lstStyle/>
          <a:p>
            <a:pPr algn="l">
              <a:lnSpc>
                <a:spcPts val="1500"/>
              </a:lnSpc>
            </a:pPr>
            <a:r>
              <a:rPr lang="en-US" sz="1187" b="true">
                <a:solidFill>
                  <a:srgbClr val="D3C5B6"/>
                </a:solidFill>
                <a:latin typeface="Arimo Bold"/>
                <a:ea typeface="Arimo Bold"/>
                <a:cs typeface="Arimo Bold"/>
                <a:sym typeface="Arimo Bold"/>
              </a:rPr>
              <a:t>Recommendation:</a:t>
            </a:r>
            <a:r>
              <a:rPr lang="en-US" sz="1187">
                <a:solidFill>
                  <a:srgbClr val="746558"/>
                </a:solidFill>
                <a:latin typeface="Arimo"/>
                <a:ea typeface="Arimo"/>
                <a:cs typeface="Arimo"/>
                <a:sym typeface="Arimo"/>
              </a:rPr>
              <a:t> Deploy hybrid fusion architectures where computational budgets allow, otherwise default to intermediate fusion for balanced efficiency-accuracy trade-offs.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solidFill>
          </p:spPr>
        </p:sp>
      </p:grpSp>
      <p:sp>
        <p:nvSpPr>
          <p:cNvPr name="TextBox 6" id="6"/>
          <p:cNvSpPr txBox="true"/>
          <p:nvPr/>
        </p:nvSpPr>
        <p:spPr>
          <a:xfrm rot="0">
            <a:off x="2114998" y="1407166"/>
            <a:ext cx="6511233" cy="595160"/>
          </a:xfrm>
          <a:prstGeom prst="rect">
            <a:avLst/>
          </a:prstGeom>
        </p:spPr>
        <p:txBody>
          <a:bodyPr anchor="t" rtlCol="false" tIns="0" lIns="0" bIns="0" rIns="0">
            <a:spAutoFit/>
          </a:bodyPr>
          <a:lstStyle/>
          <a:p>
            <a:pPr algn="l">
              <a:lnSpc>
                <a:spcPts val="4375"/>
              </a:lnSpc>
            </a:pPr>
            <a:r>
              <a:rPr lang="en-US" sz="3500" b="true">
                <a:solidFill>
                  <a:srgbClr val="484237"/>
                </a:solidFill>
                <a:latin typeface="Arimo Bold"/>
                <a:ea typeface="Arimo Bold"/>
                <a:cs typeface="Arimo Bold"/>
                <a:sym typeface="Arimo Bold"/>
              </a:rPr>
              <a:t>Future Directions and Impact</a:t>
            </a:r>
          </a:p>
        </p:txBody>
      </p:sp>
      <p:grpSp>
        <p:nvGrpSpPr>
          <p:cNvPr name="Group 7" id="7"/>
          <p:cNvGrpSpPr/>
          <p:nvPr/>
        </p:nvGrpSpPr>
        <p:grpSpPr>
          <a:xfrm rot="0">
            <a:off x="2114998" y="3571875"/>
            <a:ext cx="14057862" cy="19050"/>
            <a:chOff x="0" y="0"/>
            <a:chExt cx="18743816" cy="25400"/>
          </a:xfrm>
        </p:grpSpPr>
        <p:sp>
          <p:nvSpPr>
            <p:cNvPr name="Freeform 8" id="8"/>
            <p:cNvSpPr/>
            <p:nvPr/>
          </p:nvSpPr>
          <p:spPr>
            <a:xfrm flipH="false" flipV="false" rot="0">
              <a:off x="0" y="0"/>
              <a:ext cx="18743803" cy="25400"/>
            </a:xfrm>
            <a:custGeom>
              <a:avLst/>
              <a:gdLst/>
              <a:ahLst/>
              <a:cxnLst/>
              <a:rect r="r" b="b" t="t" l="l"/>
              <a:pathLst>
                <a:path h="25400" w="18743803">
                  <a:moveTo>
                    <a:pt x="0" y="12700"/>
                  </a:moveTo>
                  <a:cubicBezTo>
                    <a:pt x="0" y="5715"/>
                    <a:pt x="5715" y="0"/>
                    <a:pt x="12700" y="0"/>
                  </a:cubicBezTo>
                  <a:lnTo>
                    <a:pt x="18731103" y="0"/>
                  </a:lnTo>
                  <a:cubicBezTo>
                    <a:pt x="18738089" y="0"/>
                    <a:pt x="18743803" y="5715"/>
                    <a:pt x="18743803" y="12700"/>
                  </a:cubicBezTo>
                  <a:cubicBezTo>
                    <a:pt x="18743803" y="19685"/>
                    <a:pt x="18738089" y="25400"/>
                    <a:pt x="18731103" y="25400"/>
                  </a:cubicBezTo>
                  <a:lnTo>
                    <a:pt x="12700" y="25400"/>
                  </a:lnTo>
                  <a:cubicBezTo>
                    <a:pt x="5715" y="25400"/>
                    <a:pt x="0" y="19685"/>
                    <a:pt x="0" y="12700"/>
                  </a:cubicBezTo>
                  <a:close/>
                </a:path>
              </a:pathLst>
            </a:custGeom>
            <a:solidFill>
              <a:srgbClr val="D4CEC3"/>
            </a:solidFill>
          </p:spPr>
        </p:sp>
      </p:grpSp>
      <p:grpSp>
        <p:nvGrpSpPr>
          <p:cNvPr name="Group 9" id="9"/>
          <p:cNvGrpSpPr/>
          <p:nvPr/>
        </p:nvGrpSpPr>
        <p:grpSpPr>
          <a:xfrm rot="0">
            <a:off x="5579716" y="3037208"/>
            <a:ext cx="19050" cy="534743"/>
            <a:chOff x="0" y="0"/>
            <a:chExt cx="25400" cy="712991"/>
          </a:xfrm>
        </p:grpSpPr>
        <p:sp>
          <p:nvSpPr>
            <p:cNvPr name="Freeform 10" id="10"/>
            <p:cNvSpPr/>
            <p:nvPr/>
          </p:nvSpPr>
          <p:spPr>
            <a:xfrm flipH="false" flipV="false" rot="0">
              <a:off x="0" y="0"/>
              <a:ext cx="25400" cy="712978"/>
            </a:xfrm>
            <a:custGeom>
              <a:avLst/>
              <a:gdLst/>
              <a:ahLst/>
              <a:cxnLst/>
              <a:rect r="r" b="b" t="t" l="l"/>
              <a:pathLst>
                <a:path h="712978" w="25400">
                  <a:moveTo>
                    <a:pt x="0" y="12700"/>
                  </a:moveTo>
                  <a:cubicBezTo>
                    <a:pt x="0" y="5715"/>
                    <a:pt x="5715" y="0"/>
                    <a:pt x="12700" y="0"/>
                  </a:cubicBezTo>
                  <a:cubicBezTo>
                    <a:pt x="19685" y="0"/>
                    <a:pt x="25400" y="5715"/>
                    <a:pt x="25400" y="12700"/>
                  </a:cubicBezTo>
                  <a:lnTo>
                    <a:pt x="25400" y="700278"/>
                  </a:lnTo>
                  <a:cubicBezTo>
                    <a:pt x="25400" y="707263"/>
                    <a:pt x="19685" y="712978"/>
                    <a:pt x="12700" y="712978"/>
                  </a:cubicBezTo>
                  <a:cubicBezTo>
                    <a:pt x="5715" y="712978"/>
                    <a:pt x="0" y="707263"/>
                    <a:pt x="0" y="700278"/>
                  </a:cubicBezTo>
                  <a:close/>
                </a:path>
              </a:pathLst>
            </a:custGeom>
            <a:solidFill>
              <a:srgbClr val="D4CEC3"/>
            </a:solidFill>
          </p:spPr>
        </p:sp>
      </p:grpSp>
      <p:grpSp>
        <p:nvGrpSpPr>
          <p:cNvPr name="Group 11" id="11"/>
          <p:cNvGrpSpPr/>
          <p:nvPr/>
        </p:nvGrpSpPr>
        <p:grpSpPr>
          <a:xfrm rot="0">
            <a:off x="5388769" y="3371326"/>
            <a:ext cx="401088" cy="401088"/>
            <a:chOff x="0" y="0"/>
            <a:chExt cx="534784" cy="534784"/>
          </a:xfrm>
        </p:grpSpPr>
        <p:sp>
          <p:nvSpPr>
            <p:cNvPr name="Freeform 12" id="12"/>
            <p:cNvSpPr/>
            <p:nvPr/>
          </p:nvSpPr>
          <p:spPr>
            <a:xfrm flipH="false" flipV="false" rot="0">
              <a:off x="0" y="0"/>
              <a:ext cx="534797" cy="534797"/>
            </a:xfrm>
            <a:custGeom>
              <a:avLst/>
              <a:gdLst/>
              <a:ahLst/>
              <a:cxnLst/>
              <a:rect r="r" b="b" t="t" l="l"/>
              <a:pathLst>
                <a:path h="534797" w="534797">
                  <a:moveTo>
                    <a:pt x="0" y="35687"/>
                  </a:moveTo>
                  <a:cubicBezTo>
                    <a:pt x="0" y="16002"/>
                    <a:pt x="16002" y="0"/>
                    <a:pt x="35687" y="0"/>
                  </a:cubicBezTo>
                  <a:lnTo>
                    <a:pt x="499110" y="0"/>
                  </a:lnTo>
                  <a:cubicBezTo>
                    <a:pt x="518795" y="0"/>
                    <a:pt x="534797" y="16002"/>
                    <a:pt x="534797" y="35687"/>
                  </a:cubicBezTo>
                  <a:lnTo>
                    <a:pt x="534797" y="499110"/>
                  </a:lnTo>
                  <a:cubicBezTo>
                    <a:pt x="534797" y="518795"/>
                    <a:pt x="518795" y="534797"/>
                    <a:pt x="499110" y="534797"/>
                  </a:cubicBezTo>
                  <a:lnTo>
                    <a:pt x="35687" y="534797"/>
                  </a:lnTo>
                  <a:cubicBezTo>
                    <a:pt x="16002" y="534797"/>
                    <a:pt x="0" y="518795"/>
                    <a:pt x="0" y="499110"/>
                  </a:cubicBezTo>
                  <a:close/>
                </a:path>
              </a:pathLst>
            </a:custGeom>
            <a:solidFill>
              <a:srgbClr val="EEE8DD"/>
            </a:solidFill>
          </p:spPr>
        </p:sp>
      </p:grpSp>
      <p:sp>
        <p:nvSpPr>
          <p:cNvPr name="TextBox 13" id="13"/>
          <p:cNvSpPr txBox="true"/>
          <p:nvPr/>
        </p:nvSpPr>
        <p:spPr>
          <a:xfrm rot="0">
            <a:off x="5455596" y="3433315"/>
            <a:ext cx="267291" cy="305543"/>
          </a:xfrm>
          <a:prstGeom prst="rect">
            <a:avLst/>
          </a:prstGeom>
        </p:spPr>
        <p:txBody>
          <a:bodyPr anchor="t" rtlCol="false" tIns="0" lIns="0" bIns="0" rIns="0">
            <a:spAutoFit/>
          </a:bodyPr>
          <a:lstStyle/>
          <a:p>
            <a:pPr algn="ctr">
              <a:lnSpc>
                <a:spcPts val="2062"/>
              </a:lnSpc>
            </a:pPr>
            <a:r>
              <a:rPr lang="en-US" sz="2062" b="true">
                <a:solidFill>
                  <a:srgbClr val="746558"/>
                </a:solidFill>
                <a:latin typeface="Arimo Bold"/>
                <a:ea typeface="Arimo Bold"/>
                <a:cs typeface="Arimo Bold"/>
                <a:sym typeface="Arimo Bold"/>
              </a:rPr>
              <a:t>1</a:t>
            </a:r>
          </a:p>
        </p:txBody>
      </p:sp>
      <p:sp>
        <p:nvSpPr>
          <p:cNvPr name="TextBox 14" id="14"/>
          <p:cNvSpPr txBox="true"/>
          <p:nvPr/>
        </p:nvSpPr>
        <p:spPr>
          <a:xfrm rot="0">
            <a:off x="4475264" y="2229888"/>
            <a:ext cx="2228259" cy="307029"/>
          </a:xfrm>
          <a:prstGeom prst="rect">
            <a:avLst/>
          </a:prstGeom>
        </p:spPr>
        <p:txBody>
          <a:bodyPr anchor="t" rtlCol="false" tIns="0" lIns="0" bIns="0" rIns="0">
            <a:spAutoFit/>
          </a:bodyPr>
          <a:lstStyle/>
          <a:p>
            <a:pPr algn="ctr">
              <a:lnSpc>
                <a:spcPts val="2187"/>
              </a:lnSpc>
            </a:pPr>
            <a:r>
              <a:rPr lang="en-US" sz="1750" b="true">
                <a:solidFill>
                  <a:srgbClr val="746558"/>
                </a:solidFill>
                <a:latin typeface="Arimo Bold"/>
                <a:ea typeface="Arimo Bold"/>
                <a:cs typeface="Arimo Bold"/>
                <a:sym typeface="Arimo Bold"/>
              </a:rPr>
              <a:t>Current Work</a:t>
            </a:r>
          </a:p>
        </p:txBody>
      </p:sp>
      <p:sp>
        <p:nvSpPr>
          <p:cNvPr name="TextBox 15" id="15"/>
          <p:cNvSpPr txBox="true"/>
          <p:nvPr/>
        </p:nvSpPr>
        <p:spPr>
          <a:xfrm rot="0">
            <a:off x="2293144" y="2575617"/>
            <a:ext cx="6592643" cy="283216"/>
          </a:xfrm>
          <a:prstGeom prst="rect">
            <a:avLst/>
          </a:prstGeom>
        </p:spPr>
        <p:txBody>
          <a:bodyPr anchor="t" rtlCol="false" tIns="0" lIns="0" bIns="0" rIns="0">
            <a:spAutoFit/>
          </a:bodyPr>
          <a:lstStyle/>
          <a:p>
            <a:pPr algn="ctr">
              <a:lnSpc>
                <a:spcPts val="1875"/>
              </a:lnSpc>
            </a:pPr>
            <a:r>
              <a:rPr lang="en-US" sz="1375">
                <a:solidFill>
                  <a:srgbClr val="746558"/>
                </a:solidFill>
                <a:latin typeface="Arimo"/>
                <a:ea typeface="Arimo"/>
                <a:cs typeface="Arimo"/>
                <a:sym typeface="Arimo"/>
              </a:rPr>
              <a:t>Framework validation on expanded multimodal datasets</a:t>
            </a:r>
          </a:p>
        </p:txBody>
      </p:sp>
      <p:grpSp>
        <p:nvGrpSpPr>
          <p:cNvPr name="Group 16" id="16"/>
          <p:cNvGrpSpPr/>
          <p:nvPr/>
        </p:nvGrpSpPr>
        <p:grpSpPr>
          <a:xfrm rot="0">
            <a:off x="9134180" y="3571799"/>
            <a:ext cx="19050" cy="534743"/>
            <a:chOff x="0" y="0"/>
            <a:chExt cx="25400" cy="712991"/>
          </a:xfrm>
        </p:grpSpPr>
        <p:sp>
          <p:nvSpPr>
            <p:cNvPr name="Freeform 17" id="17"/>
            <p:cNvSpPr/>
            <p:nvPr/>
          </p:nvSpPr>
          <p:spPr>
            <a:xfrm flipH="false" flipV="false" rot="0">
              <a:off x="0" y="0"/>
              <a:ext cx="25400" cy="712978"/>
            </a:xfrm>
            <a:custGeom>
              <a:avLst/>
              <a:gdLst/>
              <a:ahLst/>
              <a:cxnLst/>
              <a:rect r="r" b="b" t="t" l="l"/>
              <a:pathLst>
                <a:path h="712978" w="25400">
                  <a:moveTo>
                    <a:pt x="0" y="12700"/>
                  </a:moveTo>
                  <a:cubicBezTo>
                    <a:pt x="0" y="5715"/>
                    <a:pt x="5715" y="0"/>
                    <a:pt x="12700" y="0"/>
                  </a:cubicBezTo>
                  <a:cubicBezTo>
                    <a:pt x="19685" y="0"/>
                    <a:pt x="25400" y="5715"/>
                    <a:pt x="25400" y="12700"/>
                  </a:cubicBezTo>
                  <a:lnTo>
                    <a:pt x="25400" y="700278"/>
                  </a:lnTo>
                  <a:cubicBezTo>
                    <a:pt x="25400" y="707263"/>
                    <a:pt x="19685" y="712978"/>
                    <a:pt x="12700" y="712978"/>
                  </a:cubicBezTo>
                  <a:cubicBezTo>
                    <a:pt x="5715" y="712978"/>
                    <a:pt x="0" y="707263"/>
                    <a:pt x="0" y="700278"/>
                  </a:cubicBezTo>
                  <a:close/>
                </a:path>
              </a:pathLst>
            </a:custGeom>
            <a:solidFill>
              <a:srgbClr val="D4CEC3"/>
            </a:solidFill>
          </p:spPr>
        </p:sp>
      </p:grpSp>
      <p:grpSp>
        <p:nvGrpSpPr>
          <p:cNvPr name="Group 18" id="18"/>
          <p:cNvGrpSpPr/>
          <p:nvPr/>
        </p:nvGrpSpPr>
        <p:grpSpPr>
          <a:xfrm rot="0">
            <a:off x="8943232" y="3371326"/>
            <a:ext cx="401088" cy="401088"/>
            <a:chOff x="0" y="0"/>
            <a:chExt cx="534784" cy="534784"/>
          </a:xfrm>
        </p:grpSpPr>
        <p:sp>
          <p:nvSpPr>
            <p:cNvPr name="Freeform 19" id="19"/>
            <p:cNvSpPr/>
            <p:nvPr/>
          </p:nvSpPr>
          <p:spPr>
            <a:xfrm flipH="false" flipV="false" rot="0">
              <a:off x="0" y="0"/>
              <a:ext cx="534797" cy="534797"/>
            </a:xfrm>
            <a:custGeom>
              <a:avLst/>
              <a:gdLst/>
              <a:ahLst/>
              <a:cxnLst/>
              <a:rect r="r" b="b" t="t" l="l"/>
              <a:pathLst>
                <a:path h="534797" w="534797">
                  <a:moveTo>
                    <a:pt x="0" y="35687"/>
                  </a:moveTo>
                  <a:cubicBezTo>
                    <a:pt x="0" y="16002"/>
                    <a:pt x="16002" y="0"/>
                    <a:pt x="35687" y="0"/>
                  </a:cubicBezTo>
                  <a:lnTo>
                    <a:pt x="499110" y="0"/>
                  </a:lnTo>
                  <a:cubicBezTo>
                    <a:pt x="518795" y="0"/>
                    <a:pt x="534797" y="16002"/>
                    <a:pt x="534797" y="35687"/>
                  </a:cubicBezTo>
                  <a:lnTo>
                    <a:pt x="534797" y="499110"/>
                  </a:lnTo>
                  <a:cubicBezTo>
                    <a:pt x="534797" y="518795"/>
                    <a:pt x="518795" y="534797"/>
                    <a:pt x="499110" y="534797"/>
                  </a:cubicBezTo>
                  <a:lnTo>
                    <a:pt x="35687" y="534797"/>
                  </a:lnTo>
                  <a:cubicBezTo>
                    <a:pt x="16002" y="534797"/>
                    <a:pt x="0" y="518795"/>
                    <a:pt x="0" y="499110"/>
                  </a:cubicBezTo>
                  <a:close/>
                </a:path>
              </a:pathLst>
            </a:custGeom>
            <a:solidFill>
              <a:srgbClr val="EEE8DD"/>
            </a:solidFill>
          </p:spPr>
        </p:sp>
      </p:grpSp>
      <p:sp>
        <p:nvSpPr>
          <p:cNvPr name="TextBox 20" id="20"/>
          <p:cNvSpPr txBox="true"/>
          <p:nvPr/>
        </p:nvSpPr>
        <p:spPr>
          <a:xfrm rot="0">
            <a:off x="9010059" y="3433315"/>
            <a:ext cx="267291" cy="305543"/>
          </a:xfrm>
          <a:prstGeom prst="rect">
            <a:avLst/>
          </a:prstGeom>
        </p:spPr>
        <p:txBody>
          <a:bodyPr anchor="t" rtlCol="false" tIns="0" lIns="0" bIns="0" rIns="0">
            <a:spAutoFit/>
          </a:bodyPr>
          <a:lstStyle/>
          <a:p>
            <a:pPr algn="ctr">
              <a:lnSpc>
                <a:spcPts val="2062"/>
              </a:lnSpc>
            </a:pPr>
            <a:r>
              <a:rPr lang="en-US" sz="2062" b="true">
                <a:solidFill>
                  <a:srgbClr val="746558"/>
                </a:solidFill>
                <a:latin typeface="Arimo Bold"/>
                <a:ea typeface="Arimo Bold"/>
                <a:cs typeface="Arimo Bold"/>
                <a:sym typeface="Arimo Bold"/>
              </a:rPr>
              <a:t>2</a:t>
            </a:r>
          </a:p>
        </p:txBody>
      </p:sp>
      <p:sp>
        <p:nvSpPr>
          <p:cNvPr name="TextBox 21" id="21"/>
          <p:cNvSpPr txBox="true"/>
          <p:nvPr/>
        </p:nvSpPr>
        <p:spPr>
          <a:xfrm rot="0">
            <a:off x="8029727" y="4256332"/>
            <a:ext cx="2228259" cy="307029"/>
          </a:xfrm>
          <a:prstGeom prst="rect">
            <a:avLst/>
          </a:prstGeom>
        </p:spPr>
        <p:txBody>
          <a:bodyPr anchor="t" rtlCol="false" tIns="0" lIns="0" bIns="0" rIns="0">
            <a:spAutoFit/>
          </a:bodyPr>
          <a:lstStyle/>
          <a:p>
            <a:pPr algn="ctr">
              <a:lnSpc>
                <a:spcPts val="2187"/>
              </a:lnSpc>
            </a:pPr>
            <a:r>
              <a:rPr lang="en-US" sz="1750" b="true">
                <a:solidFill>
                  <a:srgbClr val="746558"/>
                </a:solidFill>
                <a:latin typeface="Arimo Bold"/>
                <a:ea typeface="Arimo Bold"/>
                <a:cs typeface="Arimo Bold"/>
                <a:sym typeface="Arimo Bold"/>
              </a:rPr>
              <a:t>Next Phase</a:t>
            </a:r>
          </a:p>
        </p:txBody>
      </p:sp>
      <p:sp>
        <p:nvSpPr>
          <p:cNvPr name="TextBox 22" id="22"/>
          <p:cNvSpPr txBox="true"/>
          <p:nvPr/>
        </p:nvSpPr>
        <p:spPr>
          <a:xfrm rot="0">
            <a:off x="5847607" y="4602061"/>
            <a:ext cx="6592643" cy="283216"/>
          </a:xfrm>
          <a:prstGeom prst="rect">
            <a:avLst/>
          </a:prstGeom>
        </p:spPr>
        <p:txBody>
          <a:bodyPr anchor="t" rtlCol="false" tIns="0" lIns="0" bIns="0" rIns="0">
            <a:spAutoFit/>
          </a:bodyPr>
          <a:lstStyle/>
          <a:p>
            <a:pPr algn="ctr">
              <a:lnSpc>
                <a:spcPts val="1875"/>
              </a:lnSpc>
            </a:pPr>
            <a:r>
              <a:rPr lang="en-US" sz="1375">
                <a:solidFill>
                  <a:srgbClr val="746558"/>
                </a:solidFill>
                <a:latin typeface="Arimo"/>
                <a:ea typeface="Arimo"/>
                <a:cs typeface="Arimo"/>
                <a:sym typeface="Arimo"/>
              </a:rPr>
              <a:t>Edge-optimized model compression using knowledge distillation</a:t>
            </a:r>
          </a:p>
        </p:txBody>
      </p:sp>
      <p:grpSp>
        <p:nvGrpSpPr>
          <p:cNvPr name="Group 23" id="23"/>
          <p:cNvGrpSpPr/>
          <p:nvPr/>
        </p:nvGrpSpPr>
        <p:grpSpPr>
          <a:xfrm rot="0">
            <a:off x="12688643" y="3037208"/>
            <a:ext cx="19050" cy="534743"/>
            <a:chOff x="0" y="0"/>
            <a:chExt cx="25400" cy="712991"/>
          </a:xfrm>
        </p:grpSpPr>
        <p:sp>
          <p:nvSpPr>
            <p:cNvPr name="Freeform 24" id="24"/>
            <p:cNvSpPr/>
            <p:nvPr/>
          </p:nvSpPr>
          <p:spPr>
            <a:xfrm flipH="false" flipV="false" rot="0">
              <a:off x="0" y="0"/>
              <a:ext cx="25400" cy="712978"/>
            </a:xfrm>
            <a:custGeom>
              <a:avLst/>
              <a:gdLst/>
              <a:ahLst/>
              <a:cxnLst/>
              <a:rect r="r" b="b" t="t" l="l"/>
              <a:pathLst>
                <a:path h="712978" w="25400">
                  <a:moveTo>
                    <a:pt x="0" y="12700"/>
                  </a:moveTo>
                  <a:cubicBezTo>
                    <a:pt x="0" y="5715"/>
                    <a:pt x="5715" y="0"/>
                    <a:pt x="12700" y="0"/>
                  </a:cubicBezTo>
                  <a:cubicBezTo>
                    <a:pt x="19685" y="0"/>
                    <a:pt x="25400" y="5715"/>
                    <a:pt x="25400" y="12700"/>
                  </a:cubicBezTo>
                  <a:lnTo>
                    <a:pt x="25400" y="700278"/>
                  </a:lnTo>
                  <a:cubicBezTo>
                    <a:pt x="25400" y="707263"/>
                    <a:pt x="19685" y="712978"/>
                    <a:pt x="12700" y="712978"/>
                  </a:cubicBezTo>
                  <a:cubicBezTo>
                    <a:pt x="5715" y="712978"/>
                    <a:pt x="0" y="707263"/>
                    <a:pt x="0" y="700278"/>
                  </a:cubicBezTo>
                  <a:close/>
                </a:path>
              </a:pathLst>
            </a:custGeom>
            <a:solidFill>
              <a:srgbClr val="D4CEC3"/>
            </a:solidFill>
          </p:spPr>
        </p:sp>
      </p:grpSp>
      <p:grpSp>
        <p:nvGrpSpPr>
          <p:cNvPr name="Group 25" id="25"/>
          <p:cNvGrpSpPr/>
          <p:nvPr/>
        </p:nvGrpSpPr>
        <p:grpSpPr>
          <a:xfrm rot="0">
            <a:off x="12497695" y="3371326"/>
            <a:ext cx="401088" cy="401088"/>
            <a:chOff x="0" y="0"/>
            <a:chExt cx="534784" cy="534784"/>
          </a:xfrm>
        </p:grpSpPr>
        <p:sp>
          <p:nvSpPr>
            <p:cNvPr name="Freeform 26" id="26"/>
            <p:cNvSpPr/>
            <p:nvPr/>
          </p:nvSpPr>
          <p:spPr>
            <a:xfrm flipH="false" flipV="false" rot="0">
              <a:off x="0" y="0"/>
              <a:ext cx="534797" cy="534797"/>
            </a:xfrm>
            <a:custGeom>
              <a:avLst/>
              <a:gdLst/>
              <a:ahLst/>
              <a:cxnLst/>
              <a:rect r="r" b="b" t="t" l="l"/>
              <a:pathLst>
                <a:path h="534797" w="534797">
                  <a:moveTo>
                    <a:pt x="0" y="35687"/>
                  </a:moveTo>
                  <a:cubicBezTo>
                    <a:pt x="0" y="16002"/>
                    <a:pt x="16002" y="0"/>
                    <a:pt x="35687" y="0"/>
                  </a:cubicBezTo>
                  <a:lnTo>
                    <a:pt x="499110" y="0"/>
                  </a:lnTo>
                  <a:cubicBezTo>
                    <a:pt x="518795" y="0"/>
                    <a:pt x="534797" y="16002"/>
                    <a:pt x="534797" y="35687"/>
                  </a:cubicBezTo>
                  <a:lnTo>
                    <a:pt x="534797" y="499110"/>
                  </a:lnTo>
                  <a:cubicBezTo>
                    <a:pt x="534797" y="518795"/>
                    <a:pt x="518795" y="534797"/>
                    <a:pt x="499110" y="534797"/>
                  </a:cubicBezTo>
                  <a:lnTo>
                    <a:pt x="35687" y="534797"/>
                  </a:lnTo>
                  <a:cubicBezTo>
                    <a:pt x="16002" y="534797"/>
                    <a:pt x="0" y="518795"/>
                    <a:pt x="0" y="499110"/>
                  </a:cubicBezTo>
                  <a:close/>
                </a:path>
              </a:pathLst>
            </a:custGeom>
            <a:solidFill>
              <a:srgbClr val="EEE8DD"/>
            </a:solidFill>
          </p:spPr>
        </p:sp>
      </p:grpSp>
      <p:sp>
        <p:nvSpPr>
          <p:cNvPr name="TextBox 27" id="27"/>
          <p:cNvSpPr txBox="true"/>
          <p:nvPr/>
        </p:nvSpPr>
        <p:spPr>
          <a:xfrm rot="0">
            <a:off x="12564513" y="3433315"/>
            <a:ext cx="267291" cy="305543"/>
          </a:xfrm>
          <a:prstGeom prst="rect">
            <a:avLst/>
          </a:prstGeom>
        </p:spPr>
        <p:txBody>
          <a:bodyPr anchor="t" rtlCol="false" tIns="0" lIns="0" bIns="0" rIns="0">
            <a:spAutoFit/>
          </a:bodyPr>
          <a:lstStyle/>
          <a:p>
            <a:pPr algn="ctr">
              <a:lnSpc>
                <a:spcPts val="2062"/>
              </a:lnSpc>
            </a:pPr>
            <a:r>
              <a:rPr lang="en-US" sz="2062" b="true">
                <a:solidFill>
                  <a:srgbClr val="746558"/>
                </a:solidFill>
                <a:latin typeface="Arimo Bold"/>
                <a:ea typeface="Arimo Bold"/>
                <a:cs typeface="Arimo Bold"/>
                <a:sym typeface="Arimo Bold"/>
              </a:rPr>
              <a:t>3</a:t>
            </a:r>
          </a:p>
        </p:txBody>
      </p:sp>
      <p:sp>
        <p:nvSpPr>
          <p:cNvPr name="TextBox 28" id="28"/>
          <p:cNvSpPr txBox="true"/>
          <p:nvPr/>
        </p:nvSpPr>
        <p:spPr>
          <a:xfrm rot="0">
            <a:off x="11584191" y="2229888"/>
            <a:ext cx="2228259" cy="307029"/>
          </a:xfrm>
          <a:prstGeom prst="rect">
            <a:avLst/>
          </a:prstGeom>
        </p:spPr>
        <p:txBody>
          <a:bodyPr anchor="t" rtlCol="false" tIns="0" lIns="0" bIns="0" rIns="0">
            <a:spAutoFit/>
          </a:bodyPr>
          <a:lstStyle/>
          <a:p>
            <a:pPr algn="ctr">
              <a:lnSpc>
                <a:spcPts val="2187"/>
              </a:lnSpc>
            </a:pPr>
            <a:r>
              <a:rPr lang="en-US" sz="1750" b="true">
                <a:solidFill>
                  <a:srgbClr val="746558"/>
                </a:solidFill>
                <a:latin typeface="Arimo Bold"/>
                <a:ea typeface="Arimo Bold"/>
                <a:cs typeface="Arimo Bold"/>
                <a:sym typeface="Arimo Bold"/>
              </a:rPr>
              <a:t>Long-term</a:t>
            </a:r>
          </a:p>
        </p:txBody>
      </p:sp>
      <p:sp>
        <p:nvSpPr>
          <p:cNvPr name="TextBox 29" id="29"/>
          <p:cNvSpPr txBox="true"/>
          <p:nvPr/>
        </p:nvSpPr>
        <p:spPr>
          <a:xfrm rot="0">
            <a:off x="9402070" y="2575617"/>
            <a:ext cx="6592643" cy="283216"/>
          </a:xfrm>
          <a:prstGeom prst="rect">
            <a:avLst/>
          </a:prstGeom>
        </p:spPr>
        <p:txBody>
          <a:bodyPr anchor="t" rtlCol="false" tIns="0" lIns="0" bIns="0" rIns="0">
            <a:spAutoFit/>
          </a:bodyPr>
          <a:lstStyle/>
          <a:p>
            <a:pPr algn="ctr">
              <a:lnSpc>
                <a:spcPts val="1875"/>
              </a:lnSpc>
            </a:pPr>
            <a:r>
              <a:rPr lang="en-US" sz="1375">
                <a:solidFill>
                  <a:srgbClr val="746558"/>
                </a:solidFill>
                <a:latin typeface="Arimo"/>
                <a:ea typeface="Arimo"/>
                <a:cs typeface="Arimo"/>
                <a:sym typeface="Arimo"/>
              </a:rPr>
              <a:t>Integration with automated treatment systems for closed-loop precision agriculture</a:t>
            </a:r>
          </a:p>
        </p:txBody>
      </p:sp>
      <p:grpSp>
        <p:nvGrpSpPr>
          <p:cNvPr name="Group 30" id="30"/>
          <p:cNvGrpSpPr/>
          <p:nvPr/>
        </p:nvGrpSpPr>
        <p:grpSpPr>
          <a:xfrm rot="0">
            <a:off x="2114998" y="5118421"/>
            <a:ext cx="14057862" cy="31699"/>
            <a:chOff x="0" y="0"/>
            <a:chExt cx="18743816" cy="42266"/>
          </a:xfrm>
        </p:grpSpPr>
        <p:sp>
          <p:nvSpPr>
            <p:cNvPr name="Freeform 31" id="31"/>
            <p:cNvSpPr/>
            <p:nvPr/>
          </p:nvSpPr>
          <p:spPr>
            <a:xfrm flipH="false" flipV="false" rot="0">
              <a:off x="0" y="0"/>
              <a:ext cx="18743803" cy="42291"/>
            </a:xfrm>
            <a:custGeom>
              <a:avLst/>
              <a:gdLst/>
              <a:ahLst/>
              <a:cxnLst/>
              <a:rect r="r" b="b" t="t" l="l"/>
              <a:pathLst>
                <a:path h="42291" w="18743803">
                  <a:moveTo>
                    <a:pt x="0" y="0"/>
                  </a:moveTo>
                  <a:lnTo>
                    <a:pt x="18743803" y="0"/>
                  </a:lnTo>
                  <a:lnTo>
                    <a:pt x="18743803" y="42291"/>
                  </a:lnTo>
                  <a:lnTo>
                    <a:pt x="0" y="42291"/>
                  </a:lnTo>
                  <a:close/>
                </a:path>
              </a:pathLst>
            </a:custGeom>
            <a:solidFill>
              <a:srgbClr val="746558">
                <a:alpha val="24706"/>
              </a:srgbClr>
            </a:solidFill>
          </p:spPr>
        </p:sp>
      </p:grpSp>
      <p:sp>
        <p:nvSpPr>
          <p:cNvPr name="TextBox 32" id="32"/>
          <p:cNvSpPr txBox="true"/>
          <p:nvPr/>
        </p:nvSpPr>
        <p:spPr>
          <a:xfrm rot="0">
            <a:off x="2114998" y="5393531"/>
            <a:ext cx="3129115" cy="362845"/>
          </a:xfrm>
          <a:prstGeom prst="rect">
            <a:avLst/>
          </a:prstGeom>
        </p:spPr>
        <p:txBody>
          <a:bodyPr anchor="t" rtlCol="false" tIns="0" lIns="0" bIns="0" rIns="0">
            <a:spAutoFit/>
          </a:bodyPr>
          <a:lstStyle/>
          <a:p>
            <a:pPr algn="l">
              <a:lnSpc>
                <a:spcPts val="2625"/>
              </a:lnSpc>
            </a:pPr>
            <a:r>
              <a:rPr lang="en-US" sz="2062" b="true">
                <a:solidFill>
                  <a:srgbClr val="484237"/>
                </a:solidFill>
                <a:latin typeface="Arimo Bold"/>
                <a:ea typeface="Arimo Bold"/>
                <a:cs typeface="Arimo Bold"/>
                <a:sym typeface="Arimo Bold"/>
              </a:rPr>
              <a:t>Research Contributions</a:t>
            </a:r>
          </a:p>
        </p:txBody>
      </p:sp>
      <p:sp>
        <p:nvSpPr>
          <p:cNvPr name="TextBox 33" id="33"/>
          <p:cNvSpPr txBox="true"/>
          <p:nvPr/>
        </p:nvSpPr>
        <p:spPr>
          <a:xfrm rot="0">
            <a:off x="2114998" y="5846264"/>
            <a:ext cx="8260709" cy="1018584"/>
          </a:xfrm>
          <a:prstGeom prst="rect">
            <a:avLst/>
          </a:prstGeom>
        </p:spPr>
        <p:txBody>
          <a:bodyPr anchor="t" rtlCol="false" tIns="0" lIns="0" bIns="0" rIns="0">
            <a:spAutoFit/>
          </a:bodyPr>
          <a:lstStyle/>
          <a:p>
            <a:pPr algn="l">
              <a:lnSpc>
                <a:spcPts val="1875"/>
              </a:lnSpc>
            </a:pPr>
            <a:r>
              <a:rPr lang="en-US" sz="1375">
                <a:solidFill>
                  <a:srgbClr val="746558"/>
                </a:solidFill>
                <a:latin typeface="Arimo"/>
                <a:ea typeface="Arimo"/>
                <a:cs typeface="Arimo"/>
                <a:sym typeface="Arimo"/>
              </a:rPr>
              <a:t>This work establishes the first standardized framework for evaluating multimodal fusion strategies in plant disease detection. By systematically comparing early, late, intermediate, and hybrid approaches with controlled architectures and consistent benchmark datasets, we provide clear guidance for future research and commercial development.</a:t>
            </a:r>
          </a:p>
        </p:txBody>
      </p:sp>
      <p:sp>
        <p:nvSpPr>
          <p:cNvPr name="TextBox 34" id="34"/>
          <p:cNvSpPr txBox="true"/>
          <p:nvPr/>
        </p:nvSpPr>
        <p:spPr>
          <a:xfrm rot="0">
            <a:off x="2114998" y="6941934"/>
            <a:ext cx="8260709" cy="773459"/>
          </a:xfrm>
          <a:prstGeom prst="rect">
            <a:avLst/>
          </a:prstGeom>
        </p:spPr>
        <p:txBody>
          <a:bodyPr anchor="t" rtlCol="false" tIns="0" lIns="0" bIns="0" rIns="0">
            <a:spAutoFit/>
          </a:bodyPr>
          <a:lstStyle/>
          <a:p>
            <a:pPr algn="l">
              <a:lnSpc>
                <a:spcPts val="1875"/>
              </a:lnSpc>
            </a:pPr>
            <a:r>
              <a:rPr lang="en-US" sz="1375">
                <a:solidFill>
                  <a:srgbClr val="746558"/>
                </a:solidFill>
                <a:latin typeface="Arimo"/>
                <a:ea typeface="Arimo"/>
                <a:cs typeface="Arimo"/>
                <a:sym typeface="Arimo"/>
              </a:rPr>
              <a:t>The 23% F1-score improvement demonstrated by hybrid fusion establishes a new performance baseline for the field. Reduced false positive rates directly translate to increased farmer adoption by minimizing unnecessary pesticide applications and treatment costs.</a:t>
            </a:r>
          </a:p>
        </p:txBody>
      </p:sp>
      <p:sp>
        <p:nvSpPr>
          <p:cNvPr name="TextBox 35" id="35"/>
          <p:cNvSpPr txBox="true"/>
          <p:nvPr/>
        </p:nvSpPr>
        <p:spPr>
          <a:xfrm rot="0">
            <a:off x="10820105" y="5393531"/>
            <a:ext cx="2888456" cy="362845"/>
          </a:xfrm>
          <a:prstGeom prst="rect">
            <a:avLst/>
          </a:prstGeom>
        </p:spPr>
        <p:txBody>
          <a:bodyPr anchor="t" rtlCol="false" tIns="0" lIns="0" bIns="0" rIns="0">
            <a:spAutoFit/>
          </a:bodyPr>
          <a:lstStyle/>
          <a:p>
            <a:pPr algn="l">
              <a:lnSpc>
                <a:spcPts val="2625"/>
              </a:lnSpc>
            </a:pPr>
            <a:r>
              <a:rPr lang="en-US" sz="2062" b="true">
                <a:solidFill>
                  <a:srgbClr val="484237"/>
                </a:solidFill>
                <a:latin typeface="Arimo Bold"/>
                <a:ea typeface="Arimo Bold"/>
                <a:cs typeface="Arimo Bold"/>
                <a:sym typeface="Arimo Bold"/>
              </a:rPr>
              <a:t>Practical Applications</a:t>
            </a:r>
          </a:p>
        </p:txBody>
      </p:sp>
      <p:sp>
        <p:nvSpPr>
          <p:cNvPr name="TextBox 36" id="36"/>
          <p:cNvSpPr txBox="true"/>
          <p:nvPr/>
        </p:nvSpPr>
        <p:spPr>
          <a:xfrm rot="0">
            <a:off x="10820105" y="5846264"/>
            <a:ext cx="5362127" cy="1398089"/>
          </a:xfrm>
          <a:prstGeom prst="rect">
            <a:avLst/>
          </a:prstGeom>
        </p:spPr>
        <p:txBody>
          <a:bodyPr anchor="t" rtlCol="false" tIns="0" lIns="0" bIns="0" rIns="0">
            <a:spAutoFit/>
          </a:bodyPr>
          <a:lstStyle/>
          <a:p>
            <a:pPr algn="l" marL="207367" indent="-103684" lvl="1">
              <a:lnSpc>
                <a:spcPts val="1875"/>
              </a:lnSpc>
              <a:buFont typeface="Arial"/>
              <a:buChar char="•"/>
            </a:pPr>
            <a:r>
              <a:rPr lang="en-US" sz="1375">
                <a:solidFill>
                  <a:srgbClr val="746558"/>
                </a:solidFill>
                <a:latin typeface="Arimo"/>
                <a:ea typeface="Arimo"/>
                <a:cs typeface="Arimo"/>
                <a:sym typeface="Arimo"/>
              </a:rPr>
              <a:t>Drone-mounted multispectral+thermal sensors for aerial crop surveys</a:t>
            </a:r>
          </a:p>
          <a:p>
            <a:pPr algn="l" marL="207367" indent="-103684" lvl="1">
              <a:lnSpc>
                <a:spcPts val="1875"/>
              </a:lnSpc>
              <a:buFont typeface="Arial"/>
              <a:buChar char="•"/>
            </a:pPr>
            <a:r>
              <a:rPr lang="en-US" sz="1375">
                <a:solidFill>
                  <a:srgbClr val="746558"/>
                </a:solidFill>
                <a:latin typeface="Arimo"/>
                <a:ea typeface="Arimo"/>
                <a:cs typeface="Arimo"/>
                <a:sym typeface="Arimo"/>
              </a:rPr>
              <a:t>Smartphone applications using external IR/RGB attachments</a:t>
            </a:r>
          </a:p>
          <a:p>
            <a:pPr algn="l" marL="207367" indent="-103684" lvl="1">
              <a:lnSpc>
                <a:spcPts val="1875"/>
              </a:lnSpc>
              <a:buFont typeface="Arial"/>
              <a:buChar char="•"/>
            </a:pPr>
            <a:r>
              <a:rPr lang="en-US" sz="1375">
                <a:solidFill>
                  <a:srgbClr val="746558"/>
                </a:solidFill>
                <a:latin typeface="Arimo"/>
                <a:ea typeface="Arimo"/>
                <a:cs typeface="Arimo"/>
                <a:sym typeface="Arimo"/>
              </a:rPr>
              <a:t>In-field robot scouts with integrated multimodal perception</a:t>
            </a:r>
          </a:p>
          <a:p>
            <a:pPr algn="l" marL="207367" indent="-103684" lvl="1">
              <a:lnSpc>
                <a:spcPts val="1875"/>
              </a:lnSpc>
              <a:buFont typeface="Arial"/>
              <a:buChar char="•"/>
            </a:pPr>
            <a:r>
              <a:rPr lang="en-US" sz="1375">
                <a:solidFill>
                  <a:srgbClr val="746558"/>
                </a:solidFill>
                <a:latin typeface="Arimo"/>
                <a:ea typeface="Arimo"/>
                <a:cs typeface="Arimo"/>
                <a:sym typeface="Arimo"/>
              </a:rPr>
              <a:t>Remote expert consultation systems with automated diagnosis</a:t>
            </a:r>
          </a:p>
        </p:txBody>
      </p:sp>
      <p:grpSp>
        <p:nvGrpSpPr>
          <p:cNvPr name="Group 37" id="37"/>
          <p:cNvGrpSpPr/>
          <p:nvPr/>
        </p:nvGrpSpPr>
        <p:grpSpPr>
          <a:xfrm rot="0">
            <a:off x="2114998" y="7974654"/>
            <a:ext cx="14057862" cy="866927"/>
            <a:chOff x="0" y="0"/>
            <a:chExt cx="18743816" cy="1155903"/>
          </a:xfrm>
        </p:grpSpPr>
        <p:sp>
          <p:nvSpPr>
            <p:cNvPr name="Freeform 38" id="38"/>
            <p:cNvSpPr/>
            <p:nvPr/>
          </p:nvSpPr>
          <p:spPr>
            <a:xfrm flipH="false" flipV="false" rot="0">
              <a:off x="0" y="0"/>
              <a:ext cx="18743803" cy="1155954"/>
            </a:xfrm>
            <a:custGeom>
              <a:avLst/>
              <a:gdLst/>
              <a:ahLst/>
              <a:cxnLst/>
              <a:rect r="r" b="b" t="t" l="l"/>
              <a:pathLst>
                <a:path h="1155954" w="18743803">
                  <a:moveTo>
                    <a:pt x="0" y="35687"/>
                  </a:moveTo>
                  <a:cubicBezTo>
                    <a:pt x="0" y="16002"/>
                    <a:pt x="16002" y="0"/>
                    <a:pt x="35687" y="0"/>
                  </a:cubicBezTo>
                  <a:lnTo>
                    <a:pt x="18708115" y="0"/>
                  </a:lnTo>
                  <a:cubicBezTo>
                    <a:pt x="18727801" y="0"/>
                    <a:pt x="18743803" y="16002"/>
                    <a:pt x="18743803" y="35687"/>
                  </a:cubicBezTo>
                  <a:lnTo>
                    <a:pt x="18743803" y="1120267"/>
                  </a:lnTo>
                  <a:cubicBezTo>
                    <a:pt x="18743803" y="1139952"/>
                    <a:pt x="18727801" y="1155954"/>
                    <a:pt x="18708115" y="1155954"/>
                  </a:cubicBezTo>
                  <a:lnTo>
                    <a:pt x="35687" y="1155954"/>
                  </a:lnTo>
                  <a:cubicBezTo>
                    <a:pt x="16002" y="1155954"/>
                    <a:pt x="0" y="1139952"/>
                    <a:pt x="0" y="1120267"/>
                  </a:cubicBezTo>
                  <a:close/>
                </a:path>
              </a:pathLst>
            </a:custGeom>
            <a:solidFill>
              <a:srgbClr val="E2D9CF"/>
            </a:solidFill>
          </p:spPr>
        </p:sp>
      </p:grpSp>
      <p:grpSp>
        <p:nvGrpSpPr>
          <p:cNvPr name="Group 39" id="39"/>
          <p:cNvGrpSpPr/>
          <p:nvPr/>
        </p:nvGrpSpPr>
        <p:grpSpPr>
          <a:xfrm rot="0">
            <a:off x="2293144" y="8212779"/>
            <a:ext cx="222799" cy="178146"/>
            <a:chOff x="0" y="0"/>
            <a:chExt cx="297066" cy="237528"/>
          </a:xfrm>
        </p:grpSpPr>
        <p:sp>
          <p:nvSpPr>
            <p:cNvPr name="Freeform 40" id="40" descr="preencoded.png"/>
            <p:cNvSpPr/>
            <p:nvPr/>
          </p:nvSpPr>
          <p:spPr>
            <a:xfrm flipH="false" flipV="false" rot="0">
              <a:off x="0" y="0"/>
              <a:ext cx="297053" cy="237490"/>
            </a:xfrm>
            <a:custGeom>
              <a:avLst/>
              <a:gdLst/>
              <a:ahLst/>
              <a:cxnLst/>
              <a:rect r="r" b="b" t="t" l="l"/>
              <a:pathLst>
                <a:path h="237490" w="297053">
                  <a:moveTo>
                    <a:pt x="0" y="0"/>
                  </a:moveTo>
                  <a:lnTo>
                    <a:pt x="297053" y="0"/>
                  </a:lnTo>
                  <a:lnTo>
                    <a:pt x="297053" y="237490"/>
                  </a:lnTo>
                  <a:lnTo>
                    <a:pt x="0" y="237490"/>
                  </a:lnTo>
                  <a:lnTo>
                    <a:pt x="0" y="0"/>
                  </a:lnTo>
                  <a:close/>
                </a:path>
              </a:pathLst>
            </a:custGeom>
            <a:blipFill>
              <a:blip r:embed="rId3"/>
              <a:stretch>
                <a:fillRect l="0" t="-1657" r="-4" b="-1673"/>
              </a:stretch>
            </a:blipFill>
          </p:spPr>
        </p:sp>
      </p:grpSp>
      <p:sp>
        <p:nvSpPr>
          <p:cNvPr name="TextBox 41" id="41"/>
          <p:cNvSpPr txBox="true"/>
          <p:nvPr/>
        </p:nvSpPr>
        <p:spPr>
          <a:xfrm rot="0">
            <a:off x="2694089" y="8109052"/>
            <a:ext cx="13300624" cy="528342"/>
          </a:xfrm>
          <a:prstGeom prst="rect">
            <a:avLst/>
          </a:prstGeom>
        </p:spPr>
        <p:txBody>
          <a:bodyPr anchor="t" rtlCol="false" tIns="0" lIns="0" bIns="0" rIns="0">
            <a:spAutoFit/>
          </a:bodyPr>
          <a:lstStyle/>
          <a:p>
            <a:pPr algn="l">
              <a:lnSpc>
                <a:spcPts val="1875"/>
              </a:lnSpc>
            </a:pPr>
            <a:r>
              <a:rPr lang="en-US" sz="1375" b="true">
                <a:solidFill>
                  <a:srgbClr val="000000"/>
                </a:solidFill>
                <a:latin typeface="Arimo Bold"/>
                <a:ea typeface="Arimo Bold"/>
                <a:cs typeface="Arimo Bold"/>
                <a:sym typeface="Arimo Bold"/>
              </a:rPr>
              <a:t>Call to Action:</a:t>
            </a:r>
            <a:r>
              <a:rPr lang="en-US" sz="1375">
                <a:solidFill>
                  <a:srgbClr val="000000"/>
                </a:solidFill>
                <a:latin typeface="Arimo"/>
                <a:ea typeface="Arimo"/>
                <a:cs typeface="Arimo"/>
                <a:sym typeface="Arimo"/>
              </a:rPr>
              <a:t> The research community should adopt standardized multimodal evaluation protocols and contribute to public datasets with aligned RGB-thermal-hyperspectral captures across diverse crops, pathogens, and environmental conditions.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DAHBXlt3J_0</dc:identifier>
  <dcterms:modified xsi:type="dcterms:W3CDTF">2011-08-01T06:04:30Z</dcterms:modified>
  <cp:revision>1</cp:revision>
  <dc:title>Multimodal-Fusion-for-Plant-Disease-Detection.pptx</dc:title>
</cp:coreProperties>
</file>