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ptos" charset="1" panose="020B0004020202020204"/>
      <p:regular r:id="rId18"/>
    </p:embeddedFont>
    <p:embeddedFont>
      <p:font typeface="Aptos Bold" charset="1" panose="020B0004020202020204"/>
      <p:regular r:id="rId19"/>
    </p:embeddedFont>
    <p:embeddedFont>
      <p:font typeface="Canva Sans Bold" charset="1" panose="020B08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91313" y="3556590"/>
            <a:ext cx="13716000" cy="4156524"/>
            <a:chOff x="0" y="0"/>
            <a:chExt cx="18288000" cy="5542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542032"/>
            </a:xfrm>
            <a:custGeom>
              <a:avLst/>
              <a:gdLst/>
              <a:ahLst/>
              <a:cxnLst/>
              <a:rect r="r" b="b" t="t" l="l"/>
              <a:pathLst>
                <a:path h="554203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542032"/>
                  </a:lnTo>
                  <a:lnTo>
                    <a:pt x="0" y="5542032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104775"/>
              <a:ext cx="18288000" cy="543725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Architecural Pruning of Yolo-26s for Pneuomonia Detection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07556" y="7429811"/>
            <a:ext cx="4676200" cy="146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Submitted By: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Chaitanya Yadav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23FE10CSE00409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04244" y="7419172"/>
            <a:ext cx="4676199" cy="97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Supervised By: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Ms. Babita Tiwari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1134" y="54058"/>
            <a:ext cx="6261058" cy="1834118"/>
            <a:chOff x="0" y="0"/>
            <a:chExt cx="8348078" cy="2445490"/>
          </a:xfrm>
        </p:grpSpPr>
        <p:sp>
          <p:nvSpPr>
            <p:cNvPr name="Freeform 8" id="8" descr="A black and white text  AI-generated content may be incorrect."/>
            <p:cNvSpPr/>
            <p:nvPr/>
          </p:nvSpPr>
          <p:spPr>
            <a:xfrm flipH="false" flipV="false" rot="0">
              <a:off x="0" y="0"/>
              <a:ext cx="8348091" cy="2445512"/>
            </a:xfrm>
            <a:custGeom>
              <a:avLst/>
              <a:gdLst/>
              <a:ahLst/>
              <a:cxnLst/>
              <a:rect r="r" b="b" t="t" l="l"/>
              <a:pathLst>
                <a:path h="2445512" w="8348091">
                  <a:moveTo>
                    <a:pt x="0" y="0"/>
                  </a:moveTo>
                  <a:lnTo>
                    <a:pt x="8348091" y="0"/>
                  </a:lnTo>
                  <a:lnTo>
                    <a:pt x="8348091" y="2445512"/>
                  </a:lnTo>
                  <a:lnTo>
                    <a:pt x="0" y="2445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291313" y="1888176"/>
            <a:ext cx="13716000" cy="1668414"/>
            <a:chOff x="0" y="0"/>
            <a:chExt cx="18288000" cy="22245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2224552"/>
            </a:xfrm>
            <a:custGeom>
              <a:avLst/>
              <a:gdLst/>
              <a:ahLst/>
              <a:cxnLst/>
              <a:rect r="r" b="b" t="t" l="l"/>
              <a:pathLst>
                <a:path h="22245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224552"/>
                  </a:lnTo>
                  <a:lnTo>
                    <a:pt x="0" y="2224552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8288000" cy="231027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594"/>
                </a:lnSpc>
              </a:pPr>
              <a:r>
                <a:rPr lang="en-US" sz="3885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School of Computer Science and Engineering</a:t>
              </a:r>
            </a:p>
            <a:p>
              <a:pPr algn="ctr">
                <a:lnSpc>
                  <a:spcPts val="5594"/>
                </a:lnSpc>
              </a:pPr>
              <a:r>
                <a:rPr lang="en-US" sz="3885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Department of Computer Science and Engineering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Outline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831783"/>
            <a:ext cx="15590520" cy="401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Introduction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Literature Review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Problem Statement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Proposed Solution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Objectives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Results</a:t>
            </a:r>
          </a:p>
          <a:p>
            <a:pPr algn="l" marL="760095" indent="-380048" lvl="1">
              <a:lnSpc>
                <a:spcPts val="453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38763" y="1166163"/>
            <a:ext cx="3632002" cy="76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Introduction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5899" y="2299437"/>
            <a:ext cx="16976203" cy="731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5" indent="-345443" lvl="1">
              <a:lnSpc>
                <a:spcPts val="41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Pneumonia kills 2.5 milli</a:t>
            </a:r>
            <a:r>
              <a:rPr lang="en-US" sz="3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on peop</a:t>
            </a:r>
            <a:r>
              <a:rPr lang="en-US" sz="3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le annually — leading cause of death in low and middle income countries</a:t>
            </a:r>
          </a:p>
          <a:p>
            <a:pPr algn="l" marL="690885" indent="-345443" lvl="1">
              <a:lnSpc>
                <a:spcPts val="41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Chest X-ray is the primary diagnostic tool but requires expert radiologists who are scarce in resource-limited settings</a:t>
            </a:r>
          </a:p>
          <a:p>
            <a:pPr algn="l" marL="690885" indent="-345443" lvl="1">
              <a:lnSpc>
                <a:spcPts val="41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Deep learning, specifically YOLO-based detectors, has shown promise for automating chest X-ray analysis</a:t>
            </a:r>
          </a:p>
          <a:p>
            <a:pPr algn="l" marL="690885" indent="-345443" lvl="1">
              <a:lnSpc>
                <a:spcPts val="41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YOLO26, released by Ultralytics in Septembe</a:t>
            </a:r>
            <a:r>
              <a:rPr lang="en-US" sz="3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 2025, is the newest and mo</a:t>
            </a:r>
            <a:r>
              <a:rPr lang="en-US" sz="3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st architecturally efficient member of the YOLO family — featuring NMS-free inference, DFL removal, STAL, and MuSGD optimizer</a:t>
            </a:r>
          </a:p>
          <a:p>
            <a:pPr algn="l" marL="690885" indent="-345443" lvl="1">
              <a:lnSpc>
                <a:spcPts val="41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Gap: No prior study has applied YOLO26 to medical imaging. Its behaviour under architectural </a:t>
            </a:r>
            <a:r>
              <a:rPr lang="en-US" sz="3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modification is completely unknown.</a:t>
            </a:r>
          </a:p>
          <a:p>
            <a:pPr algn="l" marL="690885" indent="-345443" lvl="1">
              <a:lnSpc>
                <a:spcPts val="41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This work is one of the first benchmark of YOLO26 on the RSNA Pneumonia Detection Challenge dataset</a:t>
            </a:r>
          </a:p>
          <a:p>
            <a:pPr algn="l">
              <a:lnSpc>
                <a:spcPts val="412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265112"/>
            <a:ext cx="4920060" cy="76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Literature Review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2450" y="2028621"/>
            <a:ext cx="17443099" cy="584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662" indent="-268831" lvl="1">
              <a:lnSpc>
                <a:spcPts val="3095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Wu et al. proposed an anchor-free detector with FPN and focal loss on RSNA, improving AP from 48.6 to 51.5, outperforming SSD, Faster R-CNN, and FCOS.</a:t>
            </a:r>
          </a:p>
          <a:p>
            <a:pPr algn="l" marL="537662" indent="-268831" lvl="1">
              <a:lnSpc>
                <a:spcPts val="3095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Kailasam and Balasubramanian combined CNN classification with </a:t>
            </a:r>
            <a:r>
              <a:rPr lang="en-US" sz="249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YOLO localisation on chest X-rays, showing YOLO can perform simultaneous detection and bounding box prediction in clinical imaging.</a:t>
            </a:r>
          </a:p>
          <a:p>
            <a:pPr algn="l" marL="537662" indent="-268831" lvl="1">
              <a:lnSpc>
                <a:spcPts val="3095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Zhang et al. proposed NSEC-YOLO with adaptive noise suppression for chest X-ray lesion detection, reporting precision of 0.416 at mAP@0.5 — consistent with the established range for this task.</a:t>
            </a:r>
          </a:p>
          <a:p>
            <a:pPr algn="l" marL="537662" indent="-268831" lvl="1">
              <a:lnSpc>
                <a:spcPts val="3095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Xie et al. introduced Fast-YOLO, a YOLOv11-based model with dynamic convolution, achieving superior detection speed on a re-annotated pneumonia dataset.</a:t>
            </a:r>
          </a:p>
          <a:p>
            <a:pPr algn="l" marL="537662" indent="-268831" lvl="1">
              <a:lnSpc>
                <a:spcPts val="3095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Ragab et al. in a systematic review of YOLO in medical imaging (2018–2023) confirmed YOLO offers a strong accuracy-speed tradeoff across lesion detection and disease screening tasks.</a:t>
            </a:r>
          </a:p>
          <a:p>
            <a:pPr algn="l" marL="537662" indent="-268831" lvl="1">
              <a:lnSpc>
                <a:spcPts val="3095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Across all reviewed works, precision and recall of 0.40–0.55 is the consistently reported range for pneumonia object detection, reflecting the difficulty of localising diffuse pulmonary opacities.</a:t>
            </a:r>
          </a:p>
          <a:p>
            <a:pPr algn="l" marL="537662" indent="-268831" lvl="1">
              <a:lnSpc>
                <a:spcPts val="3095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No prior study has evaluated YOLO26 in any medical imaging context — its detection capability and response to architectural modification remain entirely unexplored.</a:t>
            </a:r>
          </a:p>
          <a:p>
            <a:pPr algn="l">
              <a:lnSpc>
                <a:spcPts val="309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2890265" y="2646515"/>
          <a:ext cx="11650763" cy="4993970"/>
        </p:xfrm>
        <a:graphic>
          <a:graphicData uri="http://schemas.openxmlformats.org/drawingml/2006/table">
            <a:tbl>
              <a:tblPr/>
              <a:tblGrid>
                <a:gridCol w="2398451"/>
                <a:gridCol w="2398451"/>
                <a:gridCol w="2398451"/>
                <a:gridCol w="4455410"/>
              </a:tblGrid>
              <a:tr h="13383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Paper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Dataser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Key Finding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901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Yao et al., 2020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PYolo (YOLOv3 + attention)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RSNA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mAP = 46.84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83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Wu et al., 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Anchor-free + FPN + focal loss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RSNA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mAP@0.5 = 51.5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83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Li et al., 2021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Faster R-CNN + DeepConv-DilatedNet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RSNA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mAP@0.5 = 0.457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028700" y="265112"/>
            <a:ext cx="4920060" cy="76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Literature Review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874776"/>
            <a:ext cx="5495131" cy="76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7316" y="2184420"/>
            <a:ext cx="17053367" cy="4938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2614" indent="-306307" lvl="1">
              <a:lnSpc>
                <a:spcPts val="3972"/>
              </a:lnSpc>
              <a:buFont typeface="Arial"/>
              <a:buChar char="•"/>
            </a:pPr>
            <a:r>
              <a:rPr lang="en-US" sz="283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Pneumonia opacities are diffuse and poorly defined — hard to localise with a bounding box</a:t>
            </a:r>
          </a:p>
          <a:p>
            <a:pPr algn="just" marL="612614" indent="-306307" lvl="1">
              <a:lnSpc>
                <a:spcPts val="3972"/>
              </a:lnSpc>
              <a:buFont typeface="Arial"/>
              <a:buChar char="•"/>
            </a:pPr>
            <a:r>
              <a:rPr lang="en-US" sz="283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RSNA dataset has 3 classes: Lung Opacity (positive), Normal (negative), and Not Normal / No Lung Opacity (negative but visually ambiguous)</a:t>
            </a:r>
          </a:p>
          <a:p>
            <a:pPr algn="just" marL="612614" indent="-306307" lvl="1">
              <a:lnSpc>
                <a:spcPts val="3972"/>
              </a:lnSpc>
              <a:buFont typeface="Arial"/>
              <a:buChar char="•"/>
            </a:pPr>
            <a:r>
              <a:rPr lang="en-US" sz="283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Training with Not Normal as negative causes contradictory learning signals — model sees visually abnormal X-rays labelled as negative,</a:t>
            </a:r>
            <a:r>
              <a:rPr lang="en-US" sz="283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then sees similar-looking pneumonia labelled as positive → depresses precision and recall</a:t>
            </a:r>
          </a:p>
          <a:p>
            <a:pPr algn="just" marL="612614" indent="-306307" lvl="1">
              <a:lnSpc>
                <a:spcPts val="3972"/>
              </a:lnSpc>
              <a:buFont typeface="Arial"/>
              <a:buChar char="•"/>
            </a:pPr>
            <a:r>
              <a:rPr lang="en-US" sz="283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Fix applied: Not Normal patients excluded entirely → clean binary task: Lung Opacity vs Normal only</a:t>
            </a:r>
          </a:p>
          <a:p>
            <a:pPr algn="just" marL="612614" indent="-306307" lvl="1">
              <a:lnSpc>
                <a:spcPts val="3972"/>
              </a:lnSpc>
              <a:buFont typeface="Arial"/>
              <a:buChar char="•"/>
            </a:pPr>
            <a:r>
              <a:rPr lang="en-US" sz="283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No published benchmark exists for YOLO26 on any medical imaging dataset</a:t>
            </a:r>
          </a:p>
          <a:p>
            <a:pPr algn="just" marL="612614" indent="-306307" lvl="1">
              <a:lnSpc>
                <a:spcPts val="3972"/>
              </a:lnSpc>
              <a:buFont typeface="Arial"/>
              <a:buChar char="•"/>
            </a:pPr>
            <a:r>
              <a:rPr lang="en-US" sz="283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It is unknown whether architectural pruning of YOLO26 helps or hurts on medical image</a:t>
            </a:r>
          </a:p>
          <a:p>
            <a:pPr algn="just">
              <a:lnSpc>
                <a:spcPts val="3972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238" y="813044"/>
            <a:ext cx="5196384" cy="152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9"/>
              </a:lnSpc>
            </a:pPr>
            <a:r>
              <a:rPr lang="en-US" sz="4875" b="true">
                <a:solidFill>
                  <a:srgbClr val="484237"/>
                </a:solidFill>
                <a:latin typeface="Aptos Bold"/>
                <a:ea typeface="Aptos Bold"/>
                <a:cs typeface="Aptos Bold"/>
                <a:sym typeface="Aptos Bold"/>
              </a:rPr>
              <a:t>Proposed Solution</a:t>
            </a:r>
          </a:p>
          <a:p>
            <a:pPr algn="l">
              <a:lnSpc>
                <a:spcPts val="606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47831" y="1803350"/>
            <a:ext cx="17392338" cy="772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3"/>
              </a:lnSpc>
            </a:pPr>
            <a:r>
              <a:rPr lang="en-US" sz="2617" b="true">
                <a:solidFill>
                  <a:srgbClr val="484237"/>
                </a:solidFill>
                <a:latin typeface="Aptos Bold"/>
                <a:ea typeface="Aptos Bold"/>
                <a:cs typeface="Aptos Bold"/>
                <a:sym typeface="Aptos Bold"/>
              </a:rPr>
              <a:t>Pipeline</a:t>
            </a: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: RSNA DICOM → PNG 1024×1024 → CLAHE preprocessing + Z-score normalisation → Patient-level 80/20 stratified split → 3 model variants trained identically</a:t>
            </a:r>
          </a:p>
          <a:p>
            <a:pPr algn="just">
              <a:lnSpc>
                <a:spcPts val="3253"/>
              </a:lnSpc>
            </a:pPr>
            <a:r>
              <a:rPr lang="en-US" sz="2617" b="true">
                <a:solidFill>
                  <a:srgbClr val="484237"/>
                </a:solidFill>
                <a:latin typeface="Aptos Bold"/>
                <a:ea typeface="Aptos Bold"/>
                <a:cs typeface="Aptos Bold"/>
                <a:sym typeface="Aptos Bold"/>
              </a:rPr>
              <a:t>Three models:</a:t>
            </a:r>
          </a:p>
          <a:p>
            <a:pPr algn="just">
              <a:lnSpc>
                <a:spcPts val="3253"/>
              </a:lnSpc>
              <a:spcBef>
                <a:spcPct val="0"/>
              </a:spcBef>
            </a:pPr>
            <a:r>
              <a:rPr lang="en-US" b="true" sz="2617">
                <a:solidFill>
                  <a:srgbClr val="484237"/>
                </a:solidFill>
                <a:latin typeface="Aptos Bold"/>
                <a:ea typeface="Aptos Bold"/>
                <a:cs typeface="Aptos Bold"/>
                <a:sym typeface="Aptos Bold"/>
              </a:rPr>
              <a:t>Baseline </a:t>
            </a: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— </a:t>
            </a: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YOLO26-S (Full)</a:t>
            </a:r>
          </a:p>
          <a:p>
            <a:pPr algn="just" marL="565154" indent="-282577" lvl="1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All layers intact, 9.47M parameters, 3 detection scales (P3/P4/P5)</a:t>
            </a:r>
          </a:p>
          <a:p>
            <a:pPr algn="just" marL="565154" indent="-282577" lvl="1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COCO pretrained weights, serves as comparison anchor</a:t>
            </a:r>
          </a:p>
          <a:p>
            <a:pPr algn="just">
              <a:lnSpc>
                <a:spcPts val="3253"/>
              </a:lnSpc>
              <a:spcBef>
                <a:spcPct val="0"/>
              </a:spcBef>
            </a:pPr>
            <a:r>
              <a:rPr lang="en-US" b="true" sz="2617">
                <a:solidFill>
                  <a:srgbClr val="484237"/>
                </a:solidFill>
                <a:latin typeface="Aptos Bold"/>
                <a:ea typeface="Aptos Bold"/>
                <a:cs typeface="Aptos Bold"/>
                <a:sym typeface="Aptos Bold"/>
              </a:rPr>
              <a:t>Drop-Neck </a:t>
            </a: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— P3 Branch Removed</a:t>
            </a:r>
          </a:p>
          <a:p>
            <a:pPr algn="just" marL="565154" indent="-282577" lvl="1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Removes the high-resolution upsampling branch (Upsample → Concat → C3k2 at 80×80)</a:t>
            </a:r>
          </a:p>
          <a:p>
            <a:pPr algn="just" marL="565154" indent="-282577" lvl="1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Reduces to 2 detection scales (P4/P5), 8.71M parameters</a:t>
            </a:r>
          </a:p>
          <a:p>
            <a:pPr algn="just" marL="565154" indent="-282577" lvl="1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Justified by RSNA bbox statistics: opacities are medium-to-large, P3 branch adds noise not signal</a:t>
            </a:r>
          </a:p>
          <a:p>
            <a:pPr algn="just">
              <a:lnSpc>
                <a:spcPts val="3253"/>
              </a:lnSpc>
              <a:spcBef>
                <a:spcPct val="0"/>
              </a:spcBef>
            </a:pPr>
            <a:r>
              <a:rPr lang="en-US" b="true" sz="2617">
                <a:solidFill>
                  <a:srgbClr val="484237"/>
                </a:solidFill>
                <a:latin typeface="Aptos Bold"/>
                <a:ea typeface="Aptos Bold"/>
                <a:cs typeface="Aptos Bold"/>
                <a:sym typeface="Aptos Bold"/>
              </a:rPr>
              <a:t>Drop-Backbone </a:t>
            </a: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— Early C3k2 Removed</a:t>
            </a:r>
          </a:p>
          <a:p>
            <a:pPr algn="just" marL="565154" indent="-282577" lvl="1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Removes initial C3k2 block at 160×160 resolution (model.2)</a:t>
            </a:r>
          </a:p>
          <a:p>
            <a:pPr algn="just" marL="565154" indent="-282577" lvl="1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Reduces to 8.61M parameters, 2 detection scales</a:t>
            </a:r>
          </a:p>
          <a:p>
            <a:pPr algn="just" marL="565154" indent="-282577" lvl="1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Justified: low-level edge features irrelevant for diffuse lung lesions; aligns with transfer learning literature showing early ImageNet layers misalign with medical images</a:t>
            </a:r>
          </a:p>
          <a:p>
            <a:pPr algn="just">
              <a:lnSpc>
                <a:spcPts val="3253"/>
              </a:lnSpc>
              <a:spcBef>
                <a:spcPct val="0"/>
              </a:spcBef>
            </a:pPr>
          </a:p>
          <a:p>
            <a:pPr algn="just">
              <a:lnSpc>
                <a:spcPts val="3253"/>
              </a:lnSpc>
              <a:spcBef>
                <a:spcPct val="0"/>
              </a:spcBef>
            </a:pP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Training config (identical across all 3 models): AdamW | lr=0.001 | 75 epochs | patience=30 | batch=4 | imgsz=1024 | seed=0 | RTX 4060 Laptop GPU</a:t>
            </a:r>
          </a:p>
          <a:p>
            <a:pPr algn="just">
              <a:lnSpc>
                <a:spcPts val="325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804918"/>
            <a:ext cx="2705695" cy="76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4405" y="2142874"/>
            <a:ext cx="17143553" cy="695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5657" indent="-282829" lvl="1">
              <a:lnSpc>
                <a:spcPts val="3256"/>
              </a:lnSpc>
              <a:spcBef>
                <a:spcPct val="0"/>
              </a:spcBef>
              <a:buFont typeface="Arial"/>
              <a:buChar char="•"/>
            </a:pPr>
            <a:r>
              <a:rPr lang="en-US" sz="261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Establish a </a:t>
            </a:r>
            <a:r>
              <a:rPr lang="en-US" sz="261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YOLO26 Medical Benchmark Train and evaluate YOLO26-S on the RSNA Pneumonia Detection Challenge — the first published benchmark for this architecture in clinical chest X-ray analysis.</a:t>
            </a:r>
          </a:p>
          <a:p>
            <a:pPr algn="l" marL="565657" indent="-282829" lvl="1">
              <a:lnSpc>
                <a:spcPts val="3256"/>
              </a:lnSpc>
              <a:spcBef>
                <a:spcPct val="0"/>
              </a:spcBef>
              <a:buFont typeface="Arial"/>
              <a:buChar char="•"/>
            </a:pPr>
            <a:r>
              <a:rPr lang="en-US" sz="261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Evaluate Neck Modification Assess the effect of removing the P3 high-resolution upsampling branch from the neck on mAP@0.5, precision, recall, F1, and inference speed.</a:t>
            </a:r>
          </a:p>
          <a:p>
            <a:pPr algn="l" marL="565657" indent="-282829" lvl="1">
              <a:lnSpc>
                <a:spcPts val="3256"/>
              </a:lnSpc>
              <a:spcBef>
                <a:spcPct val="0"/>
              </a:spcBef>
              <a:buFont typeface="Arial"/>
              <a:buChar char="•"/>
            </a:pPr>
            <a:r>
              <a:rPr lang="en-US" sz="261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Evaluate Backbone Pruning Assess whether removing the early low-level C3k2 block at 160×160 resolution improves generalisation for diffuse opacity detection, motivated by transfer learning literature showing early ImageNet layers misalign with medical image features.</a:t>
            </a:r>
          </a:p>
          <a:p>
            <a:pPr algn="l" marL="565657" indent="-282829" lvl="1">
              <a:lnSpc>
                <a:spcPts val="3256"/>
              </a:lnSpc>
              <a:spcBef>
                <a:spcPct val="0"/>
              </a:spcBef>
              <a:buFont typeface="Arial"/>
              <a:buChar char="•"/>
            </a:pPr>
            <a:r>
              <a:rPr lang="en-US" sz="261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Accuracy–Efficiency Trade-off </a:t>
            </a:r>
            <a:r>
              <a:rPr lang="en-US" sz="261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Determine whether architectural pruning can simultaneously improve detection performance and reduce parameter count — validating a lightweight deployment-friendly strategy without sacrificing accuracy.</a:t>
            </a:r>
          </a:p>
          <a:p>
            <a:pPr algn="l" marL="565657" indent="-282829" lvl="1">
              <a:lnSpc>
                <a:spcPts val="3256"/>
              </a:lnSpc>
              <a:spcBef>
                <a:spcPct val="0"/>
              </a:spcBef>
              <a:buFont typeface="Arial"/>
              <a:buChar char="•"/>
            </a:pPr>
            <a:r>
              <a:rPr lang="en-US" sz="261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Contextualise Against Prior Work Position results within the established precision-recall range of 0.40–0.55 documented across prior pneumonia object detection literature and confirm whether YOLO26 meets, falls below, or exceeds this benchmark.</a:t>
            </a:r>
          </a:p>
          <a:p>
            <a:pPr algn="l" marL="565657" indent="-282829" lvl="1">
              <a:lnSpc>
                <a:spcPts val="3256"/>
              </a:lnSpc>
              <a:spcBef>
                <a:spcPct val="0"/>
              </a:spcBef>
              <a:buFont typeface="Arial"/>
              <a:buChar char="•"/>
            </a:pPr>
            <a:r>
              <a:rPr lang="en-US" sz="261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Ablation Study Validity Ensure all three variants are trained under identical conditions — same dataset, split, augmentation, optimizer, and hyperparameters — so that performance differences can be attributed solely to architectural changes.</a:t>
            </a:r>
          </a:p>
          <a:p>
            <a:pPr algn="l">
              <a:lnSpc>
                <a:spcPts val="325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560983" y="3086100"/>
          <a:ext cx="15417478" cy="5505450"/>
        </p:xfrm>
        <a:graphic>
          <a:graphicData uri="http://schemas.openxmlformats.org/drawingml/2006/table">
            <a:tbl>
              <a:tblPr/>
              <a:tblGrid>
                <a:gridCol w="3258046"/>
                <a:gridCol w="2066768"/>
                <a:gridCol w="2066768"/>
                <a:gridCol w="1556220"/>
                <a:gridCol w="2407133"/>
                <a:gridCol w="4062545"/>
              </a:tblGrid>
              <a:tr h="10262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Params (M)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FPS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mAP@0.5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Baseline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9.47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15.4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0.5080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0.4168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0.4119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Drop-Neck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8.71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12.6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0.4631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0.4324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0.4441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Drop-Backbone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8.61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13.3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0.5106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0.4594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0.4645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03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YOLOv7-x + ANS module + GPAdetect + EIOU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(from NSEC- YOLO paper)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76.5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163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0.431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0.477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1000125"/>
            <a:ext cx="2126456" cy="76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2"/>
              </a:lnSpc>
              <a:spcBef>
                <a:spcPct val="0"/>
              </a:spcBef>
            </a:pPr>
            <a:r>
              <a:rPr lang="en-US" b="true" sz="4875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Results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8658" y="516149"/>
            <a:ext cx="17315727" cy="557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54"/>
              </a:lnSpc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Key Findings</a:t>
            </a:r>
          </a:p>
          <a:p>
            <a:pPr algn="just" marL="555955" indent="-277977" lvl="1">
              <a:lnSpc>
                <a:spcPts val="4454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Drop-Backb</a:t>
            </a: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one achieves the best scores across all 5 primary metrics — mAP@0.5 = 0.4594, mAP@0.5:0.95 = 0.1768, Precision = 0.4645, Recall = 0.5106, F1 = 0.4865</a:t>
            </a:r>
          </a:p>
          <a:p>
            <a:pPr algn="just" marL="555955" indent="-277977" lvl="1">
              <a:lnSpc>
                <a:spcPts val="4454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+4.3% mAP@0.5 improvement over baseline with 9.1% fewer parameters — accuracy up, model size down</a:t>
            </a:r>
          </a:p>
          <a:p>
            <a:pPr algn="just" marL="555955" indent="-277977" lvl="1">
              <a:lnSpc>
                <a:spcPts val="4454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Drop-Neck improves mAP@0.5 and F1 over baseline but mAP@0.75 drops from 0.0929 to 0.0787 — removing P3 degrades tight localization under strict IoU</a:t>
            </a:r>
          </a:p>
          <a:p>
            <a:pPr algn="just" marL="555955" indent="-277977" lvl="1">
              <a:lnSpc>
                <a:spcPts val="4454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All models converged within ~15 epochs; validation loss bottomed out between epochs 20–25</a:t>
            </a:r>
          </a:p>
          <a:p>
            <a:pPr algn="just" marL="555955" indent="-277977" lvl="1">
              <a:lnSpc>
                <a:spcPts val="4454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Recall stabilises at 0.50–0.51 across all three variants — architectural changes primarily affected precision, not recall</a:t>
            </a:r>
          </a:p>
          <a:p>
            <a:pPr algn="just" marL="555955" indent="-277977" lvl="1">
              <a:lnSpc>
                <a:spcPts val="4454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Precision and Recall range of 0.41–0.51 consistent with published pneumonia object detection literature</a:t>
            </a:r>
          </a:p>
          <a:p>
            <a:pPr algn="just">
              <a:lnSpc>
                <a:spcPts val="445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08658" y="5725170"/>
            <a:ext cx="17315727" cy="4926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1"/>
              </a:lnSpc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Why Dr</a:t>
            </a: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op-Backbone Wins</a:t>
            </a:r>
          </a:p>
          <a:p>
            <a:pPr algn="l" marL="555955" indent="-277977" lvl="1">
              <a:lnSpc>
                <a:spcPts val="4351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Early C3k2 block at 160×160 resolution encodes low-level edges and textures — irrelevant for detecting diffuse pulmonary opacities</a:t>
            </a:r>
          </a:p>
          <a:p>
            <a:pPr algn="l" marL="555955" indent="-277977" lvl="1">
              <a:lnSpc>
                <a:spcPts val="4351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Early layers pretrained on ImageNet natural images conflict with chest X-ray feature distributions</a:t>
            </a:r>
          </a:p>
          <a:p>
            <a:pPr algn="l" marL="555955" indent="-277977" lvl="1">
              <a:lnSpc>
                <a:spcPts val="4351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Removing the block eliminates this domain mismatch — fewer randomly initialised layers adapt better to the medical domain</a:t>
            </a:r>
          </a:p>
          <a:p>
            <a:pPr algn="l" marL="555955" indent="-277977" lvl="1">
              <a:lnSpc>
                <a:spcPts val="4351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Consistent with transfer learning literature showing early frozen natural-image layers can hurt performance on medical imaging tasks</a:t>
            </a:r>
          </a:p>
          <a:p>
            <a:pPr algn="l">
              <a:lnSpc>
                <a:spcPts val="4351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65113"/>
            <a:ext cx="8987929" cy="76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2"/>
              </a:lnSpc>
              <a:spcBef>
                <a:spcPct val="0"/>
              </a:spcBef>
            </a:pPr>
            <a:r>
              <a:rPr lang="en-US" b="true" sz="4875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Conclusion and future Direction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04609" y="1430920"/>
            <a:ext cx="17151939" cy="939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075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Conclusion</a:t>
            </a:r>
          </a:p>
          <a:p>
            <a:pPr algn="l" marL="448008" indent="-224004" lvl="1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First benchmark of </a:t>
            </a: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YOLO26-S on the RSNA Pneumonia Detection Challenge dataset</a:t>
            </a:r>
          </a:p>
          <a:p>
            <a:pPr algn="l" marL="448008" indent="-224004" lvl="1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Drop-Backbone variant achieves mAP@0.5 = 0.4594 and F1 = 0.4865 with 9.1% fewer parameters than the full baseline</a:t>
            </a:r>
          </a:p>
          <a:p>
            <a:pPr algn="l" marL="448008" indent="-224004" lvl="1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Selective backbone pruning improves both accuracy and efficiency simultaneously — removing irrelevant early layers reduces domain conflict between ImageNet pretraining and chest X-ray features</a:t>
            </a:r>
          </a:p>
          <a:p>
            <a:pPr algn="l" marL="448008" indent="-224004" lvl="1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Drop-Neck offers a speed-accuracy tradeoff — faster inference but weaker tight localisation (mAP@0.75 drops)</a:t>
            </a:r>
          </a:p>
          <a:p>
            <a:pPr algn="l" marL="448008" indent="-224004" lvl="1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Precision and Recall of 0.41–0.51 align with the established range for pneumonia object detection in prior literature</a:t>
            </a:r>
          </a:p>
          <a:p>
            <a:pPr algn="l" marL="448008" indent="-224004" lvl="1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All three variants trained successfully on a consumer RTX 4060 Laptop GPU — confirming YOLO26-S is deployable without high-end hardware</a:t>
            </a:r>
          </a:p>
          <a:p>
            <a:pPr algn="l">
              <a:lnSpc>
                <a:spcPts val="3299"/>
              </a:lnSpc>
            </a:pPr>
          </a:p>
          <a:p>
            <a:pPr algn="l">
              <a:lnSpc>
                <a:spcPts val="3299"/>
              </a:lnSpc>
            </a:pPr>
            <a:r>
              <a:rPr lang="en-US" b="true" sz="2075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Future Direction</a:t>
            </a:r>
          </a:p>
          <a:p>
            <a:pPr algn="l" marL="448008" indent="-224004" lvl="1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Reduce image size from 1024 to 640 or 512 to significantly increase inference speed — at the cost of some mAP, acceptable for real-time screening scenarios</a:t>
            </a:r>
          </a:p>
          <a:p>
            <a:pPr algn="l" marL="448008" indent="-224004" lvl="1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Increase augmentation multiplier beyond 1 — more diverse training samples should improve recall on difficult low-contrast opacities</a:t>
            </a:r>
          </a:p>
          <a:p>
            <a:pPr algn="l" marL="448008" indent="-224004" lvl="1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Use chest X-ray specific pretrained weights instead of COCO — backbone initialised on medical images will better align features from the start</a:t>
            </a:r>
          </a:p>
          <a:p>
            <a:pPr algn="l" marL="448008" indent="-224004" lvl="1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Apply knowledge distillation from a larger YOLO26-M model into the pruned Drop-Backbone variant to recover any accuracy lost from random layer initialisation</a:t>
            </a:r>
          </a:p>
          <a:p>
            <a:pPr algn="l" marL="448008" indent="-224004" lvl="1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Cross-dataset validation on CheXpert or NIH ChestX-ray14 to test generalisation beyond RSNA</a:t>
            </a:r>
          </a:p>
          <a:p>
            <a:pPr algn="l" marL="448008" indent="-224004" lvl="1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Radiologist review of prediction outputs to assess clinical usability and validate that detected regions correspond to genuine pathological findings</a:t>
            </a:r>
          </a:p>
          <a:p>
            <a:pPr algn="l" marL="448008" indent="-224004" lvl="1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Increase training epochs with a higher patience value to allow full convergence — early stopping at epoch ~20 may have left marginal improvements on the table</a:t>
            </a:r>
          </a:p>
          <a:p>
            <a:pPr algn="l">
              <a:lnSpc>
                <a:spcPts val="3299"/>
              </a:lnSpc>
            </a:pPr>
          </a:p>
          <a:p>
            <a:pPr algn="l">
              <a:lnSpc>
                <a:spcPts val="3299"/>
              </a:lnSpc>
            </a:pPr>
          </a:p>
          <a:p>
            <a:pPr algn="l">
              <a:lnSpc>
                <a:spcPts val="329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65113"/>
            <a:ext cx="2624336" cy="76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2"/>
              </a:lnSpc>
              <a:spcBef>
                <a:spcPct val="0"/>
              </a:spcBef>
            </a:pPr>
            <a:r>
              <a:rPr lang="en-US" b="true" sz="4875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Outcome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301340"/>
            <a:ext cx="16390493" cy="747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7544" indent="-288772" lvl="1">
              <a:lnSpc>
                <a:spcPts val="5403"/>
              </a:lnSpc>
              <a:buFont typeface="Arial"/>
              <a:buChar char="•"/>
            </a:pPr>
            <a:r>
              <a:rPr lang="en-US" sz="26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Research paper titled "Architectural Pruning of </a:t>
            </a:r>
            <a:r>
              <a:rPr lang="en-US" sz="26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YOLO26-S for Pneumonia Detection: A Study on Backbone and Neck Modification" authored and completed</a:t>
            </a:r>
          </a:p>
          <a:p>
            <a:pPr algn="l" marL="577544" indent="-288772" lvl="1">
              <a:lnSpc>
                <a:spcPts val="5403"/>
              </a:lnSpc>
              <a:buFont typeface="Arial"/>
              <a:buChar char="•"/>
            </a:pPr>
            <a:r>
              <a:rPr lang="en-US" sz="26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Paper submitted to the International Journal of Computational Intelligence Systems (IJCIS)</a:t>
            </a:r>
          </a:p>
          <a:p>
            <a:pPr algn="l" marL="577544" indent="-288772" lvl="1">
              <a:lnSpc>
                <a:spcPts val="5403"/>
              </a:lnSpc>
              <a:buFont typeface="Arial"/>
              <a:buChar char="•"/>
            </a:pPr>
            <a:r>
              <a:rPr lang="en-US" sz="26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IJCIS is a peer-reviewed Springer journal indexed in Scopus and Web of Science — a recognised venue for computational intelligence and medical imaging research</a:t>
            </a:r>
          </a:p>
          <a:p>
            <a:pPr algn="l" marL="577544" indent="-288772" lvl="1">
              <a:lnSpc>
                <a:spcPts val="5403"/>
              </a:lnSpc>
              <a:buFont typeface="Arial"/>
              <a:buChar char="•"/>
            </a:pPr>
            <a:r>
              <a:rPr lang="en-US" sz="26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Establishes the first published benchmark for YOLO26 on a medical imaging dataset — filling a documented gap in literature</a:t>
            </a:r>
          </a:p>
          <a:p>
            <a:pPr algn="l" marL="577544" indent="-288772" lvl="1">
              <a:lnSpc>
                <a:spcPts val="5403"/>
              </a:lnSpc>
              <a:buFont typeface="Arial"/>
              <a:buChar char="•"/>
            </a:pPr>
            <a:r>
              <a:rPr lang="en-US" sz="26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Demonstrates that architectural ablation of YOLO26-S is viable and beneficial for domain-specific medical imaging tasks</a:t>
            </a:r>
          </a:p>
          <a:p>
            <a:pPr algn="l" marL="577544" indent="-288772" lvl="1">
              <a:lnSpc>
                <a:spcPts val="5403"/>
              </a:lnSpc>
              <a:buFont typeface="Arial"/>
              <a:buChar char="•"/>
            </a:pPr>
            <a:r>
              <a:rPr lang="en-US" sz="26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Produces a reproducible experimental pipeline — patient-level stratified splitting, CLAHE preprocessing, controlled augmentation, and identical training conditions across all variants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DAHBmZk-PKU</dc:identifier>
  <dcterms:modified xsi:type="dcterms:W3CDTF">2011-08-01T06:04:30Z</dcterms:modified>
  <cp:revision>1</cp:revision>
  <dc:title>Copy of Multimodal-Fusion-for-Plant-Disease-Detection.pptx</dc:title>
</cp:coreProperties>
</file>