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ptos" charset="1" panose="020B0004020202020204"/>
      <p:regular r:id="rId17"/>
    </p:embeddedFont>
    <p:embeddedFont>
      <p:font typeface="Aptos Bold" charset="1" panose="020B0004020202020204"/>
      <p:regular r:id="rId18"/>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notesSlides/notesSlide9.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1313" y="3556590"/>
            <a:ext cx="13716000" cy="4156524"/>
            <a:chOff x="0" y="0"/>
            <a:chExt cx="18288000" cy="5542032"/>
          </a:xfrm>
        </p:grpSpPr>
        <p:sp>
          <p:nvSpPr>
            <p:cNvPr name="Freeform 3" id="3"/>
            <p:cNvSpPr/>
            <p:nvPr/>
          </p:nvSpPr>
          <p:spPr>
            <a:xfrm flipH="false" flipV="false" rot="0">
              <a:off x="0" y="0"/>
              <a:ext cx="18288000" cy="5542032"/>
            </a:xfrm>
            <a:custGeom>
              <a:avLst/>
              <a:gdLst/>
              <a:ahLst/>
              <a:cxnLst/>
              <a:rect r="r" b="b" t="t" l="l"/>
              <a:pathLst>
                <a:path h="5542032" w="18288000">
                  <a:moveTo>
                    <a:pt x="0" y="0"/>
                  </a:moveTo>
                  <a:lnTo>
                    <a:pt x="18288000" y="0"/>
                  </a:lnTo>
                  <a:lnTo>
                    <a:pt x="18288000" y="5542032"/>
                  </a:lnTo>
                  <a:lnTo>
                    <a:pt x="0" y="5542032"/>
                  </a:lnTo>
                  <a:close/>
                </a:path>
              </a:pathLst>
            </a:custGeom>
          </p:spPr>
        </p:sp>
        <p:sp>
          <p:nvSpPr>
            <p:cNvPr name="TextBox 4" id="4"/>
            <p:cNvSpPr txBox="true"/>
            <p:nvPr/>
          </p:nvSpPr>
          <p:spPr>
            <a:xfrm>
              <a:off x="0" y="104775"/>
              <a:ext cx="18288000" cy="5437257"/>
            </a:xfrm>
            <a:prstGeom prst="rect">
              <a:avLst/>
            </a:prstGeom>
          </p:spPr>
          <p:txBody>
            <a:bodyPr anchor="b" rtlCol="false" tIns="0" lIns="0" bIns="0" rIns="0"/>
            <a:lstStyle/>
            <a:p>
              <a:pPr algn="ctr">
                <a:lnSpc>
                  <a:spcPts val="9720"/>
                </a:lnSpc>
              </a:pPr>
              <a:r>
                <a:rPr lang="en-US" sz="9000">
                  <a:solidFill>
                    <a:srgbClr val="000000"/>
                  </a:solidFill>
                  <a:latin typeface="Aptos"/>
                  <a:ea typeface="Aptos"/>
                  <a:cs typeface="Aptos"/>
                  <a:sym typeface="Aptos"/>
                </a:rPr>
                <a:t>Review of Multimodal Fusions in C</a:t>
              </a:r>
              <a:r>
                <a:rPr lang="en-US" sz="9000">
                  <a:solidFill>
                    <a:srgbClr val="000000"/>
                  </a:solidFill>
                  <a:latin typeface="Aptos"/>
                  <a:ea typeface="Aptos"/>
                  <a:cs typeface="Aptos"/>
                  <a:sym typeface="Aptos"/>
                </a:rPr>
                <a:t>rop Disease Detection</a:t>
              </a:r>
            </a:p>
          </p:txBody>
        </p:sp>
      </p:grpSp>
      <p:sp>
        <p:nvSpPr>
          <p:cNvPr name="TextBox 5" id="5"/>
          <p:cNvSpPr txBox="true"/>
          <p:nvPr/>
        </p:nvSpPr>
        <p:spPr>
          <a:xfrm rot="0">
            <a:off x="1707556" y="7429811"/>
            <a:ext cx="4676200" cy="1464564"/>
          </a:xfrm>
          <a:prstGeom prst="rect">
            <a:avLst/>
          </a:prstGeom>
        </p:spPr>
        <p:txBody>
          <a:bodyPr anchor="t" rtlCol="false" tIns="0" lIns="0" bIns="0" rIns="0">
            <a:spAutoFit/>
          </a:bodyPr>
          <a:lstStyle/>
          <a:p>
            <a:pPr algn="ctr">
              <a:lnSpc>
                <a:spcPts val="3888"/>
              </a:lnSpc>
            </a:pPr>
            <a:r>
              <a:rPr lang="en-US" sz="3600">
                <a:solidFill>
                  <a:srgbClr val="000000"/>
                </a:solidFill>
                <a:latin typeface="Aptos"/>
                <a:ea typeface="Aptos"/>
                <a:cs typeface="Aptos"/>
                <a:sym typeface="Aptos"/>
              </a:rPr>
              <a:t>Submitted By:</a:t>
            </a:r>
          </a:p>
          <a:p>
            <a:pPr algn="ctr">
              <a:lnSpc>
                <a:spcPts val="3888"/>
              </a:lnSpc>
            </a:pPr>
            <a:r>
              <a:rPr lang="en-US" sz="3600">
                <a:solidFill>
                  <a:srgbClr val="000000"/>
                </a:solidFill>
                <a:latin typeface="Aptos"/>
                <a:ea typeface="Aptos"/>
                <a:cs typeface="Aptos"/>
                <a:sym typeface="Aptos"/>
              </a:rPr>
              <a:t>Chaitanya Yadav</a:t>
            </a:r>
          </a:p>
          <a:p>
            <a:pPr algn="ctr">
              <a:lnSpc>
                <a:spcPts val="3888"/>
              </a:lnSpc>
            </a:pPr>
            <a:r>
              <a:rPr lang="en-US" sz="3600">
                <a:solidFill>
                  <a:srgbClr val="000000"/>
                </a:solidFill>
                <a:latin typeface="Aptos"/>
                <a:ea typeface="Aptos"/>
                <a:cs typeface="Aptos"/>
                <a:sym typeface="Aptos"/>
              </a:rPr>
              <a:t>23FE10CSE00409</a:t>
            </a:r>
          </a:p>
        </p:txBody>
      </p:sp>
      <p:sp>
        <p:nvSpPr>
          <p:cNvPr name="TextBox 6" id="6"/>
          <p:cNvSpPr txBox="true"/>
          <p:nvPr/>
        </p:nvSpPr>
        <p:spPr>
          <a:xfrm rot="0">
            <a:off x="11904244" y="7419172"/>
            <a:ext cx="4676199" cy="978789"/>
          </a:xfrm>
          <a:prstGeom prst="rect">
            <a:avLst/>
          </a:prstGeom>
        </p:spPr>
        <p:txBody>
          <a:bodyPr anchor="t" rtlCol="false" tIns="0" lIns="0" bIns="0" rIns="0">
            <a:spAutoFit/>
          </a:bodyPr>
          <a:lstStyle/>
          <a:p>
            <a:pPr algn="ctr">
              <a:lnSpc>
                <a:spcPts val="3888"/>
              </a:lnSpc>
            </a:pPr>
            <a:r>
              <a:rPr lang="en-US" sz="3600">
                <a:solidFill>
                  <a:srgbClr val="000000"/>
                </a:solidFill>
                <a:latin typeface="Aptos"/>
                <a:ea typeface="Aptos"/>
                <a:cs typeface="Aptos"/>
                <a:sym typeface="Aptos"/>
              </a:rPr>
              <a:t>Supervised By:</a:t>
            </a:r>
          </a:p>
          <a:p>
            <a:pPr algn="ctr">
              <a:lnSpc>
                <a:spcPts val="3888"/>
              </a:lnSpc>
            </a:pPr>
            <a:r>
              <a:rPr lang="en-US" sz="3600">
                <a:solidFill>
                  <a:srgbClr val="000000"/>
                </a:solidFill>
                <a:latin typeface="Aptos"/>
                <a:ea typeface="Aptos"/>
                <a:cs typeface="Aptos"/>
                <a:sym typeface="Aptos"/>
              </a:rPr>
              <a:t>Ms. Babita Tiwari</a:t>
            </a:r>
          </a:p>
        </p:txBody>
      </p:sp>
      <p:grpSp>
        <p:nvGrpSpPr>
          <p:cNvPr name="Group 7" id="7"/>
          <p:cNvGrpSpPr/>
          <p:nvPr/>
        </p:nvGrpSpPr>
        <p:grpSpPr>
          <a:xfrm rot="0">
            <a:off x="151134" y="54058"/>
            <a:ext cx="6261058" cy="1834118"/>
            <a:chOff x="0" y="0"/>
            <a:chExt cx="8348078" cy="2445490"/>
          </a:xfrm>
        </p:grpSpPr>
        <p:sp>
          <p:nvSpPr>
            <p:cNvPr name="Freeform 8" id="8" descr="A black and white text  AI-generated content may be incorrect."/>
            <p:cNvSpPr/>
            <p:nvPr/>
          </p:nvSpPr>
          <p:spPr>
            <a:xfrm flipH="false" flipV="false" rot="0">
              <a:off x="0" y="0"/>
              <a:ext cx="8348091" cy="2445512"/>
            </a:xfrm>
            <a:custGeom>
              <a:avLst/>
              <a:gdLst/>
              <a:ahLst/>
              <a:cxnLst/>
              <a:rect r="r" b="b" t="t" l="l"/>
              <a:pathLst>
                <a:path h="2445512" w="8348091">
                  <a:moveTo>
                    <a:pt x="0" y="0"/>
                  </a:moveTo>
                  <a:lnTo>
                    <a:pt x="8348091" y="0"/>
                  </a:lnTo>
                  <a:lnTo>
                    <a:pt x="8348091" y="2445512"/>
                  </a:lnTo>
                  <a:lnTo>
                    <a:pt x="0" y="2445512"/>
                  </a:lnTo>
                  <a:lnTo>
                    <a:pt x="0" y="0"/>
                  </a:lnTo>
                  <a:close/>
                </a:path>
              </a:pathLst>
            </a:custGeom>
            <a:blipFill>
              <a:blip r:embed="rId2"/>
              <a:stretch>
                <a:fillRect l="0" t="0" r="0" b="0"/>
              </a:stretch>
            </a:blipFill>
          </p:spPr>
        </p:sp>
      </p:grpSp>
      <p:grpSp>
        <p:nvGrpSpPr>
          <p:cNvPr name="Group 9" id="9"/>
          <p:cNvGrpSpPr/>
          <p:nvPr/>
        </p:nvGrpSpPr>
        <p:grpSpPr>
          <a:xfrm rot="0">
            <a:off x="2291313" y="1888176"/>
            <a:ext cx="13716000" cy="1668414"/>
            <a:chOff x="0" y="0"/>
            <a:chExt cx="18288000" cy="2224552"/>
          </a:xfrm>
        </p:grpSpPr>
        <p:sp>
          <p:nvSpPr>
            <p:cNvPr name="Freeform 10" id="10"/>
            <p:cNvSpPr/>
            <p:nvPr/>
          </p:nvSpPr>
          <p:spPr>
            <a:xfrm flipH="false" flipV="false" rot="0">
              <a:off x="0" y="0"/>
              <a:ext cx="18288000" cy="2224552"/>
            </a:xfrm>
            <a:custGeom>
              <a:avLst/>
              <a:gdLst/>
              <a:ahLst/>
              <a:cxnLst/>
              <a:rect r="r" b="b" t="t" l="l"/>
              <a:pathLst>
                <a:path h="2224552" w="18288000">
                  <a:moveTo>
                    <a:pt x="0" y="0"/>
                  </a:moveTo>
                  <a:lnTo>
                    <a:pt x="18288000" y="0"/>
                  </a:lnTo>
                  <a:lnTo>
                    <a:pt x="18288000" y="2224552"/>
                  </a:lnTo>
                  <a:lnTo>
                    <a:pt x="0" y="2224552"/>
                  </a:lnTo>
                  <a:close/>
                </a:path>
              </a:pathLst>
            </a:custGeom>
          </p:spPr>
        </p:sp>
        <p:sp>
          <p:nvSpPr>
            <p:cNvPr name="TextBox 11" id="11"/>
            <p:cNvSpPr txBox="true"/>
            <p:nvPr/>
          </p:nvSpPr>
          <p:spPr>
            <a:xfrm>
              <a:off x="0" y="-85725"/>
              <a:ext cx="18288000" cy="2310277"/>
            </a:xfrm>
            <a:prstGeom prst="rect">
              <a:avLst/>
            </a:prstGeom>
          </p:spPr>
          <p:txBody>
            <a:bodyPr anchor="b" rtlCol="false" tIns="0" lIns="0" bIns="0" rIns="0"/>
            <a:lstStyle/>
            <a:p>
              <a:pPr algn="ctr">
                <a:lnSpc>
                  <a:spcPts val="5594"/>
                </a:lnSpc>
              </a:pPr>
              <a:r>
                <a:rPr lang="en-US" sz="3885" b="true">
                  <a:solidFill>
                    <a:srgbClr val="000000"/>
                  </a:solidFill>
                  <a:latin typeface="Aptos Bold"/>
                  <a:ea typeface="Aptos Bold"/>
                  <a:cs typeface="Aptos Bold"/>
                  <a:sym typeface="Aptos Bold"/>
                </a:rPr>
                <a:t>School of Computer Science and Engineering</a:t>
              </a:r>
            </a:p>
            <a:p>
              <a:pPr algn="ctr">
                <a:lnSpc>
                  <a:spcPts val="5594"/>
                </a:lnSpc>
              </a:pPr>
              <a:r>
                <a:rPr lang="en-US" sz="3885" b="true">
                  <a:solidFill>
                    <a:srgbClr val="000000"/>
                  </a:solidFill>
                  <a:latin typeface="Aptos Bold"/>
                  <a:ea typeface="Aptos Bold"/>
                  <a:cs typeface="Aptos Bold"/>
                  <a:sym typeface="Aptos Bold"/>
                </a:rPr>
                <a:t>Department of Computer Science and Engineering</a:t>
              </a: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p:spPr>
        </p:sp>
        <p:sp>
          <p:nvSpPr>
            <p:cNvPr name="TextBox 4" id="4"/>
            <p:cNvSpPr txBox="true"/>
            <p:nvPr/>
          </p:nvSpPr>
          <p:spPr>
            <a:xfrm>
              <a:off x="0" y="66675"/>
              <a:ext cx="21031200" cy="2584451"/>
            </a:xfrm>
            <a:prstGeom prst="rect">
              <a:avLst/>
            </a:prstGeom>
          </p:spPr>
          <p:txBody>
            <a:bodyPr anchor="ctr" rtlCol="false" tIns="0" lIns="0" bIns="0" rIns="0"/>
            <a:lstStyle/>
            <a:p>
              <a:pPr algn="l">
                <a:lnSpc>
                  <a:spcPts val="7128"/>
                </a:lnSpc>
              </a:pPr>
              <a:r>
                <a:rPr lang="en-US" sz="6600">
                  <a:solidFill>
                    <a:srgbClr val="000000"/>
                  </a:solidFill>
                  <a:latin typeface="Aptos"/>
                  <a:ea typeface="Aptos"/>
                  <a:cs typeface="Aptos"/>
                  <a:sym typeface="Aptos"/>
                </a:rPr>
                <a:t>Outline</a:t>
              </a:r>
            </a:p>
          </p:txBody>
        </p:sp>
      </p:grpSp>
      <p:sp>
        <p:nvSpPr>
          <p:cNvPr name="TextBox 5" id="5"/>
          <p:cNvSpPr txBox="true"/>
          <p:nvPr/>
        </p:nvSpPr>
        <p:spPr>
          <a:xfrm rot="0">
            <a:off x="1348740" y="2831783"/>
            <a:ext cx="15590520" cy="4016883"/>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0000"/>
                </a:solidFill>
                <a:latin typeface="Aptos"/>
                <a:ea typeface="Aptos"/>
                <a:cs typeface="Aptos"/>
                <a:sym typeface="Aptos"/>
              </a:rPr>
              <a:t>Introduction</a:t>
            </a:r>
          </a:p>
          <a:p>
            <a:pPr algn="l" marL="760095" indent="-380048" lvl="1">
              <a:lnSpc>
                <a:spcPts val="4536"/>
              </a:lnSpc>
              <a:buFont typeface="Arial"/>
              <a:buChar char="•"/>
            </a:pPr>
            <a:r>
              <a:rPr lang="en-US" sz="4200">
                <a:solidFill>
                  <a:srgbClr val="000000"/>
                </a:solidFill>
                <a:latin typeface="Aptos"/>
                <a:ea typeface="Aptos"/>
                <a:cs typeface="Aptos"/>
                <a:sym typeface="Aptos"/>
              </a:rPr>
              <a:t>Literature Review</a:t>
            </a:r>
          </a:p>
          <a:p>
            <a:pPr algn="l" marL="760095" indent="-380048" lvl="1">
              <a:lnSpc>
                <a:spcPts val="4536"/>
              </a:lnSpc>
              <a:buFont typeface="Arial"/>
              <a:buChar char="•"/>
            </a:pPr>
            <a:r>
              <a:rPr lang="en-US" sz="4200">
                <a:solidFill>
                  <a:srgbClr val="000000"/>
                </a:solidFill>
                <a:latin typeface="Aptos"/>
                <a:ea typeface="Aptos"/>
                <a:cs typeface="Aptos"/>
                <a:sym typeface="Aptos"/>
              </a:rPr>
              <a:t>Problem Statement</a:t>
            </a:r>
          </a:p>
          <a:p>
            <a:pPr algn="l" marL="760095" indent="-380048" lvl="1">
              <a:lnSpc>
                <a:spcPts val="4536"/>
              </a:lnSpc>
              <a:buFont typeface="Arial"/>
              <a:buChar char="•"/>
            </a:pPr>
            <a:r>
              <a:rPr lang="en-US" sz="4200">
                <a:solidFill>
                  <a:srgbClr val="000000"/>
                </a:solidFill>
                <a:latin typeface="Aptos"/>
                <a:ea typeface="Aptos"/>
                <a:cs typeface="Aptos"/>
                <a:sym typeface="Aptos"/>
              </a:rPr>
              <a:t>Proposed Solution</a:t>
            </a:r>
          </a:p>
          <a:p>
            <a:pPr algn="l" marL="760095" indent="-380048" lvl="1">
              <a:lnSpc>
                <a:spcPts val="4536"/>
              </a:lnSpc>
              <a:buFont typeface="Arial"/>
              <a:buChar char="•"/>
            </a:pPr>
            <a:r>
              <a:rPr lang="en-US" sz="4200">
                <a:solidFill>
                  <a:srgbClr val="000000"/>
                </a:solidFill>
                <a:latin typeface="Aptos"/>
                <a:ea typeface="Aptos"/>
                <a:cs typeface="Aptos"/>
                <a:sym typeface="Aptos"/>
              </a:rPr>
              <a:t>Objectives</a:t>
            </a:r>
          </a:p>
          <a:p>
            <a:pPr algn="l" marL="760095" indent="-380048" lvl="1">
              <a:lnSpc>
                <a:spcPts val="4536"/>
              </a:lnSpc>
              <a:buFont typeface="Arial"/>
              <a:buChar char="•"/>
            </a:pPr>
            <a:r>
              <a:rPr lang="en-US" sz="4200">
                <a:solidFill>
                  <a:srgbClr val="000000"/>
                </a:solidFill>
                <a:latin typeface="Aptos"/>
                <a:ea typeface="Aptos"/>
                <a:cs typeface="Aptos"/>
                <a:sym typeface="Aptos"/>
              </a:rPr>
              <a:t>Results</a:t>
            </a:r>
          </a:p>
          <a:p>
            <a:pPr algn="l" marL="760095" indent="-380048" lvl="1">
              <a:lnSpc>
                <a:spcPts val="4536"/>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38763" y="1166163"/>
            <a:ext cx="14833402"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Introduction –</a:t>
            </a:r>
            <a:r>
              <a:rPr lang="en-US" sz="4875" b="true">
                <a:solidFill>
                  <a:srgbClr val="000000"/>
                </a:solidFill>
                <a:latin typeface="Aptos Bold"/>
                <a:ea typeface="Aptos Bold"/>
                <a:cs typeface="Aptos Bold"/>
                <a:sym typeface="Aptos Bold"/>
              </a:rPr>
              <a:t> Importance of Crop Disease Detection</a:t>
            </a:r>
          </a:p>
        </p:txBody>
      </p:sp>
      <p:sp>
        <p:nvSpPr>
          <p:cNvPr name="TextBox 7" id="7"/>
          <p:cNvSpPr txBox="true"/>
          <p:nvPr/>
        </p:nvSpPr>
        <p:spPr>
          <a:xfrm rot="0">
            <a:off x="838763" y="2876362"/>
            <a:ext cx="16976203" cy="7311771"/>
          </a:xfrm>
          <a:prstGeom prst="rect">
            <a:avLst/>
          </a:prstGeom>
        </p:spPr>
        <p:txBody>
          <a:bodyPr anchor="t" rtlCol="false" tIns="0" lIns="0" bIns="0" rIns="0">
            <a:spAutoFit/>
          </a:bodyPr>
          <a:lstStyle/>
          <a:p>
            <a:pPr algn="l">
              <a:lnSpc>
                <a:spcPts val="3612"/>
              </a:lnSpc>
            </a:pPr>
            <a:r>
              <a:rPr lang="en-US" b="true" sz="2800">
                <a:solidFill>
                  <a:srgbClr val="000000"/>
                </a:solidFill>
                <a:latin typeface="Aptos Bold"/>
                <a:ea typeface="Aptos Bold"/>
                <a:cs typeface="Aptos Bold"/>
                <a:sym typeface="Aptos Bold"/>
              </a:rPr>
              <a:t>Agriculture and Global F</a:t>
            </a:r>
            <a:r>
              <a:rPr lang="en-US" b="true" sz="2800">
                <a:solidFill>
                  <a:srgbClr val="000000"/>
                </a:solidFill>
                <a:latin typeface="Aptos Bold"/>
                <a:ea typeface="Aptos Bold"/>
                <a:cs typeface="Aptos Bold"/>
                <a:sym typeface="Aptos Bold"/>
              </a:rPr>
              <a:t>ood Security</a:t>
            </a:r>
          </a:p>
          <a:p>
            <a:pPr algn="l" marL="604528" indent="-302264" lvl="1">
              <a:lnSpc>
                <a:spcPts val="3612"/>
              </a:lnSpc>
              <a:buFont typeface="Arial"/>
              <a:buChar char="•"/>
            </a:pPr>
            <a:r>
              <a:rPr lang="en-US" sz="2800">
                <a:solidFill>
                  <a:srgbClr val="000000"/>
                </a:solidFill>
                <a:latin typeface="Aptos"/>
                <a:ea typeface="Aptos"/>
                <a:cs typeface="Aptos"/>
                <a:sym typeface="Aptos"/>
              </a:rPr>
              <a:t>Agriculture is a fundamental pillar of the global economy and human survival.</a:t>
            </a:r>
          </a:p>
          <a:p>
            <a:pPr algn="l" marL="604528" indent="-302264" lvl="1">
              <a:lnSpc>
                <a:spcPts val="3612"/>
              </a:lnSpc>
              <a:buFont typeface="Arial"/>
              <a:buChar char="•"/>
            </a:pPr>
            <a:r>
              <a:rPr lang="en-US" sz="2800">
                <a:solidFill>
                  <a:srgbClr val="000000"/>
                </a:solidFill>
                <a:latin typeface="Aptos"/>
                <a:ea typeface="Aptos"/>
                <a:cs typeface="Aptos"/>
                <a:sym typeface="Aptos"/>
              </a:rPr>
              <a:t>Crop diseases cause significant losses in global food production (≈ 20–40%).</a:t>
            </a:r>
          </a:p>
          <a:p>
            <a:pPr algn="l" marL="604528" indent="-302264" lvl="1">
              <a:lnSpc>
                <a:spcPts val="3612"/>
              </a:lnSpc>
              <a:buFont typeface="Arial"/>
              <a:buChar char="•"/>
            </a:pPr>
            <a:r>
              <a:rPr lang="en-US" sz="2800">
                <a:solidFill>
                  <a:srgbClr val="000000"/>
                </a:solidFill>
                <a:latin typeface="Aptos"/>
                <a:ea typeface="Aptos"/>
                <a:cs typeface="Aptos"/>
                <a:sym typeface="Aptos"/>
              </a:rPr>
              <a:t>Early and accurate disease detection is essential for sustainable farming and yield improvement.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Traditional Disease Detection Methods</a:t>
            </a:r>
          </a:p>
          <a:p>
            <a:pPr algn="l" marL="604528" indent="-302264" lvl="1">
              <a:lnSpc>
                <a:spcPts val="3612"/>
              </a:lnSpc>
              <a:buFont typeface="Arial"/>
              <a:buChar char="•"/>
            </a:pPr>
            <a:r>
              <a:rPr lang="en-US" sz="2800">
                <a:solidFill>
                  <a:srgbClr val="000000"/>
                </a:solidFill>
                <a:latin typeface="Aptos"/>
                <a:ea typeface="Aptos"/>
                <a:cs typeface="Aptos"/>
                <a:sym typeface="Aptos"/>
              </a:rPr>
              <a:t>Historically based on manual visual inspection by farmers and experts</a:t>
            </a:r>
          </a:p>
          <a:p>
            <a:pPr algn="l" marL="604528" indent="-302264" lvl="1">
              <a:lnSpc>
                <a:spcPts val="3612"/>
              </a:lnSpc>
              <a:buFont typeface="Arial"/>
              <a:buChar char="•"/>
            </a:pPr>
            <a:r>
              <a:rPr lang="en-US" sz="2800">
                <a:solidFill>
                  <a:srgbClr val="000000"/>
                </a:solidFill>
                <a:latin typeface="Aptos"/>
                <a:ea typeface="Aptos"/>
                <a:cs typeface="Aptos"/>
                <a:sym typeface="Aptos"/>
              </a:rPr>
              <a:t>Identification through visible symptoms like leaf spots, discoloration, and lesions</a:t>
            </a:r>
          </a:p>
          <a:p>
            <a:pPr algn="l" marL="604528" indent="-302264" lvl="1">
              <a:lnSpc>
                <a:spcPts val="3612"/>
              </a:lnSpc>
              <a:buFont typeface="Arial"/>
              <a:buChar char="•"/>
            </a:pPr>
            <a:r>
              <a:rPr lang="en-US" sz="2800">
                <a:solidFill>
                  <a:srgbClr val="000000"/>
                </a:solidFill>
                <a:latin typeface="Aptos"/>
                <a:ea typeface="Aptos"/>
                <a:cs typeface="Aptos"/>
                <a:sym typeface="Aptos"/>
              </a:rPr>
              <a:t>Common in many regions but highly dependent on human expertise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Limitations of Manual Approaches</a:t>
            </a:r>
          </a:p>
          <a:p>
            <a:pPr algn="l" marL="604528" indent="-302264" lvl="1">
              <a:lnSpc>
                <a:spcPts val="3612"/>
              </a:lnSpc>
              <a:buFont typeface="Arial"/>
              <a:buChar char="•"/>
            </a:pPr>
            <a:r>
              <a:rPr lang="en-US" sz="2800">
                <a:solidFill>
                  <a:srgbClr val="000000"/>
                </a:solidFill>
                <a:latin typeface="Aptos"/>
                <a:ea typeface="Aptos"/>
                <a:cs typeface="Aptos"/>
                <a:sym typeface="Aptos"/>
              </a:rPr>
              <a:t>Time-consuming and labor-intensive</a:t>
            </a:r>
          </a:p>
          <a:p>
            <a:pPr algn="l" marL="604528" indent="-302264" lvl="1">
              <a:lnSpc>
                <a:spcPts val="3612"/>
              </a:lnSpc>
              <a:buFont typeface="Arial"/>
              <a:buChar char="•"/>
            </a:pPr>
            <a:r>
              <a:rPr lang="en-US" sz="2800">
                <a:solidFill>
                  <a:srgbClr val="000000"/>
                </a:solidFill>
                <a:latin typeface="Aptos"/>
                <a:ea typeface="Aptos"/>
                <a:cs typeface="Aptos"/>
                <a:sym typeface="Aptos"/>
              </a:rPr>
              <a:t>Prone to human error and late-stage diagnosis</a:t>
            </a:r>
          </a:p>
          <a:p>
            <a:pPr algn="l" marL="604528" indent="-302264" lvl="1">
              <a:lnSpc>
                <a:spcPts val="3612"/>
              </a:lnSpc>
              <a:buFont typeface="Arial"/>
              <a:buChar char="•"/>
            </a:pPr>
            <a:r>
              <a:rPr lang="en-US" sz="2800">
                <a:solidFill>
                  <a:srgbClr val="000000"/>
                </a:solidFill>
                <a:latin typeface="Aptos"/>
                <a:ea typeface="Aptos"/>
                <a:cs typeface="Aptos"/>
                <a:sym typeface="Aptos"/>
              </a:rPr>
              <a:t>Difficult to scale for large agricultural fields</a:t>
            </a:r>
          </a:p>
          <a:p>
            <a:pPr algn="l">
              <a:lnSpc>
                <a:spcPts val="3612"/>
              </a:lnSpc>
            </a:pPr>
          </a:p>
          <a:p>
            <a:pPr algn="l">
              <a:lnSpc>
                <a:spcPts val="3612"/>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2119695" y="1000125"/>
            <a:ext cx="13314562"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Shift Toward</a:t>
            </a:r>
            <a:r>
              <a:rPr lang="en-US" sz="4875" b="true">
                <a:solidFill>
                  <a:srgbClr val="000000"/>
                </a:solidFill>
                <a:latin typeface="Aptos Bold"/>
                <a:ea typeface="Aptos Bold"/>
                <a:cs typeface="Aptos Bold"/>
                <a:sym typeface="Aptos Bold"/>
              </a:rPr>
              <a:t> AI and Need for Multimodal Fusion</a:t>
            </a:r>
          </a:p>
        </p:txBody>
      </p:sp>
      <p:sp>
        <p:nvSpPr>
          <p:cNvPr name="TextBox 7" id="7"/>
          <p:cNvSpPr txBox="true"/>
          <p:nvPr/>
        </p:nvSpPr>
        <p:spPr>
          <a:xfrm rot="0">
            <a:off x="655899" y="2876362"/>
            <a:ext cx="16976203" cy="6854571"/>
          </a:xfrm>
          <a:prstGeom prst="rect">
            <a:avLst/>
          </a:prstGeom>
        </p:spPr>
        <p:txBody>
          <a:bodyPr anchor="t" rtlCol="false" tIns="0" lIns="0" bIns="0" rIns="0">
            <a:spAutoFit/>
          </a:bodyPr>
          <a:lstStyle/>
          <a:p>
            <a:pPr algn="l">
              <a:lnSpc>
                <a:spcPts val="3612"/>
              </a:lnSpc>
            </a:pPr>
            <a:r>
              <a:rPr lang="en-US" b="true" sz="2800">
                <a:solidFill>
                  <a:srgbClr val="000000"/>
                </a:solidFill>
                <a:latin typeface="Aptos Bold"/>
                <a:ea typeface="Aptos Bold"/>
                <a:cs typeface="Aptos Bold"/>
                <a:sym typeface="Aptos Bold"/>
              </a:rPr>
              <a:t>Emergence of Machine Learning &amp; Deep</a:t>
            </a:r>
            <a:r>
              <a:rPr lang="en-US" b="true" sz="2800">
                <a:solidFill>
                  <a:srgbClr val="000000"/>
                </a:solidFill>
                <a:latin typeface="Aptos Bold"/>
                <a:ea typeface="Aptos Bold"/>
                <a:cs typeface="Aptos Bold"/>
                <a:sym typeface="Aptos Bold"/>
              </a:rPr>
              <a:t> Learning</a:t>
            </a:r>
          </a:p>
          <a:p>
            <a:pPr algn="l" marL="604528" indent="-302264" lvl="1">
              <a:lnSpc>
                <a:spcPts val="3612"/>
              </a:lnSpc>
              <a:buFont typeface="Arial"/>
              <a:buChar char="•"/>
            </a:pPr>
            <a:r>
              <a:rPr lang="en-US" sz="2800">
                <a:solidFill>
                  <a:srgbClr val="000000"/>
                </a:solidFill>
                <a:latin typeface="Aptos"/>
                <a:ea typeface="Aptos"/>
                <a:cs typeface="Aptos"/>
                <a:sym typeface="Aptos"/>
              </a:rPr>
              <a:t>ML mode</a:t>
            </a:r>
            <a:r>
              <a:rPr lang="en-US" sz="2800">
                <a:solidFill>
                  <a:srgbClr val="000000"/>
                </a:solidFill>
                <a:latin typeface="Aptos"/>
                <a:ea typeface="Aptos"/>
                <a:cs typeface="Aptos"/>
                <a:sym typeface="Aptos"/>
              </a:rPr>
              <a:t>ls like SVM, KNN, and Random Forest enabled automated disease detection</a:t>
            </a:r>
          </a:p>
          <a:p>
            <a:pPr algn="l" marL="604528" indent="-302264" lvl="1">
              <a:lnSpc>
                <a:spcPts val="3612"/>
              </a:lnSpc>
              <a:buFont typeface="Arial"/>
              <a:buChar char="•"/>
            </a:pPr>
            <a:r>
              <a:rPr lang="en-US" sz="2800">
                <a:solidFill>
                  <a:srgbClr val="000000"/>
                </a:solidFill>
                <a:latin typeface="Aptos"/>
                <a:ea typeface="Aptos"/>
                <a:cs typeface="Aptos"/>
                <a:sym typeface="Aptos"/>
              </a:rPr>
              <a:t>Deep Learning, especially CNNs, revolutionized image-based plant disease analysis</a:t>
            </a:r>
          </a:p>
          <a:p>
            <a:pPr algn="l" marL="604528" indent="-302264" lvl="1">
              <a:lnSpc>
                <a:spcPts val="3612"/>
              </a:lnSpc>
              <a:buFont typeface="Arial"/>
              <a:buChar char="•"/>
            </a:pPr>
            <a:r>
              <a:rPr lang="en-US" sz="2800">
                <a:solidFill>
                  <a:srgbClr val="000000"/>
                </a:solidFill>
                <a:latin typeface="Aptos"/>
                <a:ea typeface="Aptos"/>
                <a:cs typeface="Aptos"/>
                <a:sym typeface="Aptos"/>
              </a:rPr>
              <a:t>Ability to extract complex visual features automatically from plant images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Limitations of Existing Deep Learning Systems</a:t>
            </a:r>
          </a:p>
          <a:p>
            <a:pPr algn="l" marL="604528" indent="-302264" lvl="1">
              <a:lnSpc>
                <a:spcPts val="3612"/>
              </a:lnSpc>
              <a:buFont typeface="Arial"/>
              <a:buChar char="•"/>
            </a:pPr>
            <a:r>
              <a:rPr lang="en-US" sz="2800">
                <a:solidFill>
                  <a:srgbClr val="000000"/>
                </a:solidFill>
                <a:latin typeface="Aptos"/>
                <a:ea typeface="Aptos"/>
                <a:cs typeface="Aptos"/>
                <a:sym typeface="Aptos"/>
              </a:rPr>
              <a:t>Mo</a:t>
            </a:r>
            <a:r>
              <a:rPr lang="en-US" sz="2800">
                <a:solidFill>
                  <a:srgbClr val="000000"/>
                </a:solidFill>
                <a:latin typeface="Aptos"/>
                <a:ea typeface="Aptos"/>
                <a:cs typeface="Aptos"/>
                <a:sym typeface="Aptos"/>
              </a:rPr>
              <a:t>stly rely on single-modal RGB images</a:t>
            </a:r>
          </a:p>
          <a:p>
            <a:pPr algn="l" marL="604528" indent="-302264" lvl="1">
              <a:lnSpc>
                <a:spcPts val="3612"/>
              </a:lnSpc>
              <a:buFont typeface="Arial"/>
              <a:buChar char="•"/>
            </a:pPr>
            <a:r>
              <a:rPr lang="en-US" sz="2800">
                <a:solidFill>
                  <a:srgbClr val="000000"/>
                </a:solidFill>
                <a:latin typeface="Aptos"/>
                <a:ea typeface="Aptos"/>
                <a:cs typeface="Aptos"/>
                <a:sym typeface="Aptos"/>
              </a:rPr>
              <a:t>Poor generalization in real farm environments (lighting, background noise, overlapping symptoms)</a:t>
            </a:r>
          </a:p>
          <a:p>
            <a:pPr algn="l" marL="604528" indent="-302264" lvl="1">
              <a:lnSpc>
                <a:spcPts val="3612"/>
              </a:lnSpc>
              <a:buFont typeface="Arial"/>
              <a:buChar char="•"/>
            </a:pPr>
            <a:r>
              <a:rPr lang="en-US" sz="2800">
                <a:solidFill>
                  <a:srgbClr val="000000"/>
                </a:solidFill>
                <a:latin typeface="Aptos"/>
                <a:ea typeface="Aptos"/>
                <a:cs typeface="Aptos"/>
                <a:sym typeface="Aptos"/>
              </a:rPr>
              <a:t>Difficulty detecting early-stage (pre-symptomatic) diseases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Motivation for Multimodal Fusion</a:t>
            </a:r>
          </a:p>
          <a:p>
            <a:pPr algn="l" marL="604528" indent="-302264" lvl="1">
              <a:lnSpc>
                <a:spcPts val="3612"/>
              </a:lnSpc>
              <a:buFont typeface="Arial"/>
              <a:buChar char="•"/>
            </a:pPr>
            <a:r>
              <a:rPr lang="en-US" sz="2800">
                <a:solidFill>
                  <a:srgbClr val="000000"/>
                </a:solidFill>
                <a:latin typeface="Aptos"/>
                <a:ea typeface="Aptos"/>
                <a:cs typeface="Aptos"/>
                <a:sym typeface="Aptos"/>
              </a:rPr>
              <a:t>Combines multiple data sources: RGB, thermal, hyperspectral, wea</a:t>
            </a:r>
            <a:r>
              <a:rPr lang="en-US" sz="2800">
                <a:solidFill>
                  <a:srgbClr val="000000"/>
                </a:solidFill>
                <a:latin typeface="Aptos"/>
                <a:ea typeface="Aptos"/>
                <a:cs typeface="Aptos"/>
                <a:sym typeface="Aptos"/>
              </a:rPr>
              <a:t>ther, and sensor data</a:t>
            </a:r>
          </a:p>
          <a:p>
            <a:pPr algn="l" marL="604528" indent="-302264" lvl="1">
              <a:lnSpc>
                <a:spcPts val="3612"/>
              </a:lnSpc>
              <a:buFont typeface="Arial"/>
              <a:buChar char="•"/>
            </a:pPr>
            <a:r>
              <a:rPr lang="en-US" sz="2800">
                <a:solidFill>
                  <a:srgbClr val="000000"/>
                </a:solidFill>
                <a:latin typeface="Aptos"/>
                <a:ea typeface="Aptos"/>
                <a:cs typeface="Aptos"/>
                <a:sym typeface="Aptos"/>
              </a:rPr>
              <a:t>Captures h</a:t>
            </a:r>
            <a:r>
              <a:rPr lang="en-US" sz="2800">
                <a:solidFill>
                  <a:srgbClr val="000000"/>
                </a:solidFill>
                <a:latin typeface="Aptos"/>
                <a:ea typeface="Aptos"/>
                <a:cs typeface="Aptos"/>
                <a:sym typeface="Aptos"/>
              </a:rPr>
              <a:t>idden physiological changes not visible to the human eye</a:t>
            </a:r>
          </a:p>
          <a:p>
            <a:pPr algn="l" marL="604528" indent="-302264" lvl="1">
              <a:lnSpc>
                <a:spcPts val="3612"/>
              </a:lnSpc>
              <a:buFont typeface="Arial"/>
              <a:buChar char="•"/>
            </a:pPr>
            <a:r>
              <a:rPr lang="en-US" sz="2800">
                <a:solidFill>
                  <a:srgbClr val="000000"/>
                </a:solidFill>
                <a:latin typeface="Aptos"/>
                <a:ea typeface="Aptos"/>
                <a:cs typeface="Aptos"/>
                <a:sym typeface="Aptos"/>
              </a:rPr>
              <a:t>Enables robust, scalable, and real-time disease monitoring in smart agriculture systems</a:t>
            </a:r>
          </a:p>
          <a:p>
            <a:pPr algn="l">
              <a:lnSpc>
                <a:spcPts val="3612"/>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2163167" y="1771771"/>
            <a:ext cx="15096133"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Deep Learning-Based</a:t>
            </a:r>
            <a:r>
              <a:rPr lang="en-US" sz="4875" b="true">
                <a:solidFill>
                  <a:srgbClr val="000000"/>
                </a:solidFill>
                <a:latin typeface="Aptos Bold"/>
                <a:ea typeface="Aptos Bold"/>
                <a:cs typeface="Aptos Bold"/>
                <a:sym typeface="Aptos Bold"/>
              </a:rPr>
              <a:t> Crop Disease Detection Studies</a:t>
            </a:r>
          </a:p>
        </p:txBody>
      </p:sp>
      <p:sp>
        <p:nvSpPr>
          <p:cNvPr name="TextBox 7" id="7"/>
          <p:cNvSpPr txBox="true"/>
          <p:nvPr/>
        </p:nvSpPr>
        <p:spPr>
          <a:xfrm rot="0">
            <a:off x="655899" y="2876362"/>
            <a:ext cx="16976203" cy="7768971"/>
          </a:xfrm>
          <a:prstGeom prst="rect">
            <a:avLst/>
          </a:prstGeom>
        </p:spPr>
        <p:txBody>
          <a:bodyPr anchor="t" rtlCol="false" tIns="0" lIns="0" bIns="0" rIns="0">
            <a:spAutoFit/>
          </a:bodyPr>
          <a:lstStyle/>
          <a:p>
            <a:pPr algn="l">
              <a:lnSpc>
                <a:spcPts val="3612"/>
              </a:lnSpc>
            </a:pPr>
            <a:r>
              <a:rPr lang="en-US" sz="2800">
                <a:solidFill>
                  <a:srgbClr val="000000"/>
                </a:solidFill>
                <a:latin typeface="Aptos"/>
                <a:ea typeface="Aptos"/>
                <a:cs typeface="Aptos"/>
                <a:sym typeface="Aptos"/>
              </a:rPr>
              <a:t>Early automated crop disease detection research focused on classical machine learning models such as SVM, KNN, and Random Forest, which relied heavily on handcrafted feature extraction and showed limited performance in complex agricultural environments.</a:t>
            </a:r>
            <a:r>
              <a:rPr lang="en-US" sz="2800">
                <a:solidFill>
                  <a:srgbClr val="000000"/>
                </a:solidFill>
                <a:latin typeface="Aptos"/>
                <a:ea typeface="Aptos"/>
                <a:cs typeface="Aptos"/>
                <a:sym typeface="Aptos"/>
              </a:rPr>
              <a:t> Later, deep learning approaches significantly improved disease classification accuracy by enabling automatic feature learning from plant images.</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Kunduracioglu &amp; Pacal (2024)</a:t>
            </a:r>
            <a:r>
              <a:rPr lang="en-US" sz="2800">
                <a:solidFill>
                  <a:srgbClr val="000000"/>
                </a:solidFill>
                <a:latin typeface="Aptos"/>
                <a:ea typeface="Aptos"/>
                <a:cs typeface="Aptos"/>
                <a:sym typeface="Aptos"/>
              </a:rPr>
              <a:t> proposed CNN and Vision Transformer (ViT)-based models for gr</a:t>
            </a:r>
            <a:r>
              <a:rPr lang="en-US" sz="2800">
                <a:solidFill>
                  <a:srgbClr val="000000"/>
                </a:solidFill>
                <a:latin typeface="Aptos"/>
                <a:ea typeface="Aptos"/>
                <a:cs typeface="Aptos"/>
                <a:sym typeface="Aptos"/>
              </a:rPr>
              <a:t>ape disease detection using PlantVillage datasets, achieving near-perfect classification accuracy under controlled conditions. Similarly, </a:t>
            </a:r>
            <a:r>
              <a:rPr lang="en-US" b="true" sz="2800">
                <a:solidFill>
                  <a:srgbClr val="000000"/>
                </a:solidFill>
                <a:latin typeface="Aptos Bold"/>
                <a:ea typeface="Aptos Bold"/>
                <a:cs typeface="Aptos Bold"/>
                <a:sym typeface="Aptos Bold"/>
              </a:rPr>
              <a:t>Mustafa et al. (2023)</a:t>
            </a:r>
            <a:r>
              <a:rPr lang="en-US" sz="2800">
                <a:solidFill>
                  <a:srgbClr val="000000"/>
                </a:solidFill>
                <a:latin typeface="Aptos"/>
                <a:ea typeface="Aptos"/>
                <a:cs typeface="Aptos"/>
                <a:sym typeface="Aptos"/>
              </a:rPr>
              <a:t> utilized CNN architectures for multi-crop</a:t>
            </a:r>
            <a:r>
              <a:rPr lang="en-US" sz="2800">
                <a:solidFill>
                  <a:srgbClr val="000000"/>
                </a:solidFill>
                <a:latin typeface="Aptos"/>
                <a:ea typeface="Aptos"/>
                <a:cs typeface="Aptos"/>
                <a:sym typeface="Aptos"/>
              </a:rPr>
              <a:t> disease classification and reported extremely high accuracy (~99.99%), demonstrating the effectiveness of deep learning in plant pathology tasks.</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Pacal (2024) </a:t>
            </a:r>
            <a:r>
              <a:rPr lang="en-US" sz="2800">
                <a:solidFill>
                  <a:srgbClr val="000000"/>
                </a:solidFill>
                <a:latin typeface="Aptos"/>
                <a:ea typeface="Aptos"/>
                <a:cs typeface="Aptos"/>
                <a:sym typeface="Aptos"/>
              </a:rPr>
              <a:t>further extended CNN </a:t>
            </a:r>
            <a:r>
              <a:rPr lang="en-US" sz="2800">
                <a:solidFill>
                  <a:srgbClr val="000000"/>
                </a:solidFill>
                <a:latin typeface="Aptos"/>
                <a:ea typeface="Aptos"/>
                <a:cs typeface="Aptos"/>
                <a:sym typeface="Aptos"/>
              </a:rPr>
              <a:t>and ViT models for maize disease detection across multiple datasets (PlantVillage, Plant-Doc, CD&amp;S), highlighting improved generalization but still facing challenges in real-field deployment. However,</a:t>
            </a:r>
            <a:r>
              <a:rPr lang="en-US" b="true" sz="2800">
                <a:solidFill>
                  <a:srgbClr val="000000"/>
                </a:solidFill>
                <a:latin typeface="Aptos Bold"/>
                <a:ea typeface="Aptos Bold"/>
                <a:cs typeface="Aptos Bold"/>
                <a:sym typeface="Aptos Bold"/>
              </a:rPr>
              <a:t> Liu et al. (2023) </a:t>
            </a:r>
            <a:r>
              <a:rPr lang="en-US" sz="2800">
                <a:solidFill>
                  <a:srgbClr val="000000"/>
                </a:solidFill>
                <a:latin typeface="Aptos"/>
                <a:ea typeface="Aptos"/>
                <a:cs typeface="Aptos"/>
                <a:sym typeface="Aptos"/>
              </a:rPr>
              <a:t>showed that MobileNetV2-based models trained on self-collected datasets achieved lower accuracy (~96.2%), indicating performance drops in real-world scenarios due to environmental variability and noise.</a:t>
            </a:r>
          </a:p>
          <a:p>
            <a:pPr algn="l">
              <a:lnSpc>
                <a:spcPts val="3612"/>
              </a:lnSpc>
            </a:pPr>
          </a:p>
        </p:txBody>
      </p:sp>
      <p:sp>
        <p:nvSpPr>
          <p:cNvPr name="TextBox 8" id="8"/>
          <p:cNvSpPr txBox="true"/>
          <p:nvPr/>
        </p:nvSpPr>
        <p:spPr>
          <a:xfrm rot="0">
            <a:off x="6330053" y="632619"/>
            <a:ext cx="4920060"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Literature Review</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434681" y="1555710"/>
            <a:ext cx="17853319" cy="2287770"/>
          </a:xfrm>
          <a:prstGeom prst="rect">
            <a:avLst/>
          </a:prstGeom>
        </p:spPr>
        <p:txBody>
          <a:bodyPr anchor="t" rtlCol="false" tIns="0" lIns="0" bIns="0" rIns="0">
            <a:spAutoFit/>
          </a:bodyPr>
          <a:lstStyle/>
          <a:p>
            <a:pPr algn="l">
              <a:lnSpc>
                <a:spcPts val="6059"/>
              </a:lnSpc>
            </a:pPr>
            <a:r>
              <a:rPr lang="en-US" sz="4875" b="true">
                <a:solidFill>
                  <a:srgbClr val="000000"/>
                </a:solidFill>
                <a:latin typeface="Aptos Bold"/>
                <a:ea typeface="Aptos Bold"/>
                <a:cs typeface="Aptos Bold"/>
                <a:sym typeface="Aptos Bold"/>
              </a:rPr>
              <a:t>Multimodal and Fusion-Based</a:t>
            </a:r>
            <a:r>
              <a:rPr lang="en-US" sz="4875" b="true">
                <a:solidFill>
                  <a:srgbClr val="000000"/>
                </a:solidFill>
                <a:latin typeface="Aptos Bold"/>
                <a:ea typeface="Aptos Bold"/>
                <a:cs typeface="Aptos Bold"/>
                <a:sym typeface="Aptos Bold"/>
              </a:rPr>
              <a:t> Approaches in Recent Research</a:t>
            </a:r>
          </a:p>
          <a:p>
            <a:pPr algn="l">
              <a:lnSpc>
                <a:spcPts val="6059"/>
              </a:lnSpc>
            </a:pPr>
          </a:p>
          <a:p>
            <a:pPr algn="l">
              <a:lnSpc>
                <a:spcPts val="6062"/>
              </a:lnSpc>
            </a:pPr>
          </a:p>
        </p:txBody>
      </p:sp>
      <p:sp>
        <p:nvSpPr>
          <p:cNvPr name="TextBox 7" id="7"/>
          <p:cNvSpPr txBox="true"/>
          <p:nvPr/>
        </p:nvSpPr>
        <p:spPr>
          <a:xfrm rot="0">
            <a:off x="655899" y="2490540"/>
            <a:ext cx="16976203" cy="8226171"/>
          </a:xfrm>
          <a:prstGeom prst="rect">
            <a:avLst/>
          </a:prstGeom>
        </p:spPr>
        <p:txBody>
          <a:bodyPr anchor="t" rtlCol="false" tIns="0" lIns="0" bIns="0" rIns="0">
            <a:spAutoFit/>
          </a:bodyPr>
          <a:lstStyle/>
          <a:p>
            <a:pPr algn="l">
              <a:lnSpc>
                <a:spcPts val="3612"/>
              </a:lnSpc>
            </a:pPr>
            <a:r>
              <a:rPr lang="en-US" sz="2800">
                <a:solidFill>
                  <a:srgbClr val="000000"/>
                </a:solidFill>
                <a:latin typeface="Aptos"/>
                <a:ea typeface="Aptos"/>
                <a:cs typeface="Aptos"/>
                <a:sym typeface="Aptos"/>
              </a:rPr>
              <a:t>Recent literature emphasizes the transition from unimodal image-based systems to multimodal fusion frameworks for robust crop disease detection. </a:t>
            </a:r>
            <a:r>
              <a:rPr lang="en-US" sz="2800" b="true">
                <a:solidFill>
                  <a:srgbClr val="000000"/>
                </a:solidFill>
                <a:latin typeface="Aptos Bold"/>
                <a:ea typeface="Aptos Bold"/>
                <a:cs typeface="Aptos Bold"/>
                <a:sym typeface="Aptos Bold"/>
              </a:rPr>
              <a:t>Chityala (2022</a:t>
            </a:r>
            <a:r>
              <a:rPr lang="en-US" sz="2800">
                <a:solidFill>
                  <a:srgbClr val="000000"/>
                </a:solidFill>
                <a:latin typeface="Aptos"/>
                <a:ea typeface="Aptos"/>
                <a:cs typeface="Aptos"/>
                <a:sym typeface="Aptos"/>
              </a:rPr>
              <a:t>) proposed a multimodal architecture combining satellite, weather, and soil data using ResNet-50 with Bi-LSTM and feed-forward networks, demonstrating improved predictive capability through cross-attention fusion mechanisms.</a:t>
            </a:r>
          </a:p>
          <a:p>
            <a:pPr algn="l">
              <a:lnSpc>
                <a:spcPts val="3612"/>
              </a:lnSpc>
            </a:pPr>
          </a:p>
          <a:p>
            <a:pPr algn="l">
              <a:lnSpc>
                <a:spcPts val="3612"/>
              </a:lnSpc>
            </a:pPr>
            <a:r>
              <a:rPr lang="en-US" sz="2800" b="true">
                <a:solidFill>
                  <a:srgbClr val="000000"/>
                </a:solidFill>
                <a:latin typeface="Aptos Bold"/>
                <a:ea typeface="Aptos Bold"/>
                <a:cs typeface="Aptos Bold"/>
                <a:sym typeface="Aptos Bold"/>
              </a:rPr>
              <a:t>Maillet et al. (2025) </a:t>
            </a:r>
            <a:r>
              <a:rPr lang="en-US" sz="2800">
                <a:solidFill>
                  <a:srgbClr val="000000"/>
                </a:solidFill>
                <a:latin typeface="Aptos"/>
                <a:ea typeface="Aptos"/>
                <a:cs typeface="Aptos"/>
                <a:sym typeface="Aptos"/>
              </a:rPr>
              <a:t>introduced a Vision Transformer and transformer enco</a:t>
            </a:r>
            <a:r>
              <a:rPr lang="en-US" sz="2800">
                <a:solidFill>
                  <a:srgbClr val="000000"/>
                </a:solidFill>
                <a:latin typeface="Aptos"/>
                <a:ea typeface="Aptos"/>
                <a:cs typeface="Aptos"/>
                <a:sym typeface="Aptos"/>
              </a:rPr>
              <a:t>der-based fusion model integrating satellite and weather modalities, achieving high acc</a:t>
            </a:r>
            <a:r>
              <a:rPr lang="en-US" sz="2800">
                <a:solidFill>
                  <a:srgbClr val="000000"/>
                </a:solidFill>
                <a:latin typeface="Aptos"/>
                <a:ea typeface="Aptos"/>
                <a:cs typeface="Aptos"/>
                <a:sym typeface="Aptos"/>
              </a:rPr>
              <a:t>uracy (~97%) and addressing missing image interpolation issues. </a:t>
            </a:r>
            <a:r>
              <a:rPr lang="en-US" b="true" sz="2800">
                <a:solidFill>
                  <a:srgbClr val="000000"/>
                </a:solidFill>
                <a:latin typeface="Aptos Bold"/>
                <a:ea typeface="Aptos Bold"/>
                <a:cs typeface="Aptos Bold"/>
                <a:sym typeface="Aptos Bold"/>
              </a:rPr>
              <a:t>Trupthi et al. (2025) </a:t>
            </a:r>
            <a:r>
              <a:rPr lang="en-US" sz="2800">
                <a:solidFill>
                  <a:srgbClr val="000000"/>
                </a:solidFill>
                <a:latin typeface="Aptos"/>
                <a:ea typeface="Aptos"/>
                <a:cs typeface="Aptos"/>
                <a:sym typeface="Aptos"/>
              </a:rPr>
              <a:t>developed a CNN-Transformer hybrid with soil, temperature, and humidity inputs along with RGB im</a:t>
            </a:r>
            <a:r>
              <a:rPr lang="en-US" sz="2800">
                <a:solidFill>
                  <a:srgbClr val="000000"/>
                </a:solidFill>
                <a:latin typeface="Aptos"/>
                <a:ea typeface="Aptos"/>
                <a:cs typeface="Aptos"/>
                <a:sym typeface="Aptos"/>
              </a:rPr>
              <a:t>ages, incorporating Retrieval-Augmented Generation (RAG) for enhanced decision support.</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Godara (2025) </a:t>
            </a:r>
            <a:r>
              <a:rPr lang="en-US" sz="2800">
                <a:solidFill>
                  <a:srgbClr val="000000"/>
                </a:solidFill>
                <a:latin typeface="Aptos"/>
                <a:ea typeface="Aptos"/>
                <a:cs typeface="Aptos"/>
                <a:sym typeface="Aptos"/>
              </a:rPr>
              <a:t>proposed an IoT-enabled deep learning framework using EfficientNetB0 and environmental sensor data for real-time disease monitoring, w</a:t>
            </a:r>
            <a:r>
              <a:rPr lang="en-US" sz="2800">
                <a:solidFill>
                  <a:srgbClr val="000000"/>
                </a:solidFill>
                <a:latin typeface="Aptos"/>
                <a:ea typeface="Aptos"/>
                <a:cs typeface="Aptos"/>
                <a:sym typeface="Aptos"/>
              </a:rPr>
              <a:t>hile</a:t>
            </a:r>
            <a:r>
              <a:rPr lang="en-US" b="true" sz="2800">
                <a:solidFill>
                  <a:srgbClr val="000000"/>
                </a:solidFill>
                <a:latin typeface="Aptos Bold"/>
                <a:ea typeface="Aptos Bold"/>
                <a:cs typeface="Aptos Bold"/>
                <a:sym typeface="Aptos Bold"/>
              </a:rPr>
              <a:t> Ma</a:t>
            </a:r>
            <a:r>
              <a:rPr lang="en-US" b="true" sz="2800">
                <a:solidFill>
                  <a:srgbClr val="000000"/>
                </a:solidFill>
                <a:latin typeface="Aptos Bold"/>
                <a:ea typeface="Aptos Bold"/>
                <a:cs typeface="Aptos Bold"/>
                <a:sym typeface="Aptos Bold"/>
              </a:rPr>
              <a:t>srur et al. (2024)</a:t>
            </a:r>
            <a:r>
              <a:rPr lang="en-US" sz="2800">
                <a:solidFill>
                  <a:srgbClr val="000000"/>
                </a:solidFill>
                <a:latin typeface="Aptos"/>
                <a:ea typeface="Aptos"/>
                <a:cs typeface="Aptos"/>
                <a:sym typeface="Aptos"/>
              </a:rPr>
              <a:t> explored UAS and satellite data fusion using SRCNN for biomass and crop health analysis.</a:t>
            </a:r>
          </a:p>
          <a:p>
            <a:pPr algn="l">
              <a:lnSpc>
                <a:spcPts val="3612"/>
              </a:lnSpc>
            </a:pPr>
          </a:p>
          <a:p>
            <a:pPr algn="l">
              <a:lnSpc>
                <a:spcPts val="3612"/>
              </a:lnSpc>
            </a:pPr>
            <a:r>
              <a:rPr lang="en-US" sz="2800">
                <a:solidFill>
                  <a:srgbClr val="000000"/>
                </a:solidFill>
                <a:latin typeface="Aptos"/>
                <a:ea typeface="Aptos"/>
                <a:cs typeface="Aptos"/>
                <a:sym typeface="Aptos"/>
              </a:rPr>
              <a:t>Although these studies demonstrate that multimodal fusion significantly improves accuracy and early disease detection, challenges such as data heterogeneity, sensor integration complexity, and high computational cost remain major research gaps in practical agricultural deployment.</a:t>
            </a:r>
          </a:p>
          <a:p>
            <a:pPr algn="l">
              <a:lnSpc>
                <a:spcPts val="3612"/>
              </a:lnSpc>
            </a:pPr>
          </a:p>
        </p:txBody>
      </p:sp>
      <p:sp>
        <p:nvSpPr>
          <p:cNvPr name="TextBox 8" id="8"/>
          <p:cNvSpPr txBox="true"/>
          <p:nvPr/>
        </p:nvSpPr>
        <p:spPr>
          <a:xfrm rot="0">
            <a:off x="6330053" y="632619"/>
            <a:ext cx="4920060"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Literature Review</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4" id="4"/>
          <p:cNvSpPr txBox="true"/>
          <p:nvPr/>
        </p:nvSpPr>
        <p:spPr>
          <a:xfrm rot="0">
            <a:off x="1028700" y="874776"/>
            <a:ext cx="5495131"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Problem Statement</a:t>
            </a:r>
          </a:p>
        </p:txBody>
      </p:sp>
      <p:sp>
        <p:nvSpPr>
          <p:cNvPr name="TextBox 5" id="5"/>
          <p:cNvSpPr txBox="true"/>
          <p:nvPr/>
        </p:nvSpPr>
        <p:spPr>
          <a:xfrm rot="0">
            <a:off x="617316" y="2184420"/>
            <a:ext cx="17053367" cy="6919278"/>
          </a:xfrm>
          <a:prstGeom prst="rect">
            <a:avLst/>
          </a:prstGeom>
        </p:spPr>
        <p:txBody>
          <a:bodyPr anchor="t" rtlCol="false" tIns="0" lIns="0" bIns="0" rIns="0">
            <a:spAutoFit/>
          </a:bodyPr>
          <a:lstStyle/>
          <a:p>
            <a:pPr algn="just">
              <a:lnSpc>
                <a:spcPts val="3972"/>
              </a:lnSpc>
            </a:pPr>
            <a:r>
              <a:rPr lang="en-US" sz="2837">
                <a:solidFill>
                  <a:srgbClr val="000000"/>
                </a:solidFill>
                <a:latin typeface="Aptos"/>
                <a:ea typeface="Aptos"/>
                <a:cs typeface="Aptos"/>
                <a:sym typeface="Aptos"/>
              </a:rPr>
              <a:t>Existing crop disease detection systems predominantly rely on unimodal RGB image-based deep learning models trained on controlled datasets, which limits their effectiveness in real-world agricultural environments characterized by varying lighting conditions, complex backgrounds, and environmental noise. While CNN and Transformer-based approaches achieve high accuracy in laboratory settings, they struggle with early-stage disease detection, cross-crop generalization, and real-time field deployment.</a:t>
            </a:r>
          </a:p>
          <a:p>
            <a:pPr algn="just">
              <a:lnSpc>
                <a:spcPts val="3972"/>
              </a:lnSpc>
            </a:pPr>
            <a:r>
              <a:rPr lang="en-US" sz="2837">
                <a:solidFill>
                  <a:srgbClr val="000000"/>
                </a:solidFill>
                <a:latin typeface="Aptos"/>
                <a:ea typeface="Aptos"/>
                <a:cs typeface="Aptos"/>
                <a:sym typeface="Aptos"/>
              </a:rPr>
              <a:t>Furthermore, visual-only models fail to capture critical environmental and physiological factors such as weathe</a:t>
            </a:r>
            <a:r>
              <a:rPr lang="en-US" sz="2837">
                <a:solidFill>
                  <a:srgbClr val="000000"/>
                </a:solidFill>
                <a:latin typeface="Aptos"/>
                <a:ea typeface="Aptos"/>
                <a:cs typeface="Aptos"/>
                <a:sym typeface="Aptos"/>
              </a:rPr>
              <a:t>r conditions, soil parameters, and temporal disease progression, resulting in delayed and less reliable diagnosis. Although recent research explores multimodal fusion using satellite, sensor, and climate data, challenges such as data heterogeneity, sensor reliability, computational complexity, and lack of standardized multimodal datasets still persist.</a:t>
            </a:r>
          </a:p>
          <a:p>
            <a:pPr algn="just">
              <a:lnSpc>
                <a:spcPts val="3972"/>
              </a:lnSpc>
            </a:pPr>
            <a:r>
              <a:rPr lang="en-US" sz="2837">
                <a:solidFill>
                  <a:srgbClr val="000000"/>
                </a:solidFill>
                <a:latin typeface="Aptos"/>
                <a:ea typeface="Aptos"/>
                <a:cs typeface="Aptos"/>
                <a:sym typeface="Aptos"/>
              </a:rPr>
              <a:t>Therefore, there is a critical need for a robust and scalable multimodal AI-based framework that integrates image, environmental, and temporal data to enable accurate, early, and real-time crop disease detection under practical agricultural conditions.</a:t>
            </a:r>
          </a:p>
          <a:p>
            <a:pPr algn="just">
              <a:lnSpc>
                <a:spcPts val="397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813044"/>
            <a:ext cx="3179763" cy="763587"/>
          </a:xfrm>
          <a:prstGeom prst="rect">
            <a:avLst/>
          </a:prstGeom>
        </p:spPr>
        <p:txBody>
          <a:bodyPr anchor="t" rtlCol="false" tIns="0" lIns="0" bIns="0" rIns="0">
            <a:spAutoFit/>
          </a:bodyPr>
          <a:lstStyle/>
          <a:p>
            <a:pPr algn="l">
              <a:lnSpc>
                <a:spcPts val="6062"/>
              </a:lnSpc>
            </a:pPr>
            <a:r>
              <a:rPr lang="en-US" sz="4875" b="true">
                <a:solidFill>
                  <a:srgbClr val="484237"/>
                </a:solidFill>
                <a:latin typeface="Aptos Bold"/>
                <a:ea typeface="Aptos Bold"/>
                <a:cs typeface="Aptos Bold"/>
                <a:sym typeface="Aptos Bold"/>
              </a:rPr>
              <a:t>Limitations</a:t>
            </a:r>
          </a:p>
        </p:txBody>
      </p:sp>
      <p:grpSp>
        <p:nvGrpSpPr>
          <p:cNvPr name="Group 7" id="7"/>
          <p:cNvGrpSpPr/>
          <p:nvPr/>
        </p:nvGrpSpPr>
        <p:grpSpPr>
          <a:xfrm rot="0">
            <a:off x="977951" y="2098472"/>
            <a:ext cx="8056359" cy="2705843"/>
            <a:chOff x="0" y="0"/>
            <a:chExt cx="10741812" cy="3607791"/>
          </a:xfrm>
        </p:grpSpPr>
        <p:sp>
          <p:nvSpPr>
            <p:cNvPr name="Freeform 8" id="8"/>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9" id="9"/>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10" id="10"/>
          <p:cNvGrpSpPr/>
          <p:nvPr/>
        </p:nvGrpSpPr>
        <p:grpSpPr>
          <a:xfrm rot="0">
            <a:off x="963663" y="2112759"/>
            <a:ext cx="114300" cy="2677268"/>
            <a:chOff x="0" y="0"/>
            <a:chExt cx="152400" cy="3569691"/>
          </a:xfrm>
        </p:grpSpPr>
        <p:sp>
          <p:nvSpPr>
            <p:cNvPr name="Freeform 11" id="11"/>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12" id="12"/>
          <p:cNvSpPr txBox="true"/>
          <p:nvPr/>
        </p:nvSpPr>
        <p:spPr>
          <a:xfrm rot="0">
            <a:off x="1354484" y="2379764"/>
            <a:ext cx="3804742" cy="371475"/>
          </a:xfrm>
          <a:prstGeom prst="rect">
            <a:avLst/>
          </a:prstGeom>
        </p:spPr>
        <p:txBody>
          <a:bodyPr anchor="t" rtlCol="false" tIns="0" lIns="0" bIns="0" rIns="0">
            <a:spAutoFit/>
          </a:bodyPr>
          <a:lstStyle/>
          <a:p>
            <a:pPr algn="l">
              <a:lnSpc>
                <a:spcPts val="2999"/>
              </a:lnSpc>
            </a:pPr>
            <a:r>
              <a:rPr lang="en-US" sz="2437" b="true">
                <a:solidFill>
                  <a:srgbClr val="000000"/>
                </a:solidFill>
                <a:latin typeface="Aptos Bold"/>
                <a:ea typeface="Aptos Bold"/>
                <a:cs typeface="Aptos Bold"/>
                <a:sym typeface="Aptos Bold"/>
              </a:rPr>
              <a:t>Computational Complexity</a:t>
            </a:r>
          </a:p>
        </p:txBody>
      </p:sp>
      <p:sp>
        <p:nvSpPr>
          <p:cNvPr name="TextBox 13" id="13"/>
          <p:cNvSpPr txBox="true"/>
          <p:nvPr/>
        </p:nvSpPr>
        <p:spPr>
          <a:xfrm rot="0">
            <a:off x="1354484" y="2849613"/>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High-dimensional multimodal data demands increased memory bandwidth and processing power. Training times extend from hours to days when processing fused hyperspectral-thermal-RGB tensors versus single-sensor inputs.</a:t>
            </a:r>
          </a:p>
        </p:txBody>
      </p:sp>
      <p:grpSp>
        <p:nvGrpSpPr>
          <p:cNvPr name="Group 14" id="14"/>
          <p:cNvGrpSpPr/>
          <p:nvPr/>
        </p:nvGrpSpPr>
        <p:grpSpPr>
          <a:xfrm rot="0">
            <a:off x="9253690" y="2098472"/>
            <a:ext cx="8056359" cy="2705843"/>
            <a:chOff x="0" y="0"/>
            <a:chExt cx="10741812" cy="3607791"/>
          </a:xfrm>
        </p:grpSpPr>
        <p:sp>
          <p:nvSpPr>
            <p:cNvPr name="Freeform 15" id="15"/>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16" id="16"/>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17" id="17"/>
          <p:cNvGrpSpPr/>
          <p:nvPr/>
        </p:nvGrpSpPr>
        <p:grpSpPr>
          <a:xfrm rot="0">
            <a:off x="9239402" y="2112759"/>
            <a:ext cx="114300" cy="2677268"/>
            <a:chOff x="0" y="0"/>
            <a:chExt cx="152400" cy="3569691"/>
          </a:xfrm>
        </p:grpSpPr>
        <p:sp>
          <p:nvSpPr>
            <p:cNvPr name="Freeform 18" id="18"/>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19" id="19"/>
          <p:cNvSpPr txBox="true"/>
          <p:nvPr/>
        </p:nvSpPr>
        <p:spPr>
          <a:xfrm rot="0">
            <a:off x="9563252" y="2379764"/>
            <a:ext cx="3830538" cy="371475"/>
          </a:xfrm>
          <a:prstGeom prst="rect">
            <a:avLst/>
          </a:prstGeom>
        </p:spPr>
        <p:txBody>
          <a:bodyPr anchor="t" rtlCol="false" tIns="0" lIns="0" bIns="0" rIns="0">
            <a:spAutoFit/>
          </a:bodyPr>
          <a:lstStyle/>
          <a:p>
            <a:pPr algn="l">
              <a:lnSpc>
                <a:spcPts val="2999"/>
              </a:lnSpc>
            </a:pPr>
            <a:r>
              <a:rPr lang="en-US" sz="2437" b="true">
                <a:solidFill>
                  <a:srgbClr val="000000"/>
                </a:solidFill>
                <a:latin typeface="Aptos Bold"/>
                <a:ea typeface="Aptos Bold"/>
                <a:cs typeface="Aptos Bold"/>
                <a:sym typeface="Aptos Bold"/>
              </a:rPr>
              <a:t>Data Alignment Challenges</a:t>
            </a:r>
          </a:p>
        </p:txBody>
      </p:sp>
      <p:sp>
        <p:nvSpPr>
          <p:cNvPr name="TextBox 20" id="20"/>
          <p:cNvSpPr txBox="true"/>
          <p:nvPr/>
        </p:nvSpPr>
        <p:spPr>
          <a:xfrm rot="0">
            <a:off x="9630223" y="2849613"/>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Spatial resolution mismatches between sensors—such as low-resolution thermal versus high-resolution RGB—require sophisticated registration algorithms. Temporal misalignments from asynchronous sensor captures further complicate fusion.</a:t>
            </a:r>
          </a:p>
        </p:txBody>
      </p:sp>
      <p:grpSp>
        <p:nvGrpSpPr>
          <p:cNvPr name="Group 21" id="21"/>
          <p:cNvGrpSpPr/>
          <p:nvPr/>
        </p:nvGrpSpPr>
        <p:grpSpPr>
          <a:xfrm rot="0">
            <a:off x="977951" y="5023695"/>
            <a:ext cx="8056359" cy="2705843"/>
            <a:chOff x="0" y="0"/>
            <a:chExt cx="10741812" cy="3607791"/>
          </a:xfrm>
        </p:grpSpPr>
        <p:sp>
          <p:nvSpPr>
            <p:cNvPr name="Freeform 22" id="22"/>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23" id="23"/>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24" id="24"/>
          <p:cNvGrpSpPr/>
          <p:nvPr/>
        </p:nvGrpSpPr>
        <p:grpSpPr>
          <a:xfrm rot="0">
            <a:off x="963663" y="5037982"/>
            <a:ext cx="114300" cy="2677268"/>
            <a:chOff x="0" y="0"/>
            <a:chExt cx="152400" cy="3569691"/>
          </a:xfrm>
        </p:grpSpPr>
        <p:sp>
          <p:nvSpPr>
            <p:cNvPr name="Freeform 25" id="25"/>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26" id="26"/>
          <p:cNvSpPr txBox="true"/>
          <p:nvPr/>
        </p:nvSpPr>
        <p:spPr>
          <a:xfrm rot="0">
            <a:off x="1354484" y="5304977"/>
            <a:ext cx="4078883" cy="371475"/>
          </a:xfrm>
          <a:prstGeom prst="rect">
            <a:avLst/>
          </a:prstGeom>
        </p:spPr>
        <p:txBody>
          <a:bodyPr anchor="t" rtlCol="false" tIns="0" lIns="0" bIns="0" rIns="0">
            <a:spAutoFit/>
          </a:bodyPr>
          <a:lstStyle/>
          <a:p>
            <a:pPr algn="l">
              <a:lnSpc>
                <a:spcPts val="2999"/>
              </a:lnSpc>
            </a:pPr>
            <a:r>
              <a:rPr lang="en-US" sz="2437" b="true">
                <a:solidFill>
                  <a:srgbClr val="000000"/>
                </a:solidFill>
                <a:latin typeface="Aptos Bold"/>
                <a:ea typeface="Aptos Bold"/>
                <a:cs typeface="Aptos Bold"/>
                <a:sym typeface="Aptos Bold"/>
              </a:rPr>
              <a:t>Limited Benchmark Datasets</a:t>
            </a:r>
          </a:p>
        </p:txBody>
      </p:sp>
      <p:sp>
        <p:nvSpPr>
          <p:cNvPr name="TextBox 27" id="27"/>
          <p:cNvSpPr txBox="true"/>
          <p:nvPr/>
        </p:nvSpPr>
        <p:spPr>
          <a:xfrm rot="0">
            <a:off x="1354484" y="5774827"/>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Few publicly available multimodal agricultural datasets hinder fair algorithm comparison. Each research group curates proprietary datasets with different crop species, disease types, and sensor configurations, preventing validation of published results.</a:t>
            </a:r>
          </a:p>
        </p:txBody>
      </p:sp>
      <p:grpSp>
        <p:nvGrpSpPr>
          <p:cNvPr name="Group 28" id="28"/>
          <p:cNvGrpSpPr/>
          <p:nvPr/>
        </p:nvGrpSpPr>
        <p:grpSpPr>
          <a:xfrm rot="0">
            <a:off x="9253690" y="5023695"/>
            <a:ext cx="8056359" cy="2705843"/>
            <a:chOff x="0" y="0"/>
            <a:chExt cx="10741812" cy="3607791"/>
          </a:xfrm>
        </p:grpSpPr>
        <p:sp>
          <p:nvSpPr>
            <p:cNvPr name="Freeform 29" id="29"/>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30" id="30"/>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31" id="31"/>
          <p:cNvGrpSpPr/>
          <p:nvPr/>
        </p:nvGrpSpPr>
        <p:grpSpPr>
          <a:xfrm rot="0">
            <a:off x="9239402" y="5037982"/>
            <a:ext cx="114300" cy="2677268"/>
            <a:chOff x="0" y="0"/>
            <a:chExt cx="152400" cy="3569691"/>
          </a:xfrm>
        </p:grpSpPr>
        <p:sp>
          <p:nvSpPr>
            <p:cNvPr name="Freeform 32" id="32"/>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33" id="33"/>
          <p:cNvSpPr txBox="true"/>
          <p:nvPr/>
        </p:nvSpPr>
        <p:spPr>
          <a:xfrm rot="0">
            <a:off x="9630223" y="5304977"/>
            <a:ext cx="2663031" cy="371475"/>
          </a:xfrm>
          <a:prstGeom prst="rect">
            <a:avLst/>
          </a:prstGeom>
        </p:spPr>
        <p:txBody>
          <a:bodyPr anchor="t" rtlCol="false" tIns="0" lIns="0" bIns="0" rIns="0">
            <a:spAutoFit/>
          </a:bodyPr>
          <a:lstStyle/>
          <a:p>
            <a:pPr algn="l">
              <a:lnSpc>
                <a:spcPts val="2999"/>
              </a:lnSpc>
            </a:pPr>
            <a:r>
              <a:rPr lang="en-US" sz="2437">
                <a:solidFill>
                  <a:srgbClr val="000000"/>
                </a:solidFill>
                <a:latin typeface="Aptos"/>
                <a:ea typeface="Aptos"/>
                <a:cs typeface="Aptos"/>
                <a:sym typeface="Aptos"/>
              </a:rPr>
              <a:t>False Positive Rates</a:t>
            </a:r>
          </a:p>
        </p:txBody>
      </p:sp>
      <p:sp>
        <p:nvSpPr>
          <p:cNvPr name="TextBox 34" id="34"/>
          <p:cNvSpPr txBox="true"/>
          <p:nvPr/>
        </p:nvSpPr>
        <p:spPr>
          <a:xfrm rot="0">
            <a:off x="9630223" y="5774827"/>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Environmental artifacts—water droplets, dust, overlapping leaves—trigger false alarms in single-sensor systems. Multimodal fusion aims to suppress these errors but requires balanced training data with sufficient negative examples.</a:t>
            </a:r>
          </a:p>
        </p:txBody>
      </p:sp>
      <p:grpSp>
        <p:nvGrpSpPr>
          <p:cNvPr name="Group 35" id="35"/>
          <p:cNvGrpSpPr/>
          <p:nvPr/>
        </p:nvGrpSpPr>
        <p:grpSpPr>
          <a:xfrm rot="0">
            <a:off x="992238" y="7994304"/>
            <a:ext cx="16303523" cy="1450924"/>
            <a:chOff x="0" y="0"/>
            <a:chExt cx="21738031" cy="1934566"/>
          </a:xfrm>
        </p:grpSpPr>
        <p:sp>
          <p:nvSpPr>
            <p:cNvPr name="Freeform 36" id="36"/>
            <p:cNvSpPr/>
            <p:nvPr/>
          </p:nvSpPr>
          <p:spPr>
            <a:xfrm flipH="false" flipV="false" rot="0">
              <a:off x="0" y="0"/>
              <a:ext cx="21738082" cy="1934591"/>
            </a:xfrm>
            <a:custGeom>
              <a:avLst/>
              <a:gdLst/>
              <a:ahLst/>
              <a:cxnLst/>
              <a:rect r="r" b="b" t="t" l="l"/>
              <a:pathLst>
                <a:path h="1934591" w="21738082">
                  <a:moveTo>
                    <a:pt x="0" y="49657"/>
                  </a:moveTo>
                  <a:cubicBezTo>
                    <a:pt x="0" y="22225"/>
                    <a:pt x="22225" y="0"/>
                    <a:pt x="49657" y="0"/>
                  </a:cubicBezTo>
                  <a:lnTo>
                    <a:pt x="21688425" y="0"/>
                  </a:lnTo>
                  <a:cubicBezTo>
                    <a:pt x="21715857" y="0"/>
                    <a:pt x="21738082" y="22225"/>
                    <a:pt x="21738082" y="49657"/>
                  </a:cubicBezTo>
                  <a:lnTo>
                    <a:pt x="21738082" y="1884934"/>
                  </a:lnTo>
                  <a:cubicBezTo>
                    <a:pt x="21738082" y="1912366"/>
                    <a:pt x="21715857" y="1934591"/>
                    <a:pt x="21688425" y="1934591"/>
                  </a:cubicBezTo>
                  <a:lnTo>
                    <a:pt x="49657" y="1934591"/>
                  </a:lnTo>
                  <a:cubicBezTo>
                    <a:pt x="22225" y="1934591"/>
                    <a:pt x="0" y="1912366"/>
                    <a:pt x="0" y="1884934"/>
                  </a:cubicBezTo>
                  <a:close/>
                </a:path>
              </a:pathLst>
            </a:custGeom>
            <a:solidFill>
              <a:srgbClr val="FFFFFF"/>
            </a:solidFill>
          </p:spPr>
        </p:sp>
      </p:grpSp>
      <p:grpSp>
        <p:nvGrpSpPr>
          <p:cNvPr name="Group 37" id="37"/>
          <p:cNvGrpSpPr/>
          <p:nvPr/>
        </p:nvGrpSpPr>
        <p:grpSpPr>
          <a:xfrm rot="0">
            <a:off x="1240184" y="8353873"/>
            <a:ext cx="310010" cy="247945"/>
            <a:chOff x="0" y="0"/>
            <a:chExt cx="413347" cy="330594"/>
          </a:xfrm>
        </p:grpSpPr>
        <p:sp>
          <p:nvSpPr>
            <p:cNvPr name="Freeform 38" id="38"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3"/>
              <a:stretch>
                <a:fillRect l="-755" t="0" r="-749" b="-3"/>
              </a:stretch>
            </a:blipFill>
          </p:spPr>
        </p:sp>
      </p:grpSp>
      <p:sp>
        <p:nvSpPr>
          <p:cNvPr name="TextBox 39" id="39"/>
          <p:cNvSpPr txBox="true"/>
          <p:nvPr/>
        </p:nvSpPr>
        <p:spPr>
          <a:xfrm rot="0">
            <a:off x="1798139" y="8227962"/>
            <a:ext cx="15249677" cy="75565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Critical Research Gap: The field lacks standardized evaluation frameworks for determining which fusion strategy—early, intermediate, late, or hybrid—performs optimally across diverse agricultural conditions without requiring exhaustive case-by-case experimentation.</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483966"/>
            <a:ext cx="5322193"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Proposed Solution </a:t>
            </a:r>
          </a:p>
        </p:txBody>
      </p:sp>
      <p:sp>
        <p:nvSpPr>
          <p:cNvPr name="TextBox 7" id="7"/>
          <p:cNvSpPr txBox="true"/>
          <p:nvPr/>
        </p:nvSpPr>
        <p:spPr>
          <a:xfrm rot="0">
            <a:off x="992238" y="2367705"/>
            <a:ext cx="12475666" cy="454025"/>
          </a:xfrm>
          <a:prstGeom prst="rect">
            <a:avLst/>
          </a:prstGeom>
        </p:spPr>
        <p:txBody>
          <a:bodyPr anchor="t" rtlCol="false" tIns="0" lIns="0" bIns="0" rIns="0">
            <a:spAutoFit/>
          </a:bodyPr>
          <a:lstStyle/>
          <a:p>
            <a:pPr algn="l">
              <a:lnSpc>
                <a:spcPts val="3625"/>
              </a:lnSpc>
            </a:pPr>
            <a:r>
              <a:rPr lang="en-US" sz="2874" b="true">
                <a:solidFill>
                  <a:srgbClr val="000000"/>
                </a:solidFill>
                <a:latin typeface="Aptos Bold"/>
                <a:ea typeface="Aptos Bold"/>
                <a:cs typeface="Aptos Bold"/>
                <a:sym typeface="Aptos Bold"/>
              </a:rPr>
              <a:t>Mul</a:t>
            </a:r>
            <a:r>
              <a:rPr lang="en-US" sz="2874" b="true">
                <a:solidFill>
                  <a:srgbClr val="000000"/>
                </a:solidFill>
                <a:latin typeface="Aptos Bold"/>
                <a:ea typeface="Aptos Bold"/>
                <a:cs typeface="Aptos Bold"/>
                <a:sym typeface="Aptos Bold"/>
              </a:rPr>
              <a:t>timodal Weather + Image Fusion Framework for Crop Disease Detection</a:t>
            </a:r>
          </a:p>
        </p:txBody>
      </p:sp>
      <p:sp>
        <p:nvSpPr>
          <p:cNvPr name="TextBox 8" id="8"/>
          <p:cNvSpPr txBox="true"/>
          <p:nvPr/>
        </p:nvSpPr>
        <p:spPr>
          <a:xfrm rot="0">
            <a:off x="992238" y="3147717"/>
            <a:ext cx="16303523" cy="1146175"/>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The proposed solution advocates a multimodal fusion-based framework that integrates plant leaf images with environmental weather data (temperature, humidity, rainfall, and seasonal trends) to enable robust and early crop disease detection. Unlike traditional unimodal vision models, this approach captures both visual symptoms and environmental disease triggers, leading to higher accuracy under real-world agricultural conditions.</a:t>
            </a:r>
          </a:p>
        </p:txBody>
      </p:sp>
      <p:sp>
        <p:nvSpPr>
          <p:cNvPr name="TextBox 9" id="9"/>
          <p:cNvSpPr txBox="true"/>
          <p:nvPr/>
        </p:nvSpPr>
        <p:spPr>
          <a:xfrm rot="0">
            <a:off x="992238" y="4617539"/>
            <a:ext cx="16303523" cy="5051647"/>
          </a:xfrm>
          <a:prstGeom prst="rect">
            <a:avLst/>
          </a:prstGeom>
        </p:spPr>
        <p:txBody>
          <a:bodyPr anchor="t" rtlCol="false" tIns="0" lIns="0" bIns="0" rIns="0">
            <a:spAutoFit/>
          </a:bodyPr>
          <a:lstStyle/>
          <a:p>
            <a:pPr algn="l">
              <a:lnSpc>
                <a:spcPts val="3123"/>
              </a:lnSpc>
            </a:pPr>
            <a:r>
              <a:rPr lang="en-US" sz="1937">
                <a:solidFill>
                  <a:srgbClr val="000000"/>
                </a:solidFill>
                <a:latin typeface="Aptos"/>
                <a:ea typeface="Aptos"/>
                <a:cs typeface="Aptos"/>
                <a:sym typeface="Aptos"/>
              </a:rPr>
              <a:t>Key components of the proposed framework include:</a:t>
            </a:r>
          </a:p>
          <a:p>
            <a:pPr algn="l" marL="418306" indent="-209153" lvl="1">
              <a:lnSpc>
                <a:spcPts val="3123"/>
              </a:lnSpc>
              <a:buFont typeface="Arial"/>
              <a:buChar char="•"/>
            </a:pPr>
            <a:r>
              <a:rPr lang="en-US" sz="1937">
                <a:solidFill>
                  <a:srgbClr val="000000"/>
                </a:solidFill>
                <a:latin typeface="Aptos"/>
                <a:ea typeface="Aptos"/>
                <a:cs typeface="Aptos"/>
                <a:sym typeface="Aptos"/>
              </a:rPr>
              <a:t>Dual-input architecture combining image features and weather parameters</a:t>
            </a:r>
          </a:p>
          <a:p>
            <a:pPr algn="l" marL="418306" indent="-209153" lvl="1">
              <a:lnSpc>
                <a:spcPts val="3123"/>
              </a:lnSpc>
              <a:buFont typeface="Arial"/>
              <a:buChar char="•"/>
            </a:pPr>
            <a:r>
              <a:rPr lang="en-US" sz="1937">
                <a:solidFill>
                  <a:srgbClr val="000000"/>
                </a:solidFill>
                <a:latin typeface="Aptos"/>
                <a:ea typeface="Aptos"/>
                <a:cs typeface="Aptos"/>
                <a:sym typeface="Aptos"/>
              </a:rPr>
              <a:t>CNN/ViT backbone for visual feature extraction from crop images</a:t>
            </a:r>
          </a:p>
          <a:p>
            <a:pPr algn="l" marL="418306" indent="-209153" lvl="1">
              <a:lnSpc>
                <a:spcPts val="3123"/>
              </a:lnSpc>
              <a:buFont typeface="Arial"/>
              <a:buChar char="•"/>
            </a:pPr>
            <a:r>
              <a:rPr lang="en-US" sz="1937">
                <a:solidFill>
                  <a:srgbClr val="000000"/>
                </a:solidFill>
                <a:latin typeface="Aptos"/>
                <a:ea typeface="Aptos"/>
                <a:cs typeface="Aptos"/>
                <a:sym typeface="Aptos"/>
              </a:rPr>
              <a:t>Weather data encoder for temporal and environmental feature learning</a:t>
            </a:r>
          </a:p>
          <a:p>
            <a:pPr algn="l" marL="418306" indent="-209153" lvl="1">
              <a:lnSpc>
                <a:spcPts val="3123"/>
              </a:lnSpc>
              <a:buFont typeface="Arial"/>
              <a:buChar char="•"/>
            </a:pPr>
            <a:r>
              <a:rPr lang="en-US" sz="1937">
                <a:solidFill>
                  <a:srgbClr val="000000"/>
                </a:solidFill>
                <a:latin typeface="Aptos"/>
                <a:ea typeface="Aptos"/>
                <a:cs typeface="Aptos"/>
                <a:sym typeface="Aptos"/>
              </a:rPr>
              <a:t>Fusion strategy (early, intermediate, or hybrid fusion) for joint representation learning</a:t>
            </a:r>
          </a:p>
          <a:p>
            <a:pPr algn="l" marL="418306" indent="-209153" lvl="1">
              <a:lnSpc>
                <a:spcPts val="3123"/>
              </a:lnSpc>
              <a:buFont typeface="Arial"/>
              <a:buChar char="•"/>
            </a:pPr>
            <a:r>
              <a:rPr lang="en-US" sz="1937">
                <a:solidFill>
                  <a:srgbClr val="000000"/>
                </a:solidFill>
                <a:latin typeface="Aptos"/>
                <a:ea typeface="Aptos"/>
                <a:cs typeface="Aptos"/>
                <a:sym typeface="Aptos"/>
              </a:rPr>
              <a:t>Classification layer for disease prediction across multiple crop types</a:t>
            </a:r>
          </a:p>
          <a:p>
            <a:pPr algn="l">
              <a:lnSpc>
                <a:spcPts val="3123"/>
              </a:lnSpc>
            </a:pPr>
          </a:p>
          <a:p>
            <a:pPr algn="l">
              <a:lnSpc>
                <a:spcPts val="3125"/>
              </a:lnSpc>
            </a:pPr>
            <a:r>
              <a:rPr lang="en-US" sz="1937">
                <a:solidFill>
                  <a:srgbClr val="000000"/>
                </a:solidFill>
                <a:latin typeface="Aptos"/>
                <a:ea typeface="Aptos"/>
                <a:cs typeface="Aptos"/>
                <a:sym typeface="Aptos"/>
              </a:rPr>
              <a:t>Methodology emphasis (as discussed in the review):</a:t>
            </a:r>
          </a:p>
          <a:p>
            <a:pPr algn="l" marL="418306" indent="-209153" lvl="1">
              <a:lnSpc>
                <a:spcPts val="3123"/>
              </a:lnSpc>
              <a:buFont typeface="Arial"/>
              <a:buChar char="•"/>
            </a:pPr>
            <a:r>
              <a:rPr lang="en-US" sz="1937">
                <a:solidFill>
                  <a:srgbClr val="000000"/>
                </a:solidFill>
                <a:latin typeface="Aptos"/>
                <a:ea typeface="Aptos"/>
                <a:cs typeface="Aptos"/>
                <a:sym typeface="Aptos"/>
              </a:rPr>
              <a:t>Comparative evaluation of unimodal vs multimodal models</a:t>
            </a:r>
          </a:p>
          <a:p>
            <a:pPr algn="l" marL="418306" indent="-209153" lvl="1">
              <a:lnSpc>
                <a:spcPts val="3123"/>
              </a:lnSpc>
              <a:buFont typeface="Arial"/>
              <a:buChar char="•"/>
            </a:pPr>
            <a:r>
              <a:rPr lang="en-US" sz="1937">
                <a:solidFill>
                  <a:srgbClr val="000000"/>
                </a:solidFill>
                <a:latin typeface="Aptos"/>
                <a:ea typeface="Aptos"/>
                <a:cs typeface="Aptos"/>
                <a:sym typeface="Aptos"/>
              </a:rPr>
              <a:t>Controlled experiments using consistent datasets and preprocessing pipelines</a:t>
            </a:r>
          </a:p>
          <a:p>
            <a:pPr algn="l" marL="418306" indent="-209153" lvl="1">
              <a:lnSpc>
                <a:spcPts val="3123"/>
              </a:lnSpc>
              <a:buFont typeface="Arial"/>
              <a:buChar char="•"/>
            </a:pPr>
            <a:r>
              <a:rPr lang="en-US" sz="1937">
                <a:solidFill>
                  <a:srgbClr val="000000"/>
                </a:solidFill>
                <a:latin typeface="Aptos"/>
                <a:ea typeface="Aptos"/>
                <a:cs typeface="Aptos"/>
                <a:sym typeface="Aptos"/>
              </a:rPr>
              <a:t>Cross-crop validation (tomato, potato, wheat) for generalization analysis</a:t>
            </a:r>
          </a:p>
          <a:p>
            <a:pPr algn="l" marL="418306" indent="-209153" lvl="1">
              <a:lnSpc>
                <a:spcPts val="3123"/>
              </a:lnSpc>
              <a:buFont typeface="Arial"/>
              <a:buChar char="•"/>
            </a:pPr>
            <a:r>
              <a:rPr lang="en-US" sz="1937">
                <a:solidFill>
                  <a:srgbClr val="000000"/>
                </a:solidFill>
                <a:latin typeface="Aptos"/>
                <a:ea typeface="Aptos"/>
                <a:cs typeface="Aptos"/>
                <a:sym typeface="Aptos"/>
              </a:rPr>
              <a:t>Performance evaluation using Accuracy, Precision, Recall, F1-score, and mAP</a:t>
            </a:r>
          </a:p>
          <a:p>
            <a:pPr algn="l">
              <a:lnSpc>
                <a:spcPts val="3123"/>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76903" y="673151"/>
            <a:ext cx="5670253" cy="752475"/>
          </a:xfrm>
          <a:prstGeom prst="rect">
            <a:avLst/>
          </a:prstGeom>
        </p:spPr>
        <p:txBody>
          <a:bodyPr anchor="t" rtlCol="false" tIns="0" lIns="0" bIns="0" rIns="0">
            <a:spAutoFit/>
          </a:bodyPr>
          <a:lstStyle/>
          <a:p>
            <a:pPr algn="l">
              <a:lnSpc>
                <a:spcPts val="6000"/>
              </a:lnSpc>
            </a:pPr>
            <a:r>
              <a:rPr lang="en-US" sz="4750" b="true">
                <a:solidFill>
                  <a:srgbClr val="000000"/>
                </a:solidFill>
                <a:latin typeface="Aptos Bold"/>
                <a:ea typeface="Aptos Bold"/>
                <a:cs typeface="Aptos Bold"/>
                <a:sym typeface="Aptos Bold"/>
              </a:rPr>
              <a:t>Research Objectives</a:t>
            </a:r>
          </a:p>
        </p:txBody>
      </p:sp>
      <p:grpSp>
        <p:nvGrpSpPr>
          <p:cNvPr name="Group 7" id="7"/>
          <p:cNvGrpSpPr/>
          <p:nvPr/>
        </p:nvGrpSpPr>
        <p:grpSpPr>
          <a:xfrm rot="0">
            <a:off x="976903" y="1945777"/>
            <a:ext cx="5444728" cy="976903"/>
            <a:chOff x="0" y="0"/>
            <a:chExt cx="7259638" cy="1302537"/>
          </a:xfrm>
        </p:grpSpPr>
        <p:sp>
          <p:nvSpPr>
            <p:cNvPr name="Freeform 8" id="8"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3"/>
              <a:stretch>
                <a:fillRect l="0" t="-180" r="0" b="-182"/>
              </a:stretch>
            </a:blipFill>
          </p:spPr>
        </p:sp>
      </p:grpSp>
      <p:sp>
        <p:nvSpPr>
          <p:cNvPr name="TextBox 9" id="9"/>
          <p:cNvSpPr txBox="true"/>
          <p:nvPr/>
        </p:nvSpPr>
        <p:spPr>
          <a:xfrm rot="0">
            <a:off x="1221134" y="3143993"/>
            <a:ext cx="4956277" cy="762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Identify Optimal Weather + Image Fusion Strategies</a:t>
            </a:r>
          </a:p>
        </p:txBody>
      </p:sp>
      <p:sp>
        <p:nvSpPr>
          <p:cNvPr name="TextBox 10" id="10"/>
          <p:cNvSpPr txBox="true"/>
          <p:nvPr/>
        </p:nvSpPr>
        <p:spPr>
          <a:xfrm rot="0">
            <a:off x="1221134" y="3993947"/>
            <a:ext cx="4956277" cy="2266950"/>
          </a:xfrm>
          <a:prstGeom prst="rect">
            <a:avLst/>
          </a:prstGeom>
        </p:spPr>
        <p:txBody>
          <a:bodyPr anchor="t" rtlCol="false" tIns="0" lIns="0" bIns="0" rIns="0">
            <a:spAutoFit/>
          </a:bodyPr>
          <a:lstStyle/>
          <a:p>
            <a:pPr algn="l">
              <a:lnSpc>
                <a:spcPts val="3000"/>
              </a:lnSpc>
            </a:pPr>
            <a:r>
              <a:rPr lang="en-US" sz="1874">
                <a:solidFill>
                  <a:srgbClr val="000000"/>
                </a:solidFill>
                <a:latin typeface="Aptos"/>
                <a:ea typeface="Aptos"/>
                <a:cs typeface="Aptos"/>
                <a:sym typeface="Aptos"/>
              </a:rPr>
              <a:t>Determine whether early, intermediate, late, or hybrid fusion of leaf imagery and weather parameters (temperature, humidity, rainfall) yields the highest disease detection accuracy across different crop environments and growth stages.</a:t>
            </a:r>
          </a:p>
        </p:txBody>
      </p:sp>
      <p:grpSp>
        <p:nvGrpSpPr>
          <p:cNvPr name="Group 11" id="11"/>
          <p:cNvGrpSpPr/>
          <p:nvPr/>
        </p:nvGrpSpPr>
        <p:grpSpPr>
          <a:xfrm rot="0">
            <a:off x="6421641" y="1945777"/>
            <a:ext cx="5444728" cy="976903"/>
            <a:chOff x="0" y="0"/>
            <a:chExt cx="7259638" cy="1302537"/>
          </a:xfrm>
        </p:grpSpPr>
        <p:sp>
          <p:nvSpPr>
            <p:cNvPr name="Freeform 12" id="12"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4"/>
              <a:stretch>
                <a:fillRect l="0" t="-180" r="0" b="-182"/>
              </a:stretch>
            </a:blipFill>
          </p:spPr>
        </p:sp>
      </p:grpSp>
      <p:sp>
        <p:nvSpPr>
          <p:cNvPr name="TextBox 13" id="13"/>
          <p:cNvSpPr txBox="true"/>
          <p:nvPr/>
        </p:nvSpPr>
        <p:spPr>
          <a:xfrm rot="0">
            <a:off x="6665862" y="3143993"/>
            <a:ext cx="4618558" cy="762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Minimize False Positives Using Environmental Context</a:t>
            </a:r>
          </a:p>
        </p:txBody>
      </p:sp>
      <p:sp>
        <p:nvSpPr>
          <p:cNvPr name="TextBox 14" id="14"/>
          <p:cNvSpPr txBox="true"/>
          <p:nvPr/>
        </p:nvSpPr>
        <p:spPr>
          <a:xfrm rot="0">
            <a:off x="6665857" y="4067918"/>
            <a:ext cx="4956277" cy="1504950"/>
          </a:xfrm>
          <a:prstGeom prst="rect">
            <a:avLst/>
          </a:prstGeom>
        </p:spPr>
        <p:txBody>
          <a:bodyPr anchor="t" rtlCol="false" tIns="0" lIns="0" bIns="0" rIns="0">
            <a:spAutoFit/>
          </a:bodyPr>
          <a:lstStyle/>
          <a:p>
            <a:pPr algn="l">
              <a:lnSpc>
                <a:spcPts val="3000"/>
              </a:lnSpc>
            </a:pPr>
            <a:r>
              <a:rPr lang="en-US" sz="1874">
                <a:solidFill>
                  <a:srgbClr val="000000"/>
                </a:solidFill>
                <a:latin typeface="Aptos"/>
                <a:ea typeface="Aptos"/>
                <a:cs typeface="Aptos"/>
                <a:sym typeface="Aptos"/>
              </a:rPr>
              <a:t>Reduce erroneous disease predictions in asymptomatic but environmentally stressed plants through multimodal consensus that filters sensor-specific artifacts.</a:t>
            </a:r>
          </a:p>
        </p:txBody>
      </p:sp>
      <p:grpSp>
        <p:nvGrpSpPr>
          <p:cNvPr name="Group 15" id="15"/>
          <p:cNvGrpSpPr/>
          <p:nvPr/>
        </p:nvGrpSpPr>
        <p:grpSpPr>
          <a:xfrm rot="0">
            <a:off x="11866359" y="1945777"/>
            <a:ext cx="5444728" cy="976903"/>
            <a:chOff x="0" y="0"/>
            <a:chExt cx="7259638" cy="1302537"/>
          </a:xfrm>
        </p:grpSpPr>
        <p:sp>
          <p:nvSpPr>
            <p:cNvPr name="Freeform 16" id="16"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5"/>
              <a:stretch>
                <a:fillRect l="0" t="-180" r="0" b="-182"/>
              </a:stretch>
            </a:blipFill>
          </p:spPr>
        </p:sp>
      </p:grpSp>
      <p:sp>
        <p:nvSpPr>
          <p:cNvPr name="TextBox 17" id="17"/>
          <p:cNvSpPr txBox="true"/>
          <p:nvPr/>
        </p:nvSpPr>
        <p:spPr>
          <a:xfrm rot="0">
            <a:off x="12110590" y="3143993"/>
            <a:ext cx="6177410" cy="762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Establish Multimodal Agricultural Benchmarks</a:t>
            </a:r>
          </a:p>
        </p:txBody>
      </p:sp>
      <p:sp>
        <p:nvSpPr>
          <p:cNvPr name="TextBox 18" id="18"/>
          <p:cNvSpPr txBox="true"/>
          <p:nvPr/>
        </p:nvSpPr>
        <p:spPr>
          <a:xfrm rot="0">
            <a:off x="12110590" y="3993447"/>
            <a:ext cx="4956277" cy="1504950"/>
          </a:xfrm>
          <a:prstGeom prst="rect">
            <a:avLst/>
          </a:prstGeom>
        </p:spPr>
        <p:txBody>
          <a:bodyPr anchor="t" rtlCol="false" tIns="0" lIns="0" bIns="0" rIns="0">
            <a:spAutoFit/>
          </a:bodyPr>
          <a:lstStyle/>
          <a:p>
            <a:pPr algn="l">
              <a:lnSpc>
                <a:spcPts val="3000"/>
              </a:lnSpc>
            </a:pPr>
            <a:r>
              <a:rPr lang="en-US" sz="1874">
                <a:solidFill>
                  <a:srgbClr val="000000"/>
                </a:solidFill>
                <a:latin typeface="Aptos"/>
                <a:ea typeface="Aptos"/>
                <a:cs typeface="Aptos"/>
                <a:sym typeface="Aptos"/>
              </a:rPr>
              <a:t>D</a:t>
            </a:r>
            <a:r>
              <a:rPr lang="en-US" sz="1874">
                <a:solidFill>
                  <a:srgbClr val="000000"/>
                </a:solidFill>
                <a:latin typeface="Aptos"/>
                <a:ea typeface="Aptos"/>
                <a:cs typeface="Aptos"/>
                <a:sym typeface="Aptos"/>
              </a:rPr>
              <a:t>evelop standardized evaluation protocols and encourage the use of aligned image + weather datasets for reproducible comparison of multimodal crop disease detection models.</a:t>
            </a:r>
          </a:p>
        </p:txBody>
      </p:sp>
      <p:grpSp>
        <p:nvGrpSpPr>
          <p:cNvPr name="Group 19" id="19"/>
          <p:cNvGrpSpPr/>
          <p:nvPr/>
        </p:nvGrpSpPr>
        <p:grpSpPr>
          <a:xfrm rot="0">
            <a:off x="976903" y="6645364"/>
            <a:ext cx="16334184" cy="40034"/>
            <a:chOff x="0" y="0"/>
            <a:chExt cx="21778912" cy="53378"/>
          </a:xfrm>
        </p:grpSpPr>
        <p:sp>
          <p:nvSpPr>
            <p:cNvPr name="Freeform 20" id="20"/>
            <p:cNvSpPr/>
            <p:nvPr/>
          </p:nvSpPr>
          <p:spPr>
            <a:xfrm flipH="false" flipV="false" rot="0">
              <a:off x="0" y="0"/>
              <a:ext cx="21778976" cy="53340"/>
            </a:xfrm>
            <a:custGeom>
              <a:avLst/>
              <a:gdLst/>
              <a:ahLst/>
              <a:cxnLst/>
              <a:rect r="r" b="b" t="t" l="l"/>
              <a:pathLst>
                <a:path h="53340" w="21778976">
                  <a:moveTo>
                    <a:pt x="0" y="0"/>
                  </a:moveTo>
                  <a:lnTo>
                    <a:pt x="21778976" y="0"/>
                  </a:lnTo>
                  <a:lnTo>
                    <a:pt x="21778976" y="53340"/>
                  </a:lnTo>
                  <a:lnTo>
                    <a:pt x="0" y="53340"/>
                  </a:lnTo>
                  <a:close/>
                </a:path>
              </a:pathLst>
            </a:custGeom>
            <a:solidFill>
              <a:srgbClr val="746558">
                <a:alpha val="24706"/>
              </a:srgbClr>
            </a:solidFill>
          </p:spPr>
        </p:sp>
      </p:grpSp>
      <p:sp>
        <p:nvSpPr>
          <p:cNvPr name="TextBox 21" id="21"/>
          <p:cNvSpPr txBox="true"/>
          <p:nvPr/>
        </p:nvSpPr>
        <p:spPr>
          <a:xfrm rot="0">
            <a:off x="7260003" y="6904472"/>
            <a:ext cx="3022799"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Hypothesis Validation</a:t>
            </a:r>
          </a:p>
        </p:txBody>
      </p:sp>
      <p:sp>
        <p:nvSpPr>
          <p:cNvPr name="TextBox 22" id="22"/>
          <p:cNvSpPr txBox="true"/>
          <p:nvPr/>
        </p:nvSpPr>
        <p:spPr>
          <a:xfrm rot="0">
            <a:off x="5099396" y="7676445"/>
            <a:ext cx="7869136" cy="1152525"/>
          </a:xfrm>
          <a:prstGeom prst="rect">
            <a:avLst/>
          </a:prstGeom>
        </p:spPr>
        <p:txBody>
          <a:bodyPr anchor="t" rtlCol="false" tIns="0" lIns="0" bIns="0" rIns="0">
            <a:spAutoFit/>
          </a:bodyPr>
          <a:lstStyle/>
          <a:p>
            <a:pPr algn="l">
              <a:lnSpc>
                <a:spcPts val="3000"/>
              </a:lnSpc>
            </a:pPr>
            <a:r>
              <a:rPr lang="en-US" sz="1874">
                <a:solidFill>
                  <a:srgbClr val="000000"/>
                </a:solidFill>
                <a:latin typeface="Arimo"/>
                <a:ea typeface="Arimo"/>
                <a:cs typeface="Arimo"/>
                <a:sym typeface="Arimo"/>
              </a:rPr>
              <a:t>D</a:t>
            </a:r>
            <a:r>
              <a:rPr lang="en-US" sz="1874">
                <a:solidFill>
                  <a:srgbClr val="000000"/>
                </a:solidFill>
                <a:latin typeface="Arimo"/>
                <a:ea typeface="Arimo"/>
                <a:cs typeface="Arimo"/>
                <a:sym typeface="Arimo"/>
              </a:rPr>
              <a:t>evelop standardized evaluation protocols and encourage the use of aligned image + weather datasets for reproducible comparison of multimodal crop disease detection models.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82266" y="675684"/>
            <a:ext cx="9916319" cy="752475"/>
          </a:xfrm>
          <a:prstGeom prst="rect">
            <a:avLst/>
          </a:prstGeom>
        </p:spPr>
        <p:txBody>
          <a:bodyPr anchor="t" rtlCol="false" tIns="0" lIns="0" bIns="0" rIns="0">
            <a:spAutoFit/>
          </a:bodyPr>
          <a:lstStyle/>
          <a:p>
            <a:pPr algn="l">
              <a:lnSpc>
                <a:spcPts val="6000"/>
              </a:lnSpc>
            </a:pPr>
            <a:r>
              <a:rPr lang="en-US" sz="4812" b="true">
                <a:solidFill>
                  <a:srgbClr val="484237"/>
                </a:solidFill>
                <a:latin typeface="Aptos Bold"/>
                <a:ea typeface="Aptos Bold"/>
                <a:cs typeface="Aptos Bold"/>
                <a:sym typeface="Aptos Bold"/>
              </a:rPr>
              <a:t>Fusion Level Comparison: Overview</a:t>
            </a:r>
          </a:p>
        </p:txBody>
      </p:sp>
      <p:grpSp>
        <p:nvGrpSpPr>
          <p:cNvPr name="Group 7" id="7"/>
          <p:cNvGrpSpPr/>
          <p:nvPr/>
        </p:nvGrpSpPr>
        <p:grpSpPr>
          <a:xfrm rot="0">
            <a:off x="982266" y="1948310"/>
            <a:ext cx="8040138" cy="3172863"/>
            <a:chOff x="0" y="0"/>
            <a:chExt cx="10720184" cy="4230484"/>
          </a:xfrm>
        </p:grpSpPr>
        <p:sp>
          <p:nvSpPr>
            <p:cNvPr name="Freeform 8" id="8"/>
            <p:cNvSpPr/>
            <p:nvPr/>
          </p:nvSpPr>
          <p:spPr>
            <a:xfrm flipH="false" flipV="false" rot="0">
              <a:off x="0" y="0"/>
              <a:ext cx="10720197" cy="4230497"/>
            </a:xfrm>
            <a:custGeom>
              <a:avLst/>
              <a:gdLst/>
              <a:ahLst/>
              <a:cxnLst/>
              <a:rect r="r" b="b" t="t" l="l"/>
              <a:pathLst>
                <a:path h="4230497" w="10720197">
                  <a:moveTo>
                    <a:pt x="0" y="49149"/>
                  </a:moveTo>
                  <a:cubicBezTo>
                    <a:pt x="0" y="21971"/>
                    <a:pt x="21971" y="0"/>
                    <a:pt x="49149" y="0"/>
                  </a:cubicBezTo>
                  <a:lnTo>
                    <a:pt x="10671048" y="0"/>
                  </a:lnTo>
                  <a:cubicBezTo>
                    <a:pt x="10698226" y="0"/>
                    <a:pt x="10720197" y="21971"/>
                    <a:pt x="10720197" y="49149"/>
                  </a:cubicBezTo>
                  <a:lnTo>
                    <a:pt x="10720197" y="4181348"/>
                  </a:lnTo>
                  <a:cubicBezTo>
                    <a:pt x="10720197" y="4208526"/>
                    <a:pt x="10698226" y="4230497"/>
                    <a:pt x="10671048" y="4230497"/>
                  </a:cubicBezTo>
                  <a:lnTo>
                    <a:pt x="49149" y="4230497"/>
                  </a:lnTo>
                  <a:cubicBezTo>
                    <a:pt x="21971" y="4230497"/>
                    <a:pt x="0" y="4208526"/>
                    <a:pt x="0" y="4181348"/>
                  </a:cubicBezTo>
                  <a:close/>
                </a:path>
              </a:pathLst>
            </a:custGeom>
            <a:solidFill>
              <a:srgbClr val="EEE8DD"/>
            </a:solidFill>
          </p:spPr>
        </p:sp>
      </p:grpSp>
      <p:grpSp>
        <p:nvGrpSpPr>
          <p:cNvPr name="Group 9" id="9"/>
          <p:cNvGrpSpPr/>
          <p:nvPr/>
        </p:nvGrpSpPr>
        <p:grpSpPr>
          <a:xfrm rot="0">
            <a:off x="1227830" y="2193874"/>
            <a:ext cx="736702" cy="736702"/>
            <a:chOff x="0" y="0"/>
            <a:chExt cx="982269" cy="982269"/>
          </a:xfrm>
        </p:grpSpPr>
        <p:sp>
          <p:nvSpPr>
            <p:cNvPr name="Freeform 10" id="10"/>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11" id="11" descr="preencoded.png"/>
          <p:cNvSpPr/>
          <p:nvPr/>
        </p:nvSpPr>
        <p:spPr>
          <a:xfrm flipH="false" flipV="false" rot="0">
            <a:off x="1430388" y="2396433"/>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3">
              <a:extLst>
                <a:ext uri="{96DAC541-7B7A-43D3-8B79-37D633B846F1}">
                  <asvg:svgBlip xmlns:asvg="http://schemas.microsoft.com/office/drawing/2016/SVG/main" r:embed="rId4"/>
                </a:ext>
              </a:extLst>
            </a:blip>
            <a:stretch>
              <a:fillRect l="0" t="-1428" r="0" b="-1428"/>
            </a:stretch>
          </a:blipFill>
        </p:spPr>
      </p:sp>
      <p:sp>
        <p:nvSpPr>
          <p:cNvPr name="TextBox 12" id="12"/>
          <p:cNvSpPr txBox="true"/>
          <p:nvPr/>
        </p:nvSpPr>
        <p:spPr>
          <a:xfrm rot="0">
            <a:off x="1227830" y="3154566"/>
            <a:ext cx="3328194"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Early Fusion (Data-level)</a:t>
            </a:r>
          </a:p>
        </p:txBody>
      </p:sp>
      <p:sp>
        <p:nvSpPr>
          <p:cNvPr name="TextBox 13" id="13"/>
          <p:cNvSpPr txBox="true"/>
          <p:nvPr/>
        </p:nvSpPr>
        <p:spPr>
          <a:xfrm rot="0">
            <a:off x="1227830" y="3626939"/>
            <a:ext cx="7549010"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Raw sensor concatenation before network input. Maximum information preservation but increased dimensionality and computational load. Limited to sensors with matching resolutions.</a:t>
            </a:r>
          </a:p>
        </p:txBody>
      </p:sp>
      <p:grpSp>
        <p:nvGrpSpPr>
          <p:cNvPr name="Group 14" id="14"/>
          <p:cNvGrpSpPr/>
          <p:nvPr/>
        </p:nvGrpSpPr>
        <p:grpSpPr>
          <a:xfrm rot="0">
            <a:off x="9265444" y="1948310"/>
            <a:ext cx="8040291" cy="3172863"/>
            <a:chOff x="0" y="0"/>
            <a:chExt cx="10720388" cy="4230484"/>
          </a:xfrm>
        </p:grpSpPr>
        <p:sp>
          <p:nvSpPr>
            <p:cNvPr name="Freeform 15" id="15"/>
            <p:cNvSpPr/>
            <p:nvPr/>
          </p:nvSpPr>
          <p:spPr>
            <a:xfrm flipH="false" flipV="false" rot="0">
              <a:off x="0" y="0"/>
              <a:ext cx="10720451" cy="4230497"/>
            </a:xfrm>
            <a:custGeom>
              <a:avLst/>
              <a:gdLst/>
              <a:ahLst/>
              <a:cxnLst/>
              <a:rect r="r" b="b" t="t" l="l"/>
              <a:pathLst>
                <a:path h="4230497" w="10720451">
                  <a:moveTo>
                    <a:pt x="0" y="49149"/>
                  </a:moveTo>
                  <a:cubicBezTo>
                    <a:pt x="0" y="21971"/>
                    <a:pt x="21971" y="0"/>
                    <a:pt x="49149" y="0"/>
                  </a:cubicBezTo>
                  <a:lnTo>
                    <a:pt x="10671302" y="0"/>
                  </a:lnTo>
                  <a:cubicBezTo>
                    <a:pt x="10698480" y="0"/>
                    <a:pt x="10720451" y="21971"/>
                    <a:pt x="10720451" y="49149"/>
                  </a:cubicBezTo>
                  <a:lnTo>
                    <a:pt x="10720451" y="4181348"/>
                  </a:lnTo>
                  <a:cubicBezTo>
                    <a:pt x="10720451" y="4208526"/>
                    <a:pt x="10698480" y="4230497"/>
                    <a:pt x="10671302" y="4230497"/>
                  </a:cubicBezTo>
                  <a:lnTo>
                    <a:pt x="49149" y="4230497"/>
                  </a:lnTo>
                  <a:cubicBezTo>
                    <a:pt x="21971" y="4230497"/>
                    <a:pt x="0" y="4208526"/>
                    <a:pt x="0" y="4181348"/>
                  </a:cubicBezTo>
                  <a:close/>
                </a:path>
              </a:pathLst>
            </a:custGeom>
            <a:solidFill>
              <a:srgbClr val="EEE8DD"/>
            </a:solidFill>
          </p:spPr>
        </p:sp>
      </p:grpSp>
      <p:grpSp>
        <p:nvGrpSpPr>
          <p:cNvPr name="Group 16" id="16"/>
          <p:cNvGrpSpPr/>
          <p:nvPr/>
        </p:nvGrpSpPr>
        <p:grpSpPr>
          <a:xfrm rot="0">
            <a:off x="9511008" y="2193874"/>
            <a:ext cx="736702" cy="736702"/>
            <a:chOff x="0" y="0"/>
            <a:chExt cx="982269" cy="982269"/>
          </a:xfrm>
        </p:grpSpPr>
        <p:sp>
          <p:nvSpPr>
            <p:cNvPr name="Freeform 17" id="17"/>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18" id="18" descr="preencoded.png"/>
          <p:cNvSpPr/>
          <p:nvPr/>
        </p:nvSpPr>
        <p:spPr>
          <a:xfrm flipH="false" flipV="false" rot="0">
            <a:off x="9713566" y="2396433"/>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5">
              <a:extLst>
                <a:ext uri="{96DAC541-7B7A-43D3-8B79-37D633B846F1}">
                  <asvg:svgBlip xmlns:asvg="http://schemas.microsoft.com/office/drawing/2016/SVG/main" r:embed="rId6"/>
                </a:ext>
              </a:extLst>
            </a:blip>
            <a:stretch>
              <a:fillRect l="0" t="-11429" r="0" b="-11426"/>
            </a:stretch>
          </a:blipFill>
        </p:spPr>
      </p:sp>
      <p:sp>
        <p:nvSpPr>
          <p:cNvPr name="TextBox 19" id="19"/>
          <p:cNvSpPr txBox="true"/>
          <p:nvPr/>
        </p:nvSpPr>
        <p:spPr>
          <a:xfrm rot="0">
            <a:off x="9511008" y="3154566"/>
            <a:ext cx="4828381"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Intermediate Fusion (Feature-level)</a:t>
            </a:r>
          </a:p>
        </p:txBody>
      </p:sp>
      <p:sp>
        <p:nvSpPr>
          <p:cNvPr name="TextBox 20" id="20"/>
          <p:cNvSpPr txBox="true"/>
          <p:nvPr/>
        </p:nvSpPr>
        <p:spPr>
          <a:xfrm rot="0">
            <a:off x="9511008" y="3626939"/>
            <a:ext cx="7549153"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Feature map merging at network bottlenecks. Balances information retention with dimensionality reduction. Requires careful alignment strategies and specialized fusion modules.</a:t>
            </a:r>
          </a:p>
        </p:txBody>
      </p:sp>
      <p:grpSp>
        <p:nvGrpSpPr>
          <p:cNvPr name="Group 21" id="21"/>
          <p:cNvGrpSpPr/>
          <p:nvPr/>
        </p:nvGrpSpPr>
        <p:grpSpPr>
          <a:xfrm rot="0">
            <a:off x="982266" y="5364213"/>
            <a:ext cx="8040138" cy="3172863"/>
            <a:chOff x="0" y="0"/>
            <a:chExt cx="10720184" cy="4230484"/>
          </a:xfrm>
        </p:grpSpPr>
        <p:sp>
          <p:nvSpPr>
            <p:cNvPr name="Freeform 22" id="22"/>
            <p:cNvSpPr/>
            <p:nvPr/>
          </p:nvSpPr>
          <p:spPr>
            <a:xfrm flipH="false" flipV="false" rot="0">
              <a:off x="0" y="0"/>
              <a:ext cx="10720197" cy="4230497"/>
            </a:xfrm>
            <a:custGeom>
              <a:avLst/>
              <a:gdLst/>
              <a:ahLst/>
              <a:cxnLst/>
              <a:rect r="r" b="b" t="t" l="l"/>
              <a:pathLst>
                <a:path h="4230497" w="10720197">
                  <a:moveTo>
                    <a:pt x="0" y="49149"/>
                  </a:moveTo>
                  <a:cubicBezTo>
                    <a:pt x="0" y="21971"/>
                    <a:pt x="21971" y="0"/>
                    <a:pt x="49149" y="0"/>
                  </a:cubicBezTo>
                  <a:lnTo>
                    <a:pt x="10671048" y="0"/>
                  </a:lnTo>
                  <a:cubicBezTo>
                    <a:pt x="10698226" y="0"/>
                    <a:pt x="10720197" y="21971"/>
                    <a:pt x="10720197" y="49149"/>
                  </a:cubicBezTo>
                  <a:lnTo>
                    <a:pt x="10720197" y="4181348"/>
                  </a:lnTo>
                  <a:cubicBezTo>
                    <a:pt x="10720197" y="4208526"/>
                    <a:pt x="10698226" y="4230497"/>
                    <a:pt x="10671048" y="4230497"/>
                  </a:cubicBezTo>
                  <a:lnTo>
                    <a:pt x="49149" y="4230497"/>
                  </a:lnTo>
                  <a:cubicBezTo>
                    <a:pt x="21971" y="4230497"/>
                    <a:pt x="0" y="4208526"/>
                    <a:pt x="0" y="4181348"/>
                  </a:cubicBezTo>
                  <a:close/>
                </a:path>
              </a:pathLst>
            </a:custGeom>
            <a:solidFill>
              <a:srgbClr val="EEE8DD"/>
            </a:solidFill>
          </p:spPr>
        </p:sp>
      </p:grpSp>
      <p:grpSp>
        <p:nvGrpSpPr>
          <p:cNvPr name="Group 23" id="23"/>
          <p:cNvGrpSpPr/>
          <p:nvPr/>
        </p:nvGrpSpPr>
        <p:grpSpPr>
          <a:xfrm rot="0">
            <a:off x="1227830" y="5609777"/>
            <a:ext cx="736702" cy="736702"/>
            <a:chOff x="0" y="0"/>
            <a:chExt cx="982269" cy="982269"/>
          </a:xfrm>
        </p:grpSpPr>
        <p:sp>
          <p:nvSpPr>
            <p:cNvPr name="Freeform 24" id="24"/>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25" id="25" descr="preencoded.png"/>
          <p:cNvSpPr/>
          <p:nvPr/>
        </p:nvSpPr>
        <p:spPr>
          <a:xfrm flipH="false" flipV="false" rot="0">
            <a:off x="1430388" y="5812336"/>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7">
              <a:extLst>
                <a:ext uri="{96DAC541-7B7A-43D3-8B79-37D633B846F1}">
                  <asvg:svgBlip xmlns:asvg="http://schemas.microsoft.com/office/drawing/2016/SVG/main" r:embed="rId8"/>
                </a:ext>
              </a:extLst>
            </a:blip>
            <a:stretch>
              <a:fillRect l="0" t="-5713" r="0" b="-5716"/>
            </a:stretch>
          </a:blipFill>
        </p:spPr>
      </p:sp>
      <p:sp>
        <p:nvSpPr>
          <p:cNvPr name="TextBox 26" id="26"/>
          <p:cNvSpPr txBox="true"/>
          <p:nvPr/>
        </p:nvSpPr>
        <p:spPr>
          <a:xfrm rot="0">
            <a:off x="1227830" y="6570459"/>
            <a:ext cx="3793232"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Late Fusion (Decision-level)</a:t>
            </a:r>
          </a:p>
        </p:txBody>
      </p:sp>
      <p:sp>
        <p:nvSpPr>
          <p:cNvPr name="TextBox 27" id="27"/>
          <p:cNvSpPr txBox="true"/>
          <p:nvPr/>
        </p:nvSpPr>
        <p:spPr>
          <a:xfrm rot="0">
            <a:off x="1227830" y="7042842"/>
            <a:ext cx="7549010"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Separate network training with final prediction combination. Computational efficiency and modularity. May discard valuable correlated features during isolation.</a:t>
            </a:r>
          </a:p>
        </p:txBody>
      </p:sp>
      <p:grpSp>
        <p:nvGrpSpPr>
          <p:cNvPr name="Group 28" id="28"/>
          <p:cNvGrpSpPr/>
          <p:nvPr/>
        </p:nvGrpSpPr>
        <p:grpSpPr>
          <a:xfrm rot="0">
            <a:off x="9265444" y="5364213"/>
            <a:ext cx="8040291" cy="3172863"/>
            <a:chOff x="0" y="0"/>
            <a:chExt cx="10720388" cy="4230484"/>
          </a:xfrm>
        </p:grpSpPr>
        <p:sp>
          <p:nvSpPr>
            <p:cNvPr name="Freeform 29" id="29"/>
            <p:cNvSpPr/>
            <p:nvPr/>
          </p:nvSpPr>
          <p:spPr>
            <a:xfrm flipH="false" flipV="false" rot="0">
              <a:off x="0" y="0"/>
              <a:ext cx="10720451" cy="4230497"/>
            </a:xfrm>
            <a:custGeom>
              <a:avLst/>
              <a:gdLst/>
              <a:ahLst/>
              <a:cxnLst/>
              <a:rect r="r" b="b" t="t" l="l"/>
              <a:pathLst>
                <a:path h="4230497" w="10720451">
                  <a:moveTo>
                    <a:pt x="0" y="49149"/>
                  </a:moveTo>
                  <a:cubicBezTo>
                    <a:pt x="0" y="21971"/>
                    <a:pt x="21971" y="0"/>
                    <a:pt x="49149" y="0"/>
                  </a:cubicBezTo>
                  <a:lnTo>
                    <a:pt x="10671302" y="0"/>
                  </a:lnTo>
                  <a:cubicBezTo>
                    <a:pt x="10698480" y="0"/>
                    <a:pt x="10720451" y="21971"/>
                    <a:pt x="10720451" y="49149"/>
                  </a:cubicBezTo>
                  <a:lnTo>
                    <a:pt x="10720451" y="4181348"/>
                  </a:lnTo>
                  <a:cubicBezTo>
                    <a:pt x="10720451" y="4208526"/>
                    <a:pt x="10698480" y="4230497"/>
                    <a:pt x="10671302" y="4230497"/>
                  </a:cubicBezTo>
                  <a:lnTo>
                    <a:pt x="49149" y="4230497"/>
                  </a:lnTo>
                  <a:cubicBezTo>
                    <a:pt x="21971" y="4230497"/>
                    <a:pt x="0" y="4208526"/>
                    <a:pt x="0" y="4181348"/>
                  </a:cubicBezTo>
                  <a:close/>
                </a:path>
              </a:pathLst>
            </a:custGeom>
            <a:solidFill>
              <a:srgbClr val="EEE8DD"/>
            </a:solidFill>
          </p:spPr>
        </p:sp>
      </p:grpSp>
      <p:grpSp>
        <p:nvGrpSpPr>
          <p:cNvPr name="Group 30" id="30"/>
          <p:cNvGrpSpPr/>
          <p:nvPr/>
        </p:nvGrpSpPr>
        <p:grpSpPr>
          <a:xfrm rot="0">
            <a:off x="9511008" y="5609777"/>
            <a:ext cx="736702" cy="736702"/>
            <a:chOff x="0" y="0"/>
            <a:chExt cx="982269" cy="982269"/>
          </a:xfrm>
        </p:grpSpPr>
        <p:sp>
          <p:nvSpPr>
            <p:cNvPr name="Freeform 31" id="31"/>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32" id="32" descr="preencoded.png"/>
          <p:cNvSpPr/>
          <p:nvPr/>
        </p:nvSpPr>
        <p:spPr>
          <a:xfrm flipH="false" flipV="false" rot="0">
            <a:off x="9713566" y="5812336"/>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9">
              <a:extLst>
                <a:ext uri="{96DAC541-7B7A-43D3-8B79-37D633B846F1}">
                  <asvg:svgBlip xmlns:asvg="http://schemas.microsoft.com/office/drawing/2016/SVG/main" r:embed="rId10"/>
                </a:ext>
              </a:extLst>
            </a:blip>
            <a:stretch>
              <a:fillRect l="0" t="-7141" r="0" b="-7144"/>
            </a:stretch>
          </a:blipFill>
        </p:spPr>
      </p:sp>
      <p:sp>
        <p:nvSpPr>
          <p:cNvPr name="TextBox 33" id="33"/>
          <p:cNvSpPr txBox="true"/>
          <p:nvPr/>
        </p:nvSpPr>
        <p:spPr>
          <a:xfrm rot="0">
            <a:off x="9511008" y="6570459"/>
            <a:ext cx="1897162"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Hybrid Fusion</a:t>
            </a:r>
          </a:p>
        </p:txBody>
      </p:sp>
      <p:sp>
        <p:nvSpPr>
          <p:cNvPr name="TextBox 34" id="34"/>
          <p:cNvSpPr txBox="true"/>
          <p:nvPr/>
        </p:nvSpPr>
        <p:spPr>
          <a:xfrm rot="0">
            <a:off x="9511008" y="7042842"/>
            <a:ext cx="7549153"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Multi-stage merging combining advantages. Maximum flexibility and performance. Increased architectural complexity and longer training times. State-of-the-art approach.</a:t>
            </a:r>
          </a:p>
        </p:txBody>
      </p:sp>
      <p:sp>
        <p:nvSpPr>
          <p:cNvPr name="TextBox 35" id="35"/>
          <p:cNvSpPr txBox="true"/>
          <p:nvPr/>
        </p:nvSpPr>
        <p:spPr>
          <a:xfrm rot="0">
            <a:off x="982266" y="8734273"/>
            <a:ext cx="16323469" cy="735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Each fusion strategy exhibits distinct advantages depending on available computational resources, sensor characteristics, and required inference speed. Understanding these trade-offs guides architectural choices for specific agricultural deployment scenarios.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DAHBmZk-PKU</dc:identifier>
  <dcterms:modified xsi:type="dcterms:W3CDTF">2011-08-01T06:04:30Z</dcterms:modified>
  <cp:revision>1</cp:revision>
  <dc:title>Copy of Multimodal-Fusion-for-Plant-Disease-Detection.pptx</dc:title>
</cp:coreProperties>
</file>